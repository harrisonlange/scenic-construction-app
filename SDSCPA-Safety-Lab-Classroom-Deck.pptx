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d14ec0ed234de5" /><Relationship Type="http://schemas.openxmlformats.org/officeDocument/2006/relationships/extended-properties" Target="/docProps/app.xml" Id="R7c6a692fbb714c60" /><Relationship Type="http://schemas.openxmlformats.org/officeDocument/2006/relationships/officeDocument" Target="/ppt/presentation.xml" Id="Rd0697c042da5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e95eff641648be"/>
  </p:sldMasterIdLst>
  <p:notesMasterIdLst>
    <p:notesMasterId xmlns:r="http://schemas.openxmlformats.org/officeDocument/2006/relationships" r:id="R6307ca51ce904627"/>
  </p:notesMasterIdLst>
  <p:sldIdLst>
    <p:sldId xmlns:r="http://schemas.openxmlformats.org/officeDocument/2006/relationships" id="256" r:id="Rfb3d24d50f3c4872"/>
    <p:sldId xmlns:r="http://schemas.openxmlformats.org/officeDocument/2006/relationships" id="257" r:id="R7b7d98e2025a41fa"/>
    <p:sldId xmlns:r="http://schemas.openxmlformats.org/officeDocument/2006/relationships" id="258" r:id="R8644b4b008674c46"/>
    <p:sldId xmlns:r="http://schemas.openxmlformats.org/officeDocument/2006/relationships" id="259" r:id="R8b0cc6eb3c9b4012"/>
    <p:sldId xmlns:r="http://schemas.openxmlformats.org/officeDocument/2006/relationships" id="260" r:id="R70986ff89567475d"/>
    <p:sldId xmlns:r="http://schemas.openxmlformats.org/officeDocument/2006/relationships" id="261" r:id="R279b5fcbd4ad4fc4"/>
    <p:sldId xmlns:r="http://schemas.openxmlformats.org/officeDocument/2006/relationships" id="262" r:id="R23296d53f44d4263"/>
    <p:sldId xmlns:r="http://schemas.openxmlformats.org/officeDocument/2006/relationships" id="263" r:id="Re31e7a238ad04e76"/>
    <p:sldId xmlns:r="http://schemas.openxmlformats.org/officeDocument/2006/relationships" id="264" r:id="Rf64abfb008c94c4e"/>
    <p:sldId xmlns:r="http://schemas.openxmlformats.org/officeDocument/2006/relationships" id="265" r:id="Rf9e027fb1590442d"/>
    <p:sldId xmlns:r="http://schemas.openxmlformats.org/officeDocument/2006/relationships" id="266" r:id="R65c933c30ce74edd"/>
    <p:sldId xmlns:r="http://schemas.openxmlformats.org/officeDocument/2006/relationships" id="267" r:id="R74dd32a9f28143db"/>
    <p:sldId xmlns:r="http://schemas.openxmlformats.org/officeDocument/2006/relationships" id="268" r:id="R8e8108e8b5d648b4"/>
    <p:sldId xmlns:r="http://schemas.openxmlformats.org/officeDocument/2006/relationships" id="269" r:id="R6291a38e8b094b97"/>
    <p:sldId xmlns:r="http://schemas.openxmlformats.org/officeDocument/2006/relationships" id="270" r:id="R7415e1dd83ba4c68"/>
    <p:sldId xmlns:r="http://schemas.openxmlformats.org/officeDocument/2006/relationships" id="271" r:id="R80a54944387541af"/>
    <p:sldId xmlns:r="http://schemas.openxmlformats.org/officeDocument/2006/relationships" id="272" r:id="R3caff7665ed247ad"/>
    <p:sldId xmlns:r="http://schemas.openxmlformats.org/officeDocument/2006/relationships" id="273" r:id="R426af9243ea14a81"/>
    <p:sldId xmlns:r="http://schemas.openxmlformats.org/officeDocument/2006/relationships" id="274" r:id="Re431115eb14d478b"/>
    <p:sldId xmlns:r="http://schemas.openxmlformats.org/officeDocument/2006/relationships" id="275" r:id="R4e308d2e52244ea3"/>
    <p:sldId xmlns:r="http://schemas.openxmlformats.org/officeDocument/2006/relationships" id="276" r:id="R69192309f9184b3c"/>
    <p:sldId xmlns:r="http://schemas.openxmlformats.org/officeDocument/2006/relationships" id="277" r:id="Rc658f6c8caf149dc"/>
    <p:sldId xmlns:r="http://schemas.openxmlformats.org/officeDocument/2006/relationships" id="278" r:id="R9aa774b9ecdb4216"/>
    <p:sldId xmlns:r="http://schemas.openxmlformats.org/officeDocument/2006/relationships" id="279" r:id="R9cc35e1999174c1b"/>
    <p:sldId xmlns:r="http://schemas.openxmlformats.org/officeDocument/2006/relationships" id="280" r:id="R46402213bb9947d9"/>
    <p:sldId xmlns:r="http://schemas.openxmlformats.org/officeDocument/2006/relationships" id="281" r:id="Re949f1bc42254917"/>
    <p:sldId xmlns:r="http://schemas.openxmlformats.org/officeDocument/2006/relationships" id="282" r:id="R354f631c4fe448bd"/>
    <p:sldId xmlns:r="http://schemas.openxmlformats.org/officeDocument/2006/relationships" id="283" r:id="Rbaa40aa0a40e4ff7"/>
    <p:sldId xmlns:r="http://schemas.openxmlformats.org/officeDocument/2006/relationships" id="284" r:id="R615707c98220413d"/>
    <p:sldId xmlns:r="http://schemas.openxmlformats.org/officeDocument/2006/relationships" id="285" r:id="R37eaf17106bd4b01"/>
    <p:sldId xmlns:r="http://schemas.openxmlformats.org/officeDocument/2006/relationships" id="286" r:id="R597e44fdfdb2495d"/>
    <p:sldId xmlns:r="http://schemas.openxmlformats.org/officeDocument/2006/relationships" id="287" r:id="R204f106d2b774097"/>
    <p:sldId xmlns:r="http://schemas.openxmlformats.org/officeDocument/2006/relationships" id="288" r:id="R4e00a0de58d34a69"/>
    <p:sldId xmlns:r="http://schemas.openxmlformats.org/officeDocument/2006/relationships" id="289" r:id="R8d6b0383501f40fa"/>
    <p:sldId xmlns:r="http://schemas.openxmlformats.org/officeDocument/2006/relationships" id="290" r:id="R7ef5ba5e6a1c4749"/>
    <p:sldId xmlns:r="http://schemas.openxmlformats.org/officeDocument/2006/relationships" id="291" r:id="Rfe93add5c3c345a4"/>
    <p:sldId xmlns:r="http://schemas.openxmlformats.org/officeDocument/2006/relationships" id="292" r:id="Rd8b986d19d3e4ffe"/>
    <p:sldId xmlns:r="http://schemas.openxmlformats.org/officeDocument/2006/relationships" id="293" r:id="Rfbbf561488c84b17"/>
    <p:sldId xmlns:r="http://schemas.openxmlformats.org/officeDocument/2006/relationships" id="294" r:id="Rfbab7cfb986e4e2e"/>
    <p:sldId xmlns:r="http://schemas.openxmlformats.org/officeDocument/2006/relationships" id="295" r:id="R608986dfe5474ddf"/>
    <p:sldId xmlns:r="http://schemas.openxmlformats.org/officeDocument/2006/relationships" id="296" r:id="R7314759859f547a2"/>
    <p:sldId xmlns:r="http://schemas.openxmlformats.org/officeDocument/2006/relationships" id="297" r:id="Rc85911b5d9be400e"/>
    <p:sldId xmlns:r="http://schemas.openxmlformats.org/officeDocument/2006/relationships" id="298" r:id="Rb5abc52f400b4bd1"/>
    <p:sldId xmlns:r="http://schemas.openxmlformats.org/officeDocument/2006/relationships" id="299" r:id="R63e88c67da3846fb"/>
    <p:sldId xmlns:r="http://schemas.openxmlformats.org/officeDocument/2006/relationships" id="300" r:id="R7946f88154da45cd"/>
    <p:sldId xmlns:r="http://schemas.openxmlformats.org/officeDocument/2006/relationships" id="301" r:id="R1e22fe4c4e004432"/>
    <p:sldId xmlns:r="http://schemas.openxmlformats.org/officeDocument/2006/relationships" id="302" r:id="R5afb8cbcbf544eee"/>
    <p:sldId xmlns:r="http://schemas.openxmlformats.org/officeDocument/2006/relationships" id="303" r:id="R6c2033fddf8f4075"/>
    <p:sldId xmlns:r="http://schemas.openxmlformats.org/officeDocument/2006/relationships" id="304" r:id="R1801873c8b2d4101"/>
    <p:sldId xmlns:r="http://schemas.openxmlformats.org/officeDocument/2006/relationships" id="305" r:id="R40df2b7690fc4dcc"/>
    <p:sldId xmlns:r="http://schemas.openxmlformats.org/officeDocument/2006/relationships" id="306" r:id="R3728674e70a1465d"/>
    <p:sldId xmlns:r="http://schemas.openxmlformats.org/officeDocument/2006/relationships" id="307" r:id="R002bb6c73a5a4431"/>
    <p:sldId xmlns:r="http://schemas.openxmlformats.org/officeDocument/2006/relationships" id="308" r:id="R19cd00f89c7d47cb"/>
    <p:sldId xmlns:r="http://schemas.openxmlformats.org/officeDocument/2006/relationships" id="309" r:id="R319f1db628544603"/>
    <p:sldId xmlns:r="http://schemas.openxmlformats.org/officeDocument/2006/relationships" id="310" r:id="R9510e796250446e4"/>
    <p:sldId xmlns:r="http://schemas.openxmlformats.org/officeDocument/2006/relationships" id="311" r:id="Rbc0e853ec50b4e40"/>
    <p:sldId xmlns:r="http://schemas.openxmlformats.org/officeDocument/2006/relationships" id="312" r:id="R5550480f7bd4498d"/>
    <p:sldId xmlns:r="http://schemas.openxmlformats.org/officeDocument/2006/relationships" id="313" r:id="R55323dae21444afb"/>
    <p:sldId xmlns:r="http://schemas.openxmlformats.org/officeDocument/2006/relationships" id="314" r:id="R5b0215d700ec4503"/>
    <p:sldId xmlns:r="http://schemas.openxmlformats.org/officeDocument/2006/relationships" id="315" r:id="R9ec9c22fdf234118"/>
    <p:sldId xmlns:r="http://schemas.openxmlformats.org/officeDocument/2006/relationships" id="316" r:id="R29021c9bab194829"/>
    <p:sldId xmlns:r="http://schemas.openxmlformats.org/officeDocument/2006/relationships" id="317" r:id="Rf735e38ee0344c0e"/>
    <p:sldId xmlns:r="http://schemas.openxmlformats.org/officeDocument/2006/relationships" id="318" r:id="R57b2a01dff084bcf"/>
    <p:sldId xmlns:r="http://schemas.openxmlformats.org/officeDocument/2006/relationships" id="319" r:id="R38dddc7a830f4a9e"/>
    <p:sldId xmlns:r="http://schemas.openxmlformats.org/officeDocument/2006/relationships" id="320" r:id="R13647dfade6644df"/>
    <p:sldId xmlns:r="http://schemas.openxmlformats.org/officeDocument/2006/relationships" id="321" r:id="R77cf6ddf1fdf4b6b"/>
    <p:sldId xmlns:r="http://schemas.openxmlformats.org/officeDocument/2006/relationships" id="322" r:id="R6a865b64d2a844da"/>
    <p:sldId xmlns:r="http://schemas.openxmlformats.org/officeDocument/2006/relationships" id="323" r:id="Rca8b20b70d5e4edf"/>
    <p:sldId xmlns:r="http://schemas.openxmlformats.org/officeDocument/2006/relationships" id="324" r:id="R128f1bfcf88c4d2d"/>
    <p:sldId xmlns:r="http://schemas.openxmlformats.org/officeDocument/2006/relationships" id="325" r:id="R374ca5929166489b"/>
    <p:sldId xmlns:r="http://schemas.openxmlformats.org/officeDocument/2006/relationships" id="326" r:id="R21e71d61133b456d"/>
    <p:sldId xmlns:r="http://schemas.openxmlformats.org/officeDocument/2006/relationships" id="327" r:id="R88d2bb5cf82e4bb6"/>
    <p:sldId xmlns:r="http://schemas.openxmlformats.org/officeDocument/2006/relationships" id="328" r:id="R403125b4de6d43e8"/>
    <p:sldId xmlns:r="http://schemas.openxmlformats.org/officeDocument/2006/relationships" id="329" r:id="Rebb2048d8bd24e2c"/>
    <p:sldId xmlns:r="http://schemas.openxmlformats.org/officeDocument/2006/relationships" id="330" r:id="Rc062babc214b4018"/>
    <p:sldId xmlns:r="http://schemas.openxmlformats.org/officeDocument/2006/relationships" id="331" r:id="R40578f7a6fa34d85"/>
    <p:sldId xmlns:r="http://schemas.openxmlformats.org/officeDocument/2006/relationships" id="332" r:id="Raa1ca8f0fcf54453"/>
    <p:sldId xmlns:r="http://schemas.openxmlformats.org/officeDocument/2006/relationships" id="333" r:id="R0d1d4cfdf95c4475"/>
    <p:sldId xmlns:r="http://schemas.openxmlformats.org/officeDocument/2006/relationships" id="334" r:id="R8ccf18d7b2bb4128"/>
    <p:sldId xmlns:r="http://schemas.openxmlformats.org/officeDocument/2006/relationships" id="335" r:id="R5f3e1aa085924d83"/>
    <p:sldId xmlns:r="http://schemas.openxmlformats.org/officeDocument/2006/relationships" id="336" r:id="R081731e1fda44a86"/>
    <p:sldId xmlns:r="http://schemas.openxmlformats.org/officeDocument/2006/relationships" id="337" r:id="R86a771810fdc4496"/>
    <p:sldId xmlns:r="http://schemas.openxmlformats.org/officeDocument/2006/relationships" id="338" r:id="R1319143d7e0640ec"/>
    <p:sldId xmlns:r="http://schemas.openxmlformats.org/officeDocument/2006/relationships" id="339" r:id="Rdd376874ee824fca"/>
    <p:sldId xmlns:r="http://schemas.openxmlformats.org/officeDocument/2006/relationships" id="340" r:id="R204743d8e51a4971"/>
    <p:sldId xmlns:r="http://schemas.openxmlformats.org/officeDocument/2006/relationships" id="341" r:id="R16631509988f4e7b"/>
    <p:sldId xmlns:r="http://schemas.openxmlformats.org/officeDocument/2006/relationships" id="342" r:id="R993bfab2e20d4b8a"/>
    <p:sldId xmlns:r="http://schemas.openxmlformats.org/officeDocument/2006/relationships" id="343" r:id="Refcfacf6b0c54695"/>
    <p:sldId xmlns:r="http://schemas.openxmlformats.org/officeDocument/2006/relationships" id="344" r:id="Rfbcb6d5c9e64454f"/>
    <p:sldId xmlns:r="http://schemas.openxmlformats.org/officeDocument/2006/relationships" id="345" r:id="Rc09fe7fed3884425"/>
    <p:sldId xmlns:r="http://schemas.openxmlformats.org/officeDocument/2006/relationships" id="346" r:id="R81750fff04df4e61"/>
    <p:sldId xmlns:r="http://schemas.openxmlformats.org/officeDocument/2006/relationships" id="347" r:id="Rf6451f1062a9450a"/>
    <p:sldId xmlns:r="http://schemas.openxmlformats.org/officeDocument/2006/relationships" id="348" r:id="R5a14f7e9f33a483f"/>
    <p:sldId xmlns:r="http://schemas.openxmlformats.org/officeDocument/2006/relationships" id="349" r:id="R93a91fe3da694ef0"/>
    <p:sldId xmlns:r="http://schemas.openxmlformats.org/officeDocument/2006/relationships" id="350" r:id="Rc740ecc972aa4c97"/>
    <p:sldId xmlns:r="http://schemas.openxmlformats.org/officeDocument/2006/relationships" id="351" r:id="R819ad751845e4620"/>
    <p:sldId xmlns:r="http://schemas.openxmlformats.org/officeDocument/2006/relationships" id="352" r:id="R834f33a60b144444"/>
    <p:sldId xmlns:r="http://schemas.openxmlformats.org/officeDocument/2006/relationships" id="353" r:id="R0d4a88dfae9a4e8a"/>
    <p:sldId xmlns:r="http://schemas.openxmlformats.org/officeDocument/2006/relationships" id="354" r:id="R19d592a19b0e42b1"/>
    <p:sldId xmlns:r="http://schemas.openxmlformats.org/officeDocument/2006/relationships" id="355" r:id="R2a5d97cf81b84bad"/>
    <p:sldId xmlns:r="http://schemas.openxmlformats.org/officeDocument/2006/relationships" id="356" r:id="R83e9f8f6d2a642a6"/>
    <p:sldId xmlns:r="http://schemas.openxmlformats.org/officeDocument/2006/relationships" id="357" r:id="R9268b2c5ddf040a0"/>
    <p:sldId xmlns:r="http://schemas.openxmlformats.org/officeDocument/2006/relationships" id="358" r:id="Ref2d19f40c9e4d8d"/>
    <p:sldId xmlns:r="http://schemas.openxmlformats.org/officeDocument/2006/relationships" id="359" r:id="R4102117ef1644f7c"/>
    <p:sldId xmlns:r="http://schemas.openxmlformats.org/officeDocument/2006/relationships" id="360" r:id="R20d378742cba4f27"/>
    <p:sldId xmlns:r="http://schemas.openxmlformats.org/officeDocument/2006/relationships" id="361" r:id="Rbf3534bc47d14a1d"/>
    <p:sldId xmlns:r="http://schemas.openxmlformats.org/officeDocument/2006/relationships" id="362" r:id="Rcba363e107284138"/>
    <p:sldId xmlns:r="http://schemas.openxmlformats.org/officeDocument/2006/relationships" id="363" r:id="Rfc1081785dc6446a"/>
    <p:sldId xmlns:r="http://schemas.openxmlformats.org/officeDocument/2006/relationships" id="364" r:id="Re9818d6a89e84c43"/>
    <p:sldId xmlns:r="http://schemas.openxmlformats.org/officeDocument/2006/relationships" id="365" r:id="R43617e66e02f416e"/>
    <p:sldId xmlns:r="http://schemas.openxmlformats.org/officeDocument/2006/relationships" id="366" r:id="R1a659851760e488f"/>
    <p:sldId xmlns:r="http://schemas.openxmlformats.org/officeDocument/2006/relationships" id="367" r:id="R0e3008b3e4954fd7"/>
    <p:sldId xmlns:r="http://schemas.openxmlformats.org/officeDocument/2006/relationships" id="368" r:id="Raed417c7a3584807"/>
    <p:sldId xmlns:r="http://schemas.openxmlformats.org/officeDocument/2006/relationships" id="369" r:id="Ra9becac53b954e23"/>
    <p:sldId xmlns:r="http://schemas.openxmlformats.org/officeDocument/2006/relationships" id="370" r:id="Re32b2ef66a674ee6"/>
    <p:sldId xmlns:r="http://schemas.openxmlformats.org/officeDocument/2006/relationships" id="371" r:id="R227e391e7f624a6e"/>
    <p:sldId xmlns:r="http://schemas.openxmlformats.org/officeDocument/2006/relationships" id="372" r:id="Rb2d6cb6d09ee4f8f"/>
    <p:sldId xmlns:r="http://schemas.openxmlformats.org/officeDocument/2006/relationships" id="373" r:id="R5ceca3fd3f894106"/>
    <p:sldId xmlns:r="http://schemas.openxmlformats.org/officeDocument/2006/relationships" id="374" r:id="R2b647de44c1349d9"/>
    <p:sldId xmlns:r="http://schemas.openxmlformats.org/officeDocument/2006/relationships" id="375" r:id="R351265411d7f4904"/>
    <p:sldId xmlns:r="http://schemas.openxmlformats.org/officeDocument/2006/relationships" id="376" r:id="R8cfdd2c0ee1242d9"/>
    <p:sldId xmlns:r="http://schemas.openxmlformats.org/officeDocument/2006/relationships" id="377" r:id="R2736d3baf757415c"/>
    <p:sldId xmlns:r="http://schemas.openxmlformats.org/officeDocument/2006/relationships" id="378" r:id="R6763488541334167"/>
    <p:sldId xmlns:r="http://schemas.openxmlformats.org/officeDocument/2006/relationships" id="379" r:id="R3c1106fd24e5401d"/>
    <p:sldId xmlns:r="http://schemas.openxmlformats.org/officeDocument/2006/relationships" id="380" r:id="R20f3e43f68cb42c0"/>
    <p:sldId xmlns:r="http://schemas.openxmlformats.org/officeDocument/2006/relationships" id="381" r:id="Ra20fa2d826914553"/>
    <p:sldId xmlns:r="http://schemas.openxmlformats.org/officeDocument/2006/relationships" id="382" r:id="Rc503ab71a55e4c34"/>
    <p:sldId xmlns:r="http://schemas.openxmlformats.org/officeDocument/2006/relationships" id="383" r:id="Rd7cbce2fdccb42ed"/>
    <p:sldId xmlns:r="http://schemas.openxmlformats.org/officeDocument/2006/relationships" id="384" r:id="R6169654390ab4a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df9589d2d04f41" /><Relationship Type="http://schemas.openxmlformats.org/officeDocument/2006/relationships/slideMaster" Target="/ppt/slideMasters/slideMaster1.xml" Id="R7ae95eff641648be" /><Relationship Type="http://schemas.openxmlformats.org/officeDocument/2006/relationships/notesMaster" Target="/ppt/notesMasters/notesMaster1.xml" Id="R6307ca51ce904627" /><Relationship Type="http://schemas.openxmlformats.org/officeDocument/2006/relationships/presProps" Target="/ppt/presProps.xml" Id="Rb2ac7b7f2f5a452b" /><Relationship Type="http://schemas.openxmlformats.org/officeDocument/2006/relationships/tableStyles" Target="/ppt/tableStyles.xml" Id="R6ddae0ede8584b35" /><Relationship Type="http://schemas.openxmlformats.org/officeDocument/2006/relationships/slide" Target="/ppt/slides/slide1.xml" Id="Rfb3d24d50f3c4872" /><Relationship Type="http://schemas.openxmlformats.org/officeDocument/2006/relationships/slide" Target="/ppt/slides/slide2.xml" Id="R7b7d98e2025a41fa" /><Relationship Type="http://schemas.openxmlformats.org/officeDocument/2006/relationships/slide" Target="/ppt/slides/slide3.xml" Id="R8644b4b008674c46" /><Relationship Type="http://schemas.openxmlformats.org/officeDocument/2006/relationships/slide" Target="/ppt/slides/slide4.xml" Id="R8b0cc6eb3c9b4012" /><Relationship Type="http://schemas.openxmlformats.org/officeDocument/2006/relationships/slide" Target="/ppt/slides/slide5.xml" Id="R70986ff89567475d" /><Relationship Type="http://schemas.openxmlformats.org/officeDocument/2006/relationships/slide" Target="/ppt/slides/slide6.xml" Id="R279b5fcbd4ad4fc4" /><Relationship Type="http://schemas.openxmlformats.org/officeDocument/2006/relationships/slide" Target="/ppt/slides/slide7.xml" Id="R23296d53f44d4263" /><Relationship Type="http://schemas.openxmlformats.org/officeDocument/2006/relationships/slide" Target="/ppt/slides/slide8.xml" Id="Re31e7a238ad04e76" /><Relationship Type="http://schemas.openxmlformats.org/officeDocument/2006/relationships/slide" Target="/ppt/slides/slide9.xml" Id="Rf64abfb008c94c4e" /><Relationship Type="http://schemas.openxmlformats.org/officeDocument/2006/relationships/slide" Target="/ppt/slides/slide10.xml" Id="Rf9e027fb1590442d" /><Relationship Type="http://schemas.openxmlformats.org/officeDocument/2006/relationships/slide" Target="/ppt/slides/slide11.xml" Id="R65c933c30ce74edd" /><Relationship Type="http://schemas.openxmlformats.org/officeDocument/2006/relationships/slide" Target="/ppt/slides/slide12.xml" Id="R74dd32a9f28143db" /><Relationship Type="http://schemas.openxmlformats.org/officeDocument/2006/relationships/slide" Target="/ppt/slides/slide13.xml" Id="R8e8108e8b5d648b4" /><Relationship Type="http://schemas.openxmlformats.org/officeDocument/2006/relationships/slide" Target="/ppt/slides/slide14.xml" Id="R6291a38e8b094b97" /><Relationship Type="http://schemas.openxmlformats.org/officeDocument/2006/relationships/slide" Target="/ppt/slides/slide15.xml" Id="R7415e1dd83ba4c68" /><Relationship Type="http://schemas.openxmlformats.org/officeDocument/2006/relationships/slide" Target="/ppt/slides/slide16.xml" Id="R80a54944387541af" /><Relationship Type="http://schemas.openxmlformats.org/officeDocument/2006/relationships/slide" Target="/ppt/slides/slide17.xml" Id="R3caff7665ed247ad" /><Relationship Type="http://schemas.openxmlformats.org/officeDocument/2006/relationships/slide" Target="/ppt/slides/slide18.xml" Id="R426af9243ea14a81" /><Relationship Type="http://schemas.openxmlformats.org/officeDocument/2006/relationships/slide" Target="/ppt/slides/slide19.xml" Id="Re431115eb14d478b" /><Relationship Type="http://schemas.openxmlformats.org/officeDocument/2006/relationships/slide" Target="/ppt/slides/slide20.xml" Id="R4e308d2e52244ea3" /><Relationship Type="http://schemas.openxmlformats.org/officeDocument/2006/relationships/slide" Target="/ppt/slides/slide21.xml" Id="R69192309f9184b3c" /><Relationship Type="http://schemas.openxmlformats.org/officeDocument/2006/relationships/slide" Target="/ppt/slides/slide22.xml" Id="Rc658f6c8caf149dc" /><Relationship Type="http://schemas.openxmlformats.org/officeDocument/2006/relationships/slide" Target="/ppt/slides/slide23.xml" Id="R9aa774b9ecdb4216" /><Relationship Type="http://schemas.openxmlformats.org/officeDocument/2006/relationships/slide" Target="/ppt/slides/slide24.xml" Id="R9cc35e1999174c1b" /><Relationship Type="http://schemas.openxmlformats.org/officeDocument/2006/relationships/slide" Target="/ppt/slides/slide25.xml" Id="R46402213bb9947d9" /><Relationship Type="http://schemas.openxmlformats.org/officeDocument/2006/relationships/slide" Target="/ppt/slides/slide26.xml" Id="Re949f1bc42254917" /><Relationship Type="http://schemas.openxmlformats.org/officeDocument/2006/relationships/slide" Target="/ppt/slides/slide27.xml" Id="R354f631c4fe448bd" /><Relationship Type="http://schemas.openxmlformats.org/officeDocument/2006/relationships/slide" Target="/ppt/slides/slide28.xml" Id="Rbaa40aa0a40e4ff7" /><Relationship Type="http://schemas.openxmlformats.org/officeDocument/2006/relationships/slide" Target="/ppt/slides/slide29.xml" Id="R615707c98220413d" /><Relationship Type="http://schemas.openxmlformats.org/officeDocument/2006/relationships/slide" Target="/ppt/slides/slide30.xml" Id="R37eaf17106bd4b01" /><Relationship Type="http://schemas.openxmlformats.org/officeDocument/2006/relationships/slide" Target="/ppt/slides/slide31.xml" Id="R597e44fdfdb2495d" /><Relationship Type="http://schemas.openxmlformats.org/officeDocument/2006/relationships/slide" Target="/ppt/slides/slide32.xml" Id="R204f106d2b774097" /><Relationship Type="http://schemas.openxmlformats.org/officeDocument/2006/relationships/slide" Target="/ppt/slides/slide33.xml" Id="R4e00a0de58d34a69" /><Relationship Type="http://schemas.openxmlformats.org/officeDocument/2006/relationships/slide" Target="/ppt/slides/slide34.xml" Id="R8d6b0383501f40fa" /><Relationship Type="http://schemas.openxmlformats.org/officeDocument/2006/relationships/slide" Target="/ppt/slides/slide35.xml" Id="R7ef5ba5e6a1c4749" /><Relationship Type="http://schemas.openxmlformats.org/officeDocument/2006/relationships/slide" Target="/ppt/slides/slide36.xml" Id="Rfe93add5c3c345a4" /><Relationship Type="http://schemas.openxmlformats.org/officeDocument/2006/relationships/slide" Target="/ppt/slides/slide37.xml" Id="Rd8b986d19d3e4ffe" /><Relationship Type="http://schemas.openxmlformats.org/officeDocument/2006/relationships/slide" Target="/ppt/slides/slide38.xml" Id="Rfbbf561488c84b17" /><Relationship Type="http://schemas.openxmlformats.org/officeDocument/2006/relationships/slide" Target="/ppt/slides/slide39.xml" Id="Rfbab7cfb986e4e2e" /><Relationship Type="http://schemas.openxmlformats.org/officeDocument/2006/relationships/slide" Target="/ppt/slides/slide40.xml" Id="R608986dfe5474ddf" /><Relationship Type="http://schemas.openxmlformats.org/officeDocument/2006/relationships/slide" Target="/ppt/slides/slide41.xml" Id="R7314759859f547a2" /><Relationship Type="http://schemas.openxmlformats.org/officeDocument/2006/relationships/slide" Target="/ppt/slides/slide42.xml" Id="Rc85911b5d9be400e" /><Relationship Type="http://schemas.openxmlformats.org/officeDocument/2006/relationships/slide" Target="/ppt/slides/slide43.xml" Id="Rb5abc52f400b4bd1" /><Relationship Type="http://schemas.openxmlformats.org/officeDocument/2006/relationships/slide" Target="/ppt/slides/slide44.xml" Id="R63e88c67da3846fb" /><Relationship Type="http://schemas.openxmlformats.org/officeDocument/2006/relationships/slide" Target="/ppt/slides/slide45.xml" Id="R7946f88154da45cd" /><Relationship Type="http://schemas.openxmlformats.org/officeDocument/2006/relationships/slide" Target="/ppt/slides/slide46.xml" Id="R1e22fe4c4e004432" /><Relationship Type="http://schemas.openxmlformats.org/officeDocument/2006/relationships/slide" Target="/ppt/slides/slide47.xml" Id="R5afb8cbcbf544eee" /><Relationship Type="http://schemas.openxmlformats.org/officeDocument/2006/relationships/slide" Target="/ppt/slides/slide48.xml" Id="R6c2033fddf8f4075" /><Relationship Type="http://schemas.openxmlformats.org/officeDocument/2006/relationships/slide" Target="/ppt/slides/slide49.xml" Id="R1801873c8b2d4101" /><Relationship Type="http://schemas.openxmlformats.org/officeDocument/2006/relationships/slide" Target="/ppt/slides/slide50.xml" Id="R40df2b7690fc4dcc" /><Relationship Type="http://schemas.openxmlformats.org/officeDocument/2006/relationships/slide" Target="/ppt/slides/slide51.xml" Id="R3728674e70a1465d" /><Relationship Type="http://schemas.openxmlformats.org/officeDocument/2006/relationships/slide" Target="/ppt/slides/slide52.xml" Id="R002bb6c73a5a4431" /><Relationship Type="http://schemas.openxmlformats.org/officeDocument/2006/relationships/slide" Target="/ppt/slides/slide53.xml" Id="R19cd00f89c7d47cb" /><Relationship Type="http://schemas.openxmlformats.org/officeDocument/2006/relationships/slide" Target="/ppt/slides/slide54.xml" Id="R319f1db628544603" /><Relationship Type="http://schemas.openxmlformats.org/officeDocument/2006/relationships/slide" Target="/ppt/slides/slide55.xml" Id="R9510e796250446e4" /><Relationship Type="http://schemas.openxmlformats.org/officeDocument/2006/relationships/slide" Target="/ppt/slides/slide56.xml" Id="Rbc0e853ec50b4e40" /><Relationship Type="http://schemas.openxmlformats.org/officeDocument/2006/relationships/slide" Target="/ppt/slides/slide57.xml" Id="R5550480f7bd4498d" /><Relationship Type="http://schemas.openxmlformats.org/officeDocument/2006/relationships/slide" Target="/ppt/slides/slide58.xml" Id="R55323dae21444afb" /><Relationship Type="http://schemas.openxmlformats.org/officeDocument/2006/relationships/slide" Target="/ppt/slides/slide59.xml" Id="R5b0215d700ec4503" /><Relationship Type="http://schemas.openxmlformats.org/officeDocument/2006/relationships/slide" Target="/ppt/slides/slide60.xml" Id="R9ec9c22fdf234118" /><Relationship Type="http://schemas.openxmlformats.org/officeDocument/2006/relationships/slide" Target="/ppt/slides/slide61.xml" Id="R29021c9bab194829" /><Relationship Type="http://schemas.openxmlformats.org/officeDocument/2006/relationships/slide" Target="/ppt/slides/slide62.xml" Id="Rf735e38ee0344c0e" /><Relationship Type="http://schemas.openxmlformats.org/officeDocument/2006/relationships/slide" Target="/ppt/slides/slide63.xml" Id="R57b2a01dff084bcf" /><Relationship Type="http://schemas.openxmlformats.org/officeDocument/2006/relationships/slide" Target="/ppt/slides/slide64.xml" Id="R38dddc7a830f4a9e" /><Relationship Type="http://schemas.openxmlformats.org/officeDocument/2006/relationships/slide" Target="/ppt/slides/slide65.xml" Id="R13647dfade6644df" /><Relationship Type="http://schemas.openxmlformats.org/officeDocument/2006/relationships/slide" Target="/ppt/slides/slide66.xml" Id="R77cf6ddf1fdf4b6b" /><Relationship Type="http://schemas.openxmlformats.org/officeDocument/2006/relationships/slide" Target="/ppt/slides/slide67.xml" Id="R6a865b64d2a844da" /><Relationship Type="http://schemas.openxmlformats.org/officeDocument/2006/relationships/slide" Target="/ppt/slides/slide68.xml" Id="Rca8b20b70d5e4edf" /><Relationship Type="http://schemas.openxmlformats.org/officeDocument/2006/relationships/slide" Target="/ppt/slides/slide69.xml" Id="R128f1bfcf88c4d2d" /><Relationship Type="http://schemas.openxmlformats.org/officeDocument/2006/relationships/slide" Target="/ppt/slides/slide70.xml" Id="R374ca5929166489b" /><Relationship Type="http://schemas.openxmlformats.org/officeDocument/2006/relationships/slide" Target="/ppt/slides/slide71.xml" Id="R21e71d61133b456d" /><Relationship Type="http://schemas.openxmlformats.org/officeDocument/2006/relationships/slide" Target="/ppt/slides/slide72.xml" Id="R88d2bb5cf82e4bb6" /><Relationship Type="http://schemas.openxmlformats.org/officeDocument/2006/relationships/slide" Target="/ppt/slides/slide73.xml" Id="R403125b4de6d43e8" /><Relationship Type="http://schemas.openxmlformats.org/officeDocument/2006/relationships/slide" Target="/ppt/slides/slide74.xml" Id="Rebb2048d8bd24e2c" /><Relationship Type="http://schemas.openxmlformats.org/officeDocument/2006/relationships/slide" Target="/ppt/slides/slide75.xml" Id="Rc062babc214b4018" /><Relationship Type="http://schemas.openxmlformats.org/officeDocument/2006/relationships/slide" Target="/ppt/slides/slide76.xml" Id="R40578f7a6fa34d85" /><Relationship Type="http://schemas.openxmlformats.org/officeDocument/2006/relationships/slide" Target="/ppt/slides/slide77.xml" Id="Raa1ca8f0fcf54453" /><Relationship Type="http://schemas.openxmlformats.org/officeDocument/2006/relationships/slide" Target="/ppt/slides/slide78.xml" Id="R0d1d4cfdf95c4475" /><Relationship Type="http://schemas.openxmlformats.org/officeDocument/2006/relationships/slide" Target="/ppt/slides/slide79.xml" Id="R8ccf18d7b2bb4128" /><Relationship Type="http://schemas.openxmlformats.org/officeDocument/2006/relationships/slide" Target="/ppt/slides/slide80.xml" Id="R5f3e1aa085924d83" /><Relationship Type="http://schemas.openxmlformats.org/officeDocument/2006/relationships/slide" Target="/ppt/slides/slide81.xml" Id="R081731e1fda44a86" /><Relationship Type="http://schemas.openxmlformats.org/officeDocument/2006/relationships/slide" Target="/ppt/slides/slide82.xml" Id="R86a771810fdc4496" /><Relationship Type="http://schemas.openxmlformats.org/officeDocument/2006/relationships/slide" Target="/ppt/slides/slide83.xml" Id="R1319143d7e0640ec" /><Relationship Type="http://schemas.openxmlformats.org/officeDocument/2006/relationships/slide" Target="/ppt/slides/slide84.xml" Id="Rdd376874ee824fca" /><Relationship Type="http://schemas.openxmlformats.org/officeDocument/2006/relationships/slide" Target="/ppt/slides/slide85.xml" Id="R204743d8e51a4971" /><Relationship Type="http://schemas.openxmlformats.org/officeDocument/2006/relationships/slide" Target="/ppt/slides/slide86.xml" Id="R16631509988f4e7b" /><Relationship Type="http://schemas.openxmlformats.org/officeDocument/2006/relationships/slide" Target="/ppt/slides/slide87.xml" Id="R993bfab2e20d4b8a" /><Relationship Type="http://schemas.openxmlformats.org/officeDocument/2006/relationships/slide" Target="/ppt/slides/slide88.xml" Id="Refcfacf6b0c54695" /><Relationship Type="http://schemas.openxmlformats.org/officeDocument/2006/relationships/slide" Target="/ppt/slides/slide89.xml" Id="Rfbcb6d5c9e64454f" /><Relationship Type="http://schemas.openxmlformats.org/officeDocument/2006/relationships/slide" Target="/ppt/slides/slide90.xml" Id="Rc09fe7fed3884425" /><Relationship Type="http://schemas.openxmlformats.org/officeDocument/2006/relationships/slide" Target="/ppt/slides/slide91.xml" Id="R81750fff04df4e61" /><Relationship Type="http://schemas.openxmlformats.org/officeDocument/2006/relationships/slide" Target="/ppt/slides/slide92.xml" Id="Rf6451f1062a9450a" /><Relationship Type="http://schemas.openxmlformats.org/officeDocument/2006/relationships/slide" Target="/ppt/slides/slide93.xml" Id="R5a14f7e9f33a483f" /><Relationship Type="http://schemas.openxmlformats.org/officeDocument/2006/relationships/slide" Target="/ppt/slides/slide94.xml" Id="R93a91fe3da694ef0" /><Relationship Type="http://schemas.openxmlformats.org/officeDocument/2006/relationships/slide" Target="/ppt/slides/slide95.xml" Id="Rc740ecc972aa4c97" /><Relationship Type="http://schemas.openxmlformats.org/officeDocument/2006/relationships/slide" Target="/ppt/slides/slide96.xml" Id="R819ad751845e4620" /><Relationship Type="http://schemas.openxmlformats.org/officeDocument/2006/relationships/slide" Target="/ppt/slides/slide97.xml" Id="R834f33a60b144444" /><Relationship Type="http://schemas.openxmlformats.org/officeDocument/2006/relationships/slide" Target="/ppt/slides/slide98.xml" Id="R0d4a88dfae9a4e8a" /><Relationship Type="http://schemas.openxmlformats.org/officeDocument/2006/relationships/slide" Target="/ppt/slides/slide99.xml" Id="R19d592a19b0e42b1" /><Relationship Type="http://schemas.openxmlformats.org/officeDocument/2006/relationships/slide" Target="/ppt/slides/slide100.xml" Id="R2a5d97cf81b84bad" /><Relationship Type="http://schemas.openxmlformats.org/officeDocument/2006/relationships/slide" Target="/ppt/slides/slide101.xml" Id="R83e9f8f6d2a642a6" /><Relationship Type="http://schemas.openxmlformats.org/officeDocument/2006/relationships/slide" Target="/ppt/slides/slide102.xml" Id="R9268b2c5ddf040a0" /><Relationship Type="http://schemas.openxmlformats.org/officeDocument/2006/relationships/slide" Target="/ppt/slides/slide103.xml" Id="Ref2d19f40c9e4d8d" /><Relationship Type="http://schemas.openxmlformats.org/officeDocument/2006/relationships/slide" Target="/ppt/slides/slide104.xml" Id="R4102117ef1644f7c" /><Relationship Type="http://schemas.openxmlformats.org/officeDocument/2006/relationships/slide" Target="/ppt/slides/slide105.xml" Id="R20d378742cba4f27" /><Relationship Type="http://schemas.openxmlformats.org/officeDocument/2006/relationships/slide" Target="/ppt/slides/slide106.xml" Id="Rbf3534bc47d14a1d" /><Relationship Type="http://schemas.openxmlformats.org/officeDocument/2006/relationships/slide" Target="/ppt/slides/slide107.xml" Id="Rcba363e107284138" /><Relationship Type="http://schemas.openxmlformats.org/officeDocument/2006/relationships/slide" Target="/ppt/slides/slide108.xml" Id="Rfc1081785dc6446a" /><Relationship Type="http://schemas.openxmlformats.org/officeDocument/2006/relationships/slide" Target="/ppt/slides/slide109.xml" Id="Re9818d6a89e84c43" /><Relationship Type="http://schemas.openxmlformats.org/officeDocument/2006/relationships/slide" Target="/ppt/slides/slide110.xml" Id="R43617e66e02f416e" /><Relationship Type="http://schemas.openxmlformats.org/officeDocument/2006/relationships/slide" Target="/ppt/slides/slide111.xml" Id="R1a659851760e488f" /><Relationship Type="http://schemas.openxmlformats.org/officeDocument/2006/relationships/slide" Target="/ppt/slides/slide112.xml" Id="R0e3008b3e4954fd7" /><Relationship Type="http://schemas.openxmlformats.org/officeDocument/2006/relationships/slide" Target="/ppt/slides/slide113.xml" Id="Raed417c7a3584807" /><Relationship Type="http://schemas.openxmlformats.org/officeDocument/2006/relationships/slide" Target="/ppt/slides/slide114.xml" Id="Ra9becac53b954e23" /><Relationship Type="http://schemas.openxmlformats.org/officeDocument/2006/relationships/slide" Target="/ppt/slides/slide115.xml" Id="Re32b2ef66a674ee6" /><Relationship Type="http://schemas.openxmlformats.org/officeDocument/2006/relationships/slide" Target="/ppt/slides/slide116.xml" Id="R227e391e7f624a6e" /><Relationship Type="http://schemas.openxmlformats.org/officeDocument/2006/relationships/slide" Target="/ppt/slides/slide117.xml" Id="Rb2d6cb6d09ee4f8f" /><Relationship Type="http://schemas.openxmlformats.org/officeDocument/2006/relationships/slide" Target="/ppt/slides/slide118.xml" Id="R5ceca3fd3f894106" /><Relationship Type="http://schemas.openxmlformats.org/officeDocument/2006/relationships/slide" Target="/ppt/slides/slide119.xml" Id="R2b647de44c1349d9" /><Relationship Type="http://schemas.openxmlformats.org/officeDocument/2006/relationships/slide" Target="/ppt/slides/slide120.xml" Id="R351265411d7f4904" /><Relationship Type="http://schemas.openxmlformats.org/officeDocument/2006/relationships/slide" Target="/ppt/slides/slide121.xml" Id="R8cfdd2c0ee1242d9" /><Relationship Type="http://schemas.openxmlformats.org/officeDocument/2006/relationships/slide" Target="/ppt/slides/slide122.xml" Id="R2736d3baf757415c" /><Relationship Type="http://schemas.openxmlformats.org/officeDocument/2006/relationships/slide" Target="/ppt/slides/slide123.xml" Id="R6763488541334167" /><Relationship Type="http://schemas.openxmlformats.org/officeDocument/2006/relationships/slide" Target="/ppt/slides/slide124.xml" Id="R3c1106fd24e5401d" /><Relationship Type="http://schemas.openxmlformats.org/officeDocument/2006/relationships/slide" Target="/ppt/slides/slide125.xml" Id="R20f3e43f68cb42c0" /><Relationship Type="http://schemas.openxmlformats.org/officeDocument/2006/relationships/slide" Target="/ppt/slides/slide126.xml" Id="Ra20fa2d826914553" /><Relationship Type="http://schemas.openxmlformats.org/officeDocument/2006/relationships/slide" Target="/ppt/slides/slide127.xml" Id="Rc503ab71a55e4c34" /><Relationship Type="http://schemas.openxmlformats.org/officeDocument/2006/relationships/slide" Target="/ppt/slides/slide128.xml" Id="Rd7cbce2fdccb42ed" /><Relationship Type="http://schemas.openxmlformats.org/officeDocument/2006/relationships/slide" Target="/ppt/slides/slide129.xml" Id="R6169654390ab4a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1212aa6aae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4c7244fb2d443c" /><Relationship Type="http://schemas.openxmlformats.org/officeDocument/2006/relationships/notesMaster" Target="/ppt/notesMasters/notesMaster1.xml" Id="R2048b8e0d7834c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a30c7607f04f32" /><Relationship Type="http://schemas.openxmlformats.org/officeDocument/2006/relationships/notesMaster" Target="/ppt/notesMasters/notesMaster1.xml" Id="R4e49122fe25d4e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5b679b0a88424f" /><Relationship Type="http://schemas.openxmlformats.org/officeDocument/2006/relationships/notesMaster" Target="/ppt/notesMasters/notesMaster1.xml" Id="Ra20df20bad9243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63545b190b48d7" /><Relationship Type="http://schemas.openxmlformats.org/officeDocument/2006/relationships/notesMaster" Target="/ppt/notesMasters/notesMaster1.xml" Id="R6b5c62bcf68049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a9245171b462a" /><Relationship Type="http://schemas.openxmlformats.org/officeDocument/2006/relationships/notesMaster" Target="/ppt/notesMasters/notesMaster1.xml" Id="R733986545cbc40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38d8de8d5a4b10" /><Relationship Type="http://schemas.openxmlformats.org/officeDocument/2006/relationships/notesMaster" Target="/ppt/notesMasters/notesMaster1.xml" Id="Re9394fe99f9543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df3fcdd8d1403a" /><Relationship Type="http://schemas.openxmlformats.org/officeDocument/2006/relationships/notesMaster" Target="/ppt/notesMasters/notesMaster1.xml" Id="R061abaeca57946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4c081fdc374013" /><Relationship Type="http://schemas.openxmlformats.org/officeDocument/2006/relationships/notesMaster" Target="/ppt/notesMasters/notesMaster1.xml" Id="Rcfda5b4a605441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0b34e3fdd44a0e" /><Relationship Type="http://schemas.openxmlformats.org/officeDocument/2006/relationships/notesMaster" Target="/ppt/notesMasters/notesMaster1.xml" Id="R4e0e27f70dbe4e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c8e5bec8a14799" /><Relationship Type="http://schemas.openxmlformats.org/officeDocument/2006/relationships/notesMaster" Target="/ppt/notesMasters/notesMaster1.xml" Id="Reb6aa17cf8fd4b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5197748db44958" /><Relationship Type="http://schemas.openxmlformats.org/officeDocument/2006/relationships/notesMaster" Target="/ppt/notesMasters/notesMaster1.xml" Id="R0e18291cc9a147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38b09fafb74373" /><Relationship Type="http://schemas.openxmlformats.org/officeDocument/2006/relationships/notesMaster" Target="/ppt/notesMasters/notesMaster1.xml" Id="R4e719b52b2b644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3ca0e59c9a4681" /><Relationship Type="http://schemas.openxmlformats.org/officeDocument/2006/relationships/notesMaster" Target="/ppt/notesMasters/notesMaster1.xml" Id="R682dde1dc8a741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f2a67e7b2d4f98" /><Relationship Type="http://schemas.openxmlformats.org/officeDocument/2006/relationships/notesMaster" Target="/ppt/notesMasters/notesMaster1.xml" Id="R8d0dd72fa90a4c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ae5b76272d4128" /><Relationship Type="http://schemas.openxmlformats.org/officeDocument/2006/relationships/notesMaster" Target="/ppt/notesMasters/notesMaster1.xml" Id="Rc61e0a52258547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c525b998a84600" /><Relationship Type="http://schemas.openxmlformats.org/officeDocument/2006/relationships/notesMaster" Target="/ppt/notesMasters/notesMaster1.xml" Id="Rc9a0f852e6264f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3c2fab99ff4f62" /><Relationship Type="http://schemas.openxmlformats.org/officeDocument/2006/relationships/notesMaster" Target="/ppt/notesMasters/notesMaster1.xml" Id="Reff4acece9284b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a3354aff844c43" /><Relationship Type="http://schemas.openxmlformats.org/officeDocument/2006/relationships/notesMaster" Target="/ppt/notesMasters/notesMaster1.xml" Id="R48ebed5c1d7545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1bbfa1740c427b" /><Relationship Type="http://schemas.openxmlformats.org/officeDocument/2006/relationships/notesMaster" Target="/ppt/notesMasters/notesMaster1.xml" Id="R174456af8b4444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1737d4d130402c" /><Relationship Type="http://schemas.openxmlformats.org/officeDocument/2006/relationships/notesMaster" Target="/ppt/notesMasters/notesMaster1.xml" Id="R1cd4b1e54dc745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aab8e3a54dc41f4" /><Relationship Type="http://schemas.openxmlformats.org/officeDocument/2006/relationships/notesMaster" Target="/ppt/notesMasters/notesMaster1.xml" Id="Ra02089a30dfd46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7ea691812c44be" /><Relationship Type="http://schemas.openxmlformats.org/officeDocument/2006/relationships/notesMaster" Target="/ppt/notesMasters/notesMaster1.xml" Id="Rb8b9ca0b62c44e5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28316f6bacc45a6" /><Relationship Type="http://schemas.openxmlformats.org/officeDocument/2006/relationships/notesMaster" Target="/ppt/notesMasters/notesMaster1.xml" Id="R68594fbc4e7c47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6acb4a7232744d2" /><Relationship Type="http://schemas.openxmlformats.org/officeDocument/2006/relationships/notesMaster" Target="/ppt/notesMasters/notesMaster1.xml" Id="Rfeeea2218ead45f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9e20fa2dd24990" /><Relationship Type="http://schemas.openxmlformats.org/officeDocument/2006/relationships/notesMaster" Target="/ppt/notesMasters/notesMaster1.xml" Id="R820668f82e964de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d60a77b33674b93" /><Relationship Type="http://schemas.openxmlformats.org/officeDocument/2006/relationships/notesMaster" Target="/ppt/notesMasters/notesMaster1.xml" Id="R019a19f3d57243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d1339620134b44" /><Relationship Type="http://schemas.openxmlformats.org/officeDocument/2006/relationships/notesMaster" Target="/ppt/notesMasters/notesMaster1.xml" Id="Ra705a36e727e46d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e5fcae8ad024cf5" /><Relationship Type="http://schemas.openxmlformats.org/officeDocument/2006/relationships/notesMaster" Target="/ppt/notesMasters/notesMaster1.xml" Id="Ra24b82756d034e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0d28afc8614bda" /><Relationship Type="http://schemas.openxmlformats.org/officeDocument/2006/relationships/notesMaster" Target="/ppt/notesMasters/notesMaster1.xml" Id="Rfa7a0ae710ef499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5dac11f47004f4b" /><Relationship Type="http://schemas.openxmlformats.org/officeDocument/2006/relationships/notesMaster" Target="/ppt/notesMasters/notesMaster1.xml" Id="R78a4287ef9604e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bf0800d7b6c4cb1" /><Relationship Type="http://schemas.openxmlformats.org/officeDocument/2006/relationships/notesMaster" Target="/ppt/notesMasters/notesMaster1.xml" Id="Raec83f70cd6d46a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80fe234472f4cc2" /><Relationship Type="http://schemas.openxmlformats.org/officeDocument/2006/relationships/notesMaster" Target="/ppt/notesMasters/notesMaster1.xml" Id="Rc5c81746a957440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a7f792a63924017" /><Relationship Type="http://schemas.openxmlformats.org/officeDocument/2006/relationships/notesMaster" Target="/ppt/notesMasters/notesMaster1.xml" Id="R82c0cd8e6294408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5d1834891d74c07" /><Relationship Type="http://schemas.openxmlformats.org/officeDocument/2006/relationships/notesMaster" Target="/ppt/notesMasters/notesMaster1.xml" Id="Re4633c0a9d944a0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b3d4f5d3c9145db" /><Relationship Type="http://schemas.openxmlformats.org/officeDocument/2006/relationships/notesMaster" Target="/ppt/notesMasters/notesMaster1.xml" Id="R9d2d8a6056464cf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d4cbf2fba0b487d" /><Relationship Type="http://schemas.openxmlformats.org/officeDocument/2006/relationships/notesMaster" Target="/ppt/notesMasters/notesMaster1.xml" Id="R0abf54b1aa7e415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7ef2ecddcaa4212" /><Relationship Type="http://schemas.openxmlformats.org/officeDocument/2006/relationships/notesMaster" Target="/ppt/notesMasters/notesMaster1.xml" Id="R3cff02bc2602473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148032615104517" /><Relationship Type="http://schemas.openxmlformats.org/officeDocument/2006/relationships/notesMaster" Target="/ppt/notesMasters/notesMaster1.xml" Id="R55e25e65412d465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79057ff47f74aac" /><Relationship Type="http://schemas.openxmlformats.org/officeDocument/2006/relationships/notesMaster" Target="/ppt/notesMasters/notesMaster1.xml" Id="R96019e0d6ebe447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dd03cf6744e479a" /><Relationship Type="http://schemas.openxmlformats.org/officeDocument/2006/relationships/notesMaster" Target="/ppt/notesMasters/notesMaster1.xml" Id="Rbd02629f8a74445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a8d256349124291" /><Relationship Type="http://schemas.openxmlformats.org/officeDocument/2006/relationships/notesMaster" Target="/ppt/notesMasters/notesMaster1.xml" Id="R683a46df5d7b498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68bee3911734785" /><Relationship Type="http://schemas.openxmlformats.org/officeDocument/2006/relationships/notesMaster" Target="/ppt/notesMasters/notesMaster1.xml" Id="R736a4104184e471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831bfdc49b44603" /><Relationship Type="http://schemas.openxmlformats.org/officeDocument/2006/relationships/notesMaster" Target="/ppt/notesMasters/notesMaster1.xml" Id="R177e06c261864a6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9122d50b5564022" /><Relationship Type="http://schemas.openxmlformats.org/officeDocument/2006/relationships/notesMaster" Target="/ppt/notesMasters/notesMaster1.xml" Id="Rfd00bf7ca0214ff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1f2f3ffbcf64e5d" /><Relationship Type="http://schemas.openxmlformats.org/officeDocument/2006/relationships/notesMaster" Target="/ppt/notesMasters/notesMaster1.xml" Id="R659b469f29d54f3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70d0407260a4423" /><Relationship Type="http://schemas.openxmlformats.org/officeDocument/2006/relationships/notesMaster" Target="/ppt/notesMasters/notesMaster1.xml" Id="Rdfea4b4a5fab46b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a03ea5061a24865" /><Relationship Type="http://schemas.openxmlformats.org/officeDocument/2006/relationships/notesMaster" Target="/ppt/notesMasters/notesMaster1.xml" Id="R9d9ef306ffab40d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7491e7ff2c34b2d" /><Relationship Type="http://schemas.openxmlformats.org/officeDocument/2006/relationships/notesMaster" Target="/ppt/notesMasters/notesMaster1.xml" Id="Rb100aff4b1e1439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15b14fc37e540a7" /><Relationship Type="http://schemas.openxmlformats.org/officeDocument/2006/relationships/notesMaster" Target="/ppt/notesMasters/notesMaster1.xml" Id="Rb090c51e926944e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892e6a14bcf41c5" /><Relationship Type="http://schemas.openxmlformats.org/officeDocument/2006/relationships/notesMaster" Target="/ppt/notesMasters/notesMaster1.xml" Id="R9dfbc24c7963408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d3f4cf4ce6643e4" /><Relationship Type="http://schemas.openxmlformats.org/officeDocument/2006/relationships/notesMaster" Target="/ppt/notesMasters/notesMaster1.xml" Id="Rf815f6e076634dd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47f1ec00b8c4cf2" /><Relationship Type="http://schemas.openxmlformats.org/officeDocument/2006/relationships/notesMaster" Target="/ppt/notesMasters/notesMaster1.xml" Id="Rc3ce3faeb98a492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34c39d4180244ad" /><Relationship Type="http://schemas.openxmlformats.org/officeDocument/2006/relationships/notesMaster" Target="/ppt/notesMasters/notesMaster1.xml" Id="R11bc1ee8d40c44a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4a0bbeb083c40ce" /><Relationship Type="http://schemas.openxmlformats.org/officeDocument/2006/relationships/notesMaster" Target="/ppt/notesMasters/notesMaster1.xml" Id="R9a487b31789144c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58fc8028179429d" /><Relationship Type="http://schemas.openxmlformats.org/officeDocument/2006/relationships/notesMaster" Target="/ppt/notesMasters/notesMaster1.xml" Id="Rffcb9c20e46a435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29269b41fc142ff" /><Relationship Type="http://schemas.openxmlformats.org/officeDocument/2006/relationships/notesMaster" Target="/ppt/notesMasters/notesMaster1.xml" Id="Rcc64ed066ffa4d6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bffd07c4a754024" /><Relationship Type="http://schemas.openxmlformats.org/officeDocument/2006/relationships/notesMaster" Target="/ppt/notesMasters/notesMaster1.xml" Id="R289b74e680004c8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029299597744a3c" /><Relationship Type="http://schemas.openxmlformats.org/officeDocument/2006/relationships/notesMaster" Target="/ppt/notesMasters/notesMaster1.xml" Id="R6921c86f556a41f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4ac0582f5334663" /><Relationship Type="http://schemas.openxmlformats.org/officeDocument/2006/relationships/notesMaster" Target="/ppt/notesMasters/notesMaster1.xml" Id="Rb3fa5a38a5bf487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45ef1a9e4524eef" /><Relationship Type="http://schemas.openxmlformats.org/officeDocument/2006/relationships/notesMaster" Target="/ppt/notesMasters/notesMaster1.xml" Id="R6b718869f0d2457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509c2c623b24445" /><Relationship Type="http://schemas.openxmlformats.org/officeDocument/2006/relationships/notesMaster" Target="/ppt/notesMasters/notesMaster1.xml" Id="R19b653458c6a433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e79c04295b94a53" /><Relationship Type="http://schemas.openxmlformats.org/officeDocument/2006/relationships/notesMaster" Target="/ppt/notesMasters/notesMaster1.xml" Id="Rbee4140a834e4d70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2a050bb76ad4b2b" /><Relationship Type="http://schemas.openxmlformats.org/officeDocument/2006/relationships/notesMaster" Target="/ppt/notesMasters/notesMaster1.xml" Id="Rfda55dba0a3f455a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3ee7bc80a414f78" /><Relationship Type="http://schemas.openxmlformats.org/officeDocument/2006/relationships/notesMaster" Target="/ppt/notesMasters/notesMaster1.xml" Id="R5ff39d6d419147d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ce279cab1fdc4acf" /><Relationship Type="http://schemas.openxmlformats.org/officeDocument/2006/relationships/notesMaster" Target="/ppt/notesMasters/notesMaster1.xml" Id="Rc0516da4a25e405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afb314b6598a41a7" /><Relationship Type="http://schemas.openxmlformats.org/officeDocument/2006/relationships/notesMaster" Target="/ppt/notesMasters/notesMaster1.xml" Id="R697335bd48bc470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34fffce36c04ce5" /><Relationship Type="http://schemas.openxmlformats.org/officeDocument/2006/relationships/notesMaster" Target="/ppt/notesMasters/notesMaster1.xml" Id="R22e94ae783ab472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774536a33b2241cb" /><Relationship Type="http://schemas.openxmlformats.org/officeDocument/2006/relationships/notesMaster" Target="/ppt/notesMasters/notesMaster1.xml" Id="Ra2ca2aca18a249c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9a9c6cd469424ad1" /><Relationship Type="http://schemas.openxmlformats.org/officeDocument/2006/relationships/notesMaster" Target="/ppt/notesMasters/notesMaster1.xml" Id="Rdc801f3c35bf4dda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c40aca965ea41a8" /><Relationship Type="http://schemas.openxmlformats.org/officeDocument/2006/relationships/notesMaster" Target="/ppt/notesMasters/notesMaster1.xml" Id="R6270234e228a46e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babf82215746434c" /><Relationship Type="http://schemas.openxmlformats.org/officeDocument/2006/relationships/notesMaster" Target="/ppt/notesMasters/notesMaster1.xml" Id="R717c0886ed95474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458c8c7ffee43c0" /><Relationship Type="http://schemas.openxmlformats.org/officeDocument/2006/relationships/notesMaster" Target="/ppt/notesMasters/notesMaster1.xml" Id="R3bd4b681031c4f89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250c227b49ef45a9" /><Relationship Type="http://schemas.openxmlformats.org/officeDocument/2006/relationships/notesMaster" Target="/ppt/notesMasters/notesMaster1.xml" Id="R8aafa7d9539f4799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2b6f57efc7b1486a" /><Relationship Type="http://schemas.openxmlformats.org/officeDocument/2006/relationships/notesMaster" Target="/ppt/notesMasters/notesMaster1.xml" Id="Rc493f86b2d694414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af3f921bbd2947d2" /><Relationship Type="http://schemas.openxmlformats.org/officeDocument/2006/relationships/notesMaster" Target="/ppt/notesMasters/notesMaster1.xml" Id="R0adda447480c4880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ee336cd2b3914b0b" /><Relationship Type="http://schemas.openxmlformats.org/officeDocument/2006/relationships/notesMaster" Target="/ppt/notesMasters/notesMaster1.xml" Id="Rd7c041d804184733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05f50a8987d547bf" /><Relationship Type="http://schemas.openxmlformats.org/officeDocument/2006/relationships/notesMaster" Target="/ppt/notesMasters/notesMaster1.xml" Id="Rf715e686a8ec402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07b6749a44134153" /><Relationship Type="http://schemas.openxmlformats.org/officeDocument/2006/relationships/notesMaster" Target="/ppt/notesMasters/notesMaster1.xml" Id="R54b639185ac048aa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405c08975ed04533" /><Relationship Type="http://schemas.openxmlformats.org/officeDocument/2006/relationships/notesMaster" Target="/ppt/notesMasters/notesMaster1.xml" Id="Rdf5c7d573d5a49e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7fd0fa0ff3614f2b" /><Relationship Type="http://schemas.openxmlformats.org/officeDocument/2006/relationships/notesMaster" Target="/ppt/notesMasters/notesMaster1.xml" Id="R9efda37326694ec6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764a3a779acc40b3" /><Relationship Type="http://schemas.openxmlformats.org/officeDocument/2006/relationships/notesMaster" Target="/ppt/notesMasters/notesMaster1.xml" Id="R046ec816db034d2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5c1021a319f046aa" /><Relationship Type="http://schemas.openxmlformats.org/officeDocument/2006/relationships/notesMaster" Target="/ppt/notesMasters/notesMaster1.xml" Id="R869c993e00d7435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337077d21bf84365" /><Relationship Type="http://schemas.openxmlformats.org/officeDocument/2006/relationships/notesMaster" Target="/ppt/notesMasters/notesMaster1.xml" Id="Rfd3cf39835e94065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eb6f3429c5d1416b" /><Relationship Type="http://schemas.openxmlformats.org/officeDocument/2006/relationships/notesMaster" Target="/ppt/notesMasters/notesMaster1.xml" Id="R84abbea9db264b46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9aa4b7febf34c7a" /><Relationship Type="http://schemas.openxmlformats.org/officeDocument/2006/relationships/notesMaster" Target="/ppt/notesMasters/notesMaster1.xml" Id="R24614604d6944557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d9be7ed3f9804abd" /><Relationship Type="http://schemas.openxmlformats.org/officeDocument/2006/relationships/notesMaster" Target="/ppt/notesMasters/notesMaster1.xml" Id="Ra93962354df14773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8df132cb5a684337" /><Relationship Type="http://schemas.openxmlformats.org/officeDocument/2006/relationships/notesMaster" Target="/ppt/notesMasters/notesMaster1.xml" Id="Re618243cbd6b4e0b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a0cd3af99bf044ad" /><Relationship Type="http://schemas.openxmlformats.org/officeDocument/2006/relationships/notesMaster" Target="/ppt/notesMasters/notesMaster1.xml" Id="R0d4653ef8ac540b7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4d1bb49f4f3b447d" /><Relationship Type="http://schemas.openxmlformats.org/officeDocument/2006/relationships/notesMaster" Target="/ppt/notesMasters/notesMaster1.xml" Id="R14f4b22a6df14a3b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1e5c9cc340224480" /><Relationship Type="http://schemas.openxmlformats.org/officeDocument/2006/relationships/notesMaster" Target="/ppt/notesMasters/notesMaster1.xml" Id="R4e545a3ac3104849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43e6fcda92ba4f5c" /><Relationship Type="http://schemas.openxmlformats.org/officeDocument/2006/relationships/notesMaster" Target="/ppt/notesMasters/notesMaster1.xml" Id="R25e427e3763941a0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4399dce086ff44fa" /><Relationship Type="http://schemas.openxmlformats.org/officeDocument/2006/relationships/notesMaster" Target="/ppt/notesMasters/notesMaster1.xml" Id="Rbfd5e954949f4ec3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faa53a7676154bc8" /><Relationship Type="http://schemas.openxmlformats.org/officeDocument/2006/relationships/notesMaster" Target="/ppt/notesMasters/notesMaster1.xml" Id="Rd64e46b1e1464a7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4dc63c1620b04336" /><Relationship Type="http://schemas.openxmlformats.org/officeDocument/2006/relationships/notesMaster" Target="/ppt/notesMasters/notesMaster1.xml" Id="R8dcdbc972aeb45e3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87243f8da0174c9d" /><Relationship Type="http://schemas.openxmlformats.org/officeDocument/2006/relationships/notesMaster" Target="/ppt/notesMasters/notesMaster1.xml" Id="R1b50cf24416b4218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7d4d0bd23bf94ef9" /><Relationship Type="http://schemas.openxmlformats.org/officeDocument/2006/relationships/notesMaster" Target="/ppt/notesMasters/notesMaster1.xml" Id="R16308bbd77b541c2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d9dcd2ee976e4d9d" /><Relationship Type="http://schemas.openxmlformats.org/officeDocument/2006/relationships/notesMaster" Target="/ppt/notesMasters/notesMaster1.xml" Id="Ra6c8d39b9e934f9f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9aab8311a6e5440a" /><Relationship Type="http://schemas.openxmlformats.org/officeDocument/2006/relationships/notesMaster" Target="/ppt/notesMasters/notesMaster1.xml" Id="R51a7ed393b11493a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03c201c5825d4a05" /><Relationship Type="http://schemas.openxmlformats.org/officeDocument/2006/relationships/notesMaster" Target="/ppt/notesMasters/notesMaster1.xml" Id="Rf295582f3e56488e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473c86d9297b4092" /><Relationship Type="http://schemas.openxmlformats.org/officeDocument/2006/relationships/notesMaster" Target="/ppt/notesMasters/notesMaster1.xml" Id="R7b986859de07421d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18296f016467408d" /><Relationship Type="http://schemas.openxmlformats.org/officeDocument/2006/relationships/notesMaster" Target="/ppt/notesMasters/notesMaster1.xml" Id="R01ece2d2a29f4a21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6da8541936894f0c" /><Relationship Type="http://schemas.openxmlformats.org/officeDocument/2006/relationships/notesMaster" Target="/ppt/notesMasters/notesMaster1.xml" Id="Re398d0f18d73435a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dda006acdfe84642" /><Relationship Type="http://schemas.openxmlformats.org/officeDocument/2006/relationships/notesMaster" Target="/ppt/notesMasters/notesMaster1.xml" Id="R2bffe6e5d54a436d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d9bb3e1fd91b4b05" /><Relationship Type="http://schemas.openxmlformats.org/officeDocument/2006/relationships/notesMaster" Target="/ppt/notesMasters/notesMaster1.xml" Id="Rea161ddf18b84b02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8ed7ff58709c4ee8" /><Relationship Type="http://schemas.openxmlformats.org/officeDocument/2006/relationships/notesMaster" Target="/ppt/notesMasters/notesMaster1.xml" Id="R3764e2d64f5c452a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d3434267c0264a96" /><Relationship Type="http://schemas.openxmlformats.org/officeDocument/2006/relationships/notesMaster" Target="/ppt/notesMasters/notesMaster1.xml" Id="R6a85b47800dc48b7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12ec53a628224d53" /><Relationship Type="http://schemas.openxmlformats.org/officeDocument/2006/relationships/notesMaster" Target="/ppt/notesMasters/notesMaster1.xml" Id="Rbe0b4a2ead8a4d69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2f2f3ee4da054095" /><Relationship Type="http://schemas.openxmlformats.org/officeDocument/2006/relationships/notesMaster" Target="/ppt/notesMasters/notesMaster1.xml" Id="R8fefe773d71a4b4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fa0cd8abe4d8495a" /><Relationship Type="http://schemas.openxmlformats.org/officeDocument/2006/relationships/notesMaster" Target="/ppt/notesMasters/notesMaster1.xml" Id="Rbbf1eec2540542bb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68012d0891e946d2" /><Relationship Type="http://schemas.openxmlformats.org/officeDocument/2006/relationships/notesMaster" Target="/ppt/notesMasters/notesMaster1.xml" Id="R982e69b71d0b496b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4f7fdd61be144f4a" /><Relationship Type="http://schemas.openxmlformats.org/officeDocument/2006/relationships/notesMaster" Target="/ppt/notesMasters/notesMaster1.xml" Id="R03e9ad1017c14dac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7fe4b3ce4a3340fe" /><Relationship Type="http://schemas.openxmlformats.org/officeDocument/2006/relationships/notesMaster" Target="/ppt/notesMasters/notesMaster1.xml" Id="Rff9bea6498dd4b4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27f59ea1ac9147aa" /><Relationship Type="http://schemas.openxmlformats.org/officeDocument/2006/relationships/notesMaster" Target="/ppt/notesMasters/notesMaster1.xml" Id="R72ffa8f0e5db44f3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f5566bc5b6884021" /><Relationship Type="http://schemas.openxmlformats.org/officeDocument/2006/relationships/notesMaster" Target="/ppt/notesMasters/notesMaster1.xml" Id="Rc3c50cb0cf644a96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4dc41a786ece4312" /><Relationship Type="http://schemas.openxmlformats.org/officeDocument/2006/relationships/notesMaster" Target="/ppt/notesMasters/notesMaster1.xml" Id="R7f17418f0b3340b1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3b223a9a1a4a4b69" /><Relationship Type="http://schemas.openxmlformats.org/officeDocument/2006/relationships/notesMaster" Target="/ppt/notesMasters/notesMaster1.xml" Id="R5d960db236b34318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6009c9da78054196" /><Relationship Type="http://schemas.openxmlformats.org/officeDocument/2006/relationships/notesMaster" Target="/ppt/notesMasters/notesMaster1.xml" Id="Rb9a175e3520c4dbf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2b8da5758cbe4405" /><Relationship Type="http://schemas.openxmlformats.org/officeDocument/2006/relationships/notesMaster" Target="/ppt/notesMasters/notesMaster1.xml" Id="R7a6e10dd04d34980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38eb9ccbc2344466" /><Relationship Type="http://schemas.openxmlformats.org/officeDocument/2006/relationships/notesMaster" Target="/ppt/notesMasters/notesMaster1.xml" Id="Ree25d8a3a11a462d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fc45e765a6f949b5" /><Relationship Type="http://schemas.openxmlformats.org/officeDocument/2006/relationships/notesMaster" Target="/ppt/notesMasters/notesMaster1.xml" Id="Rf61f2564b1634acb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385b2574b53143a1" /><Relationship Type="http://schemas.openxmlformats.org/officeDocument/2006/relationships/notesMaster" Target="/ppt/notesMasters/notesMaster1.xml" Id="Rf791f4997b8f4850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2711633779884109" /><Relationship Type="http://schemas.openxmlformats.org/officeDocument/2006/relationships/notesMaster" Target="/ppt/notesMasters/notesMaster1.xml" Id="R59f9a5b599274d4d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0b506a768a4f49e1" /><Relationship Type="http://schemas.openxmlformats.org/officeDocument/2006/relationships/notesMaster" Target="/ppt/notesMasters/notesMaster1.xml" Id="R0a6095e0f67047eb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6debb2792787439a" /><Relationship Type="http://schemas.openxmlformats.org/officeDocument/2006/relationships/notesMaster" Target="/ppt/notesMasters/notesMaster1.xml" Id="Rf9dcb4709b9042af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dfdf0d290c5410d" /><Relationship Type="http://schemas.openxmlformats.org/officeDocument/2006/relationships/notesMaster" Target="/ppt/notesMasters/notesMaster1.xml" Id="R154bef8a95504771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52d71fcad8704404" /><Relationship Type="http://schemas.openxmlformats.org/officeDocument/2006/relationships/notesMaster" Target="/ppt/notesMasters/notesMaster1.xml" Id="Rf923fb1edc874189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172a1c954e8f4225" /><Relationship Type="http://schemas.openxmlformats.org/officeDocument/2006/relationships/notesMaster" Target="/ppt/notesMasters/notesMaster1.xml" Id="Rabb0227ac94e4af4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81e3b1dfb9e840ea" /><Relationship Type="http://schemas.openxmlformats.org/officeDocument/2006/relationships/notesMaster" Target="/ppt/notesMasters/notesMaster1.xml" Id="R3b8a94bc5f3c477e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affbf2adf0fe4d9b" /><Relationship Type="http://schemas.openxmlformats.org/officeDocument/2006/relationships/notesMaster" Target="/ppt/notesMasters/notesMaster1.xml" Id="Ra4e29ef19d7e49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establishing the standard: safety certification requires complete understanding, instructor permission, and hands-on qualification.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deck as a discussion tool, not a passive lecture. The answer slide is deliberately separate so students must reason before seeing the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Grade 10 section and name the level of supervision students are working toward.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Welcome to certification week</a:t>
            </a:r>
          </a:p>
          <a:p xmlns:a="http://schemas.openxmlformats.org/drawingml/2006/main">
            <a:r>
              <a:t>This week you earn your shop certification - proof that you know every rule and every tool you’re responsible for at your grade level, including everything from past years.</a:t>
            </a:r>
          </a:p>
          <a:p xmlns:a="http://schemas.openxmlformats.org/drawingml/2006/main">
            <a:r>
              <a:t>Plan on about 45 minutes of training a day : Days 1–4 are training modules, Day 5 is the certification quiz. The quiz needs 100% - and anything you miss sends you back to retrain that module. That’s not punishment; it’s how real shops qualify people.</a:t>
            </a:r>
          </a:p>
          <a:p xmlns:a="http://schemas.openxmlformats.org/drawingml/2006/main">
            <a:r>
              <a:t>Passing this lab is step one of the district’s safety program. Before you operate anything, your teacher still gives you hands-on demonstrations and a guided-practice sign-off on each piece of equipment - and nothing in this shop is ever operated without the instructor’s permission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Permission &amp; attention</a:t>
            </a:r>
          </a:p>
          <a:p xmlns:a="http://schemas.openxmlformats.org/drawingml/2006/main">
            <a:r>
              <a:t>The rule the district prints in capital letters: DO NOT OPERATE EQUIPMENT WITHOUT PERMISSION FROM THE INSTRUCTOR. Not before class, not during, not after - safety instruction and the instructor’s go-ahead come first, every time.</a:t>
            </a:r>
          </a:p>
          <a:p xmlns:a="http://schemas.openxmlformats.org/drawingml/2006/main">
            <a:r>
              <a:t>Keep your mind on the work. A moment of lost attention is how serious accidents happen.</a:t>
            </a:r>
          </a:p>
          <a:p xmlns:a="http://schemas.openxmlformats.org/drawingml/2006/main">
            <a:r>
              <a:t>No earbuds or headphones in the work environment - they mask warnings, callouts, and the sound of a machine going wrong. (Production intercom during shows is the one exception, used with discipline.)</a:t>
            </a:r>
          </a:p>
          <a:p xmlns:a="http://schemas.openxmlformats.org/drawingml/2006/main">
            <a:r>
              <a:t>When in doubt, ask the instructor - not the student next to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Dress for the shop</a:t>
            </a:r>
          </a:p>
          <a:p xmlns:a="http://schemas.openxmlformats.org/drawingml/2006/main">
            <a:r>
              <a:t>Shop safety starts before you touch a tool - with what you’re wearing:</a:t>
            </a:r>
          </a:p>
          <a:p xmlns:a="http://schemas.openxmlformats.org/drawingml/2006/main">
            <a:r>
              <a:t>Closed-toe shoes, every shop day. No sandals, no slides, no exceptions - dropped lumber doesn’t care how careful you were.</a:t>
            </a:r>
          </a:p>
          <a:p xmlns:a="http://schemas.openxmlformats.org/drawingml/2006/main">
            <a:r>
              <a:t>Long hair tied back. Hair near a spinning tool gets pulled in faster than you can react.</a:t>
            </a:r>
          </a:p>
          <a:p xmlns:a="http://schemas.openxmlformats.org/drawingml/2006/main">
            <a:r>
              <a:t>No dangling anything - jewelry, hoodie strings, loose sleeves, lanyards. If it hangs, it catches.</a:t>
            </a:r>
          </a:p>
          <a:p xmlns:a="http://schemas.openxmlformats.org/drawingml/2006/main">
            <a:r>
              <a:t>Sleeves rolled above the elbows , nothing loose at the wrists.</a:t>
            </a:r>
          </a:p>
          <a:p xmlns:a="http://schemas.openxmlformats.org/drawingml/2006/main">
            <a:r>
              <a:t>Gloves only where the task calls for them - rough lumber, hot fixtures, chemicals. Never around spinning blades or bits: a caught glove pulls the hand in with it.</a:t>
            </a:r>
          </a:p>
          <a:p xmlns:a="http://schemas.openxmlformats.org/drawingml/2006/main">
            <a:r>
              <a:t>No running, no horseplay. Ever. The shop is the one room where a joke shove can cost a finger.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Know your hazards</a:t>
            </a:r>
          </a:p>
          <a:p xmlns:a="http://schemas.openxmlformats.org/drawingml/2006/main">
            <a:r>
              <a:t>A theatre shop is full of things that can hurt you if you don’t see them coming: sharp tools and blades , things falling from above , dust in the air , loud noise , and cords, lumber, and clutter you can trip over .</a:t>
            </a:r>
          </a:p>
          <a:p xmlns:a="http://schemas.openxmlformats.org/drawingml/2006/main">
            <a:r>
              <a:t>Your first safety skill is simple: look around and name the hazards before you start any task. If you can’t name what could go wrong, you’re not ready to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Spot the hazards</a:t>
            </a:r>
          </a:p>
          <a:p xmlns:a="http://schemas.openxmlformats.org/drawingml/2006/main">
            <a:r>
              <a:t>Time to use that skill. Look around this shop and tap everything that’s a hazard - there are 5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Lifting &amp; carrying</a:t>
            </a:r>
          </a:p>
          <a:p xmlns:a="http://schemas.openxmlformats.org/drawingml/2006/main">
            <a:r>
              <a:t>More shop injuries come from carrying than from cutting:</a:t>
            </a:r>
          </a:p>
          <a:p xmlns:a="http://schemas.openxmlformats.org/drawingml/2006/main">
            <a:r>
              <a:t>Lift with your legs - squat, keep your back near-vertical, hug the load close, stand. Your back is not a crane.</a:t>
            </a:r>
          </a:p>
          <a:p xmlns:a="http://schemas.openxmlformats.org/drawingml/2006/main">
            <a:r>
              <a:t>Never lift more than you can handle easily - over about 25 pounds, get help.</a:t>
            </a:r>
          </a:p>
          <a:p xmlns:a="http://schemas.openxmlformats.org/drawingml/2006/main">
            <a:r>
              <a:t>Clear your path before you pick anything up - most carrying accidents are collisions with things left on the floor or hanging at head height.</a:t>
            </a:r>
          </a:p>
          <a:p xmlns:a="http://schemas.openxmlformats.org/drawingml/2006/main">
            <a:r>
              <a:t>Team-lift anything long or heavy , and lift on a call: “ready - lift on three.” Same for setting down.</a:t>
            </a:r>
          </a:p>
          <a:p xmlns:a="http://schemas.openxmlformats.org/drawingml/2006/main">
            <a:r>
              <a:t>Carrying long stock: watch both ends , keep the front end high, and call the corners (“coming around!”).</a:t>
            </a:r>
          </a:p>
          <a:p xmlns:a="http://schemas.openxmlformats.org/drawingml/2006/main">
            <a:r>
              <a:t>Gloves for rough lumber - splinters are the tax on bare hands.</a:t>
            </a:r>
          </a:p>
          <a:p xmlns:a="http://schemas.openxmlformats.org/drawingml/2006/main">
            <a:r>
              <a:t>Watch the pinch points when setting anything down: fingers out from under, always.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Emergencies &amp; injuries</a:t>
            </a:r>
          </a:p>
          <a:p xmlns:a="http://schemas.openxmlformats.org/drawingml/2006/main">
            <a:r>
              <a:t>Know these before you touch a single tool:</a:t>
            </a:r>
          </a:p>
          <a:p xmlns:a="http://schemas.openxmlformats.org/drawingml/2006/main">
            <a:r>
              <a:t>If anyone yells “STOP” or “HOLD” , all work stops instantly - no questions, hands off, tools down.</a:t>
            </a:r>
          </a:p>
          <a:p xmlns:a="http://schemas.openxmlformats.org/drawingml/2006/main">
            <a:r>
              <a:t>Every injury gets reported to the teacher immediately - no matter how slight - and an incident report is filed. A tiny cut in a dusty shop gets infected; a “small” incident often means a hazard that will hurt the next person worse.</a:t>
            </a:r>
          </a:p>
          <a:p xmlns:a="http://schemas.openxmlformats.org/drawingml/2006/main">
            <a:r>
              <a:t>Know where the first-aid kit lives.</a:t>
            </a:r>
          </a:p>
          <a:p xmlns:a="http://schemas.openxmlformats.org/drawingml/2006/main">
            <a:r>
              <a:t>Fire gets its own full module - alarms, exits, extinguisher classes, and how to report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PPE without reminders</a:t>
            </a:r>
          </a:p>
          <a:p xmlns:a="http://schemas.openxmlformats.org/drawingml/2006/main">
            <a:r>
              <a:t>You’ve been introduced to PPE - now the bar is higher: select and wear the correct PPE for the task without being reminded .</a:t>
            </a:r>
          </a:p>
          <a:p xmlns:a="http://schemas.openxmlformats.org/drawingml/2006/main">
            <a:r>
              <a:t>Safety glasses for cutting and drilling, hearing protection around loud tools, dust protection when sanding. Nobody should ever have to tell you. If you’re reaching for a tool, you’ve already reached for your PPE.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Pre-use check: good to go, or report it?</a:t>
            </a:r>
          </a:p>
          <a:p xmlns:a="http://schemas.openxmlformats.org/drawingml/2006/main">
            <a:r>
              <a:t>Before using any tool you do a pre-use safety check - and anything unsafe gets reported , even if it isn’t yours. Sort each finding: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Dust - the slow hazard</a:t>
            </a:r>
          </a:p>
          <a:p xmlns:a="http://schemas.openxmlformats.org/drawingml/2006/main">
            <a:r>
              <a:t>The hazard you can’t feel hurting you:</a:t>
            </a:r>
          </a:p>
          <a:p xmlns:a="http://schemas.openxmlformats.org/drawingml/2006/main">
            <a:r>
              <a:t>Fine wood dust harms lungs over years , not minutes - which is why nobody takes it seriously until it’s late. Take it seriously now.</a:t>
            </a:r>
          </a:p>
          <a:p xmlns:a="http://schemas.openxmlformats.org/drawingml/2006/main">
            <a:r>
              <a:t>Dust collection on whenever the sander or saws run.</a:t>
            </a:r>
          </a:p>
          <a:p xmlns:a="http://schemas.openxmlformats.org/drawingml/2006/main">
            <a:r>
              <a:t>Clean up dust by sweeping or vacuuming - never by blasting it airborne with the compressor.</a:t>
            </a:r>
          </a:p>
          <a:p xmlns:a="http://schemas.openxmlformats.org/drawingml/2006/main">
            <a:r>
              <a:t>The dust mask is for making dust and for cleaning it up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Chemicals, SDS &amp; the eyewash station</a:t>
            </a:r>
          </a:p>
          <a:p xmlns:a="http://schemas.openxmlformats.org/drawingml/2006/main">
            <a:r>
              <a:t>Paint, adhesives, solvents, and fog fluid are chemicals - and every chemical in the shop has a Safety Data Sheet (SDS) :</a:t>
            </a:r>
          </a:p>
          <a:p xmlns:a="http://schemas.openxmlformats.org/drawingml/2006/main">
            <a:r>
              <a:t>The SDS binder lists each product’s hazards, handling rules, and first aid. Know where it lives.</a:t>
            </a:r>
          </a:p>
          <a:p xmlns:a="http://schemas.openxmlformats.org/drawingml/2006/main">
            <a:r>
              <a:t>Chemicals stay in labeled, closed containers - never in mystery cups or water bottles.</a:t>
            </a:r>
          </a:p>
          <a:p xmlns:a="http://schemas.openxmlformats.org/drawingml/2006/main">
            <a:r>
              <a:t>Rubber gloves are the exception to the no-gloves rule: wear them for stains, resins, and bleaches (never around spinning machines).</a:t>
            </a:r>
          </a:p>
          <a:p xmlns:a="http://schemas.openxmlformats.org/drawingml/2006/main">
            <a:r>
              <a:t>Know where the eyewash station is before you need it - you won’t be able to look for it with chemicals in your eyes.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safe work - independently</a:t>
            </a:r>
          </a:p>
          <a:p xmlns:a="http://schemas.openxmlformats.org/drawingml/2006/main">
            <a:r>
              <a:t>At your level, safety isn’t something done to you - it’s something you model . You’re expected to work safely without supervision , hold all your tool safety qualifications , and anticipate hazards before they occur instead of reacting after.</a:t>
            </a:r>
          </a:p>
          <a:p xmlns:a="http://schemas.openxmlformats.org/drawingml/2006/main">
            <a:r>
              <a:t>Ask yourself before every task: what’s the most likely way this goes wrong, and what am I doing about it right 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 are the safety culture</a:t>
            </a:r>
          </a:p>
          <a:p xmlns:a="http://schemas.openxmlformats.org/drawingml/2006/main">
            <a:r>
              <a:t>Younger students learn shop safety mostly by watching you - and never let “we’re in a hurry” beat “we do it safely.”</a:t>
            </a:r>
          </a:p>
          <a:p xmlns:a="http://schemas.openxmlformats.org/drawingml/2006/main">
            <a:r>
              <a:t>A younger student picks up the impact driver without safety glasses on. The teacher is across the shop. What does the shop expect of you?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Time to use that skill. Look around this shop and tap everything that’s a hazard - there are 5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 cord run across the walkway: Trip hazard - cords get routed out of walking paths.</a:t>
            </a:r>
          </a:p>
          <a:p xmlns:a="http://schemas.openxmlformats.org/drawingml/2006/main">
            <a:r>
              <a:t>Hand saw left blade-up on the bench: Sharp edges get sheathed or racked, never left out.</a:t>
            </a:r>
          </a:p>
          <a:p xmlns:a="http://schemas.openxmlformats.org/drawingml/2006/main">
            <a:r>
              <a:t>Boxes stacked in front of the exit: Exits stay clear - always.</a:t>
            </a:r>
          </a:p>
          <a:p xmlns:a="http://schemas.openxmlformats.org/drawingml/2006/main">
            <a:r>
              <a:t>Open drink next to the work area: Spills around tools and electricity - drinks stay out of the shop.</a:t>
            </a:r>
          </a:p>
          <a:p xmlns:a="http://schemas.openxmlformats.org/drawingml/2006/main">
            <a:r>
              <a:t>Board with a nail sticking out: Pull or bend nails the moment you see them.</a:t>
            </a:r>
          </a:p>
          <a:p xmlns:a="http://schemas.openxmlformats.org/drawingml/2006/main">
            <a:r>
              <a:t>Safety glasses on the PPE shelf: that’s exactly where PPE belongs.</a:t>
            </a:r>
          </a:p>
          <a:p xmlns:a="http://schemas.openxmlformats.org/drawingml/2006/main">
            <a:r>
              <a:t>Fire extinguisher on its wall hook: visible and ready - just right.</a:t>
            </a:r>
          </a:p>
          <a:p xmlns:a="http://schemas.openxmlformats.org/drawingml/2006/main">
            <a:r>
              <a:t>Swept floor, broom racked: good housekeeping is what prevents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 cord run across the walkway: Trip hazard - cords get routed out of walking paths.</a:t>
            </a:r>
          </a:p>
          <a:p xmlns:a="http://schemas.openxmlformats.org/drawingml/2006/main">
            <a:r>
              <a:t>Hand saw left blade-up on the bench: Sharp edges get sheathed or racked, never left out.</a:t>
            </a:r>
          </a:p>
          <a:p xmlns:a="http://schemas.openxmlformats.org/drawingml/2006/main">
            <a:r>
              <a:t>Boxes stacked in front of the exit: Exits stay clear - always.</a:t>
            </a:r>
          </a:p>
          <a:p xmlns:a="http://schemas.openxmlformats.org/drawingml/2006/main">
            <a:r>
              <a:t>Open drink next to the work area: Spills around tools and electricity - drinks stay out of the shop.</a:t>
            </a:r>
          </a:p>
          <a:p xmlns:a="http://schemas.openxmlformats.org/drawingml/2006/main">
            <a:r>
              <a:t>Board with a nail sticking out: Pull or bend nails the moment you see them.</a:t>
            </a:r>
          </a:p>
          <a:p xmlns:a="http://schemas.openxmlformats.org/drawingml/2006/main">
            <a:r>
              <a:t>Safety glasses on the PPE shelf: that’s exactly where PPE belongs.</a:t>
            </a:r>
          </a:p>
          <a:p xmlns:a="http://schemas.openxmlformats.org/drawingml/2006/main">
            <a:r>
              <a:t>Fire extinguisher on its wall hook: visible and ready - just right.</a:t>
            </a:r>
          </a:p>
          <a:p xmlns:a="http://schemas.openxmlformats.org/drawingml/2006/main">
            <a:r>
              <a:t>Swept floor, broom racked: good housekeeping is what prevents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Before using any tool you do a pre-use safety check - and anything unsafe gets reported , even if it isn’t yours. Sort each finding: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 snaps back over the blade smoothly: That’s what a working guard looks like.</a:t>
            </a:r>
          </a:p>
          <a:p xmlns:a="http://schemas.openxmlformats.org/drawingml/2006/main">
            <a:r>
              <a:t>Cord jacket is cracked near the plug: Damaged cords come out of service before they bite someone.</a:t>
            </a:r>
          </a:p>
          <a:p xmlns:a="http://schemas.openxmlformats.org/drawingml/2006/main">
            <a:r>
              <a:t>Blade is burning the wood and cutting slowly: That’s a dull blade - and a dull blade is an unsafe blade.</a:t>
            </a:r>
          </a:p>
          <a:p xmlns:a="http://schemas.openxmlformats.org/drawingml/2006/main">
            <a:r>
              <a:t>Work area clear, stock supported on both sides: That’s a pre-use check passing.</a:t>
            </a:r>
          </a:p>
          <a:p xmlns:a="http://schemas.openxmlformats.org/drawingml/2006/main">
            <a:r>
              <a:t>Someone left a puddle of paint by the bench: Unsafe conditions get reported even when they aren’t yours.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 snaps back over the blade smoothly: That’s what a working guard looks like.</a:t>
            </a:r>
          </a:p>
          <a:p xmlns:a="http://schemas.openxmlformats.org/drawingml/2006/main">
            <a:r>
              <a:t>Cord jacket is cracked near the plug: Damaged cords come out of service before they bite someone.</a:t>
            </a:r>
          </a:p>
          <a:p xmlns:a="http://schemas.openxmlformats.org/drawingml/2006/main">
            <a:r>
              <a:t>Blade is burning the wood and cutting slowly: That’s a dull blade - and a dull blade is an unsafe blade.</a:t>
            </a:r>
          </a:p>
          <a:p xmlns:a="http://schemas.openxmlformats.org/drawingml/2006/main">
            <a:r>
              <a:t>Work area clear, stock supported on both sides: That’s a pre-use check passing.</a:t>
            </a:r>
          </a:p>
          <a:p xmlns:a="http://schemas.openxmlformats.org/drawingml/2006/main">
            <a:r>
              <a:t>Someone left a puddle of paint by the bench: Unsafe conditions get reported even when they aren’t yours.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Alarms, drills &amp; exits</a:t>
            </a:r>
          </a:p>
          <a:p xmlns:a="http://schemas.openxmlformats.org/drawingml/2006/main">
            <a:r>
              <a:t>Fire safety starts before there’s ever a fire:</a:t>
            </a:r>
          </a:p>
          <a:p xmlns:a="http://schemas.openxmlformats.org/drawingml/2006/main">
            <a:r>
              <a:t>Know the fire bell/alarm and the fire-drill procedure for the shop and the theatre.</a:t>
            </a:r>
          </a:p>
          <a:p xmlns:a="http://schemas.openxmlformats.org/drawingml/2006/main">
            <a:r>
              <a:t>Know every fire-exit location - and keep all exits and corridors clear at all times . In an evacuation, a blocked hallway costs lives, not minutes.</a:t>
            </a:r>
          </a:p>
          <a:p xmlns:a="http://schemas.openxmlformats.org/drawingml/2006/main">
            <a:r>
              <a:t>Know the types and locations of the fire extinguishers in your space - before you need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Reporting a fire</a:t>
            </a:r>
          </a:p>
          <a:p xmlns:a="http://schemas.openxmlformats.org/drawingml/2006/main">
            <a:r>
              <a:t>If you discover a fire:</a:t>
            </a:r>
          </a:p>
          <a:p xmlns:a="http://schemas.openxmlformats.org/drawingml/2006/main">
            <a:r>
              <a:t>Immediately notify the closest adult with the exact location and the nature of the fire (what’s burning).</a:t>
            </a:r>
          </a:p>
          <a:p xmlns:a="http://schemas.openxmlformats.org/drawingml/2006/main">
            <a:r>
              <a:t>Do NOT shout “Fire!” - panic in a crowded theatre is its own disaster; information moves faster than fear.</a:t>
            </a:r>
          </a:p>
          <a:p xmlns:a="http://schemas.openxmlformats.org/drawingml/2006/main">
            <a:r>
              <a:t>If someone’s clothing catches fire: smother the flames - get them down and roll them in a blanket if one is close.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Fire classes &amp; extinguishers</a:t>
            </a:r>
          </a:p>
          <a:p xmlns:a="http://schemas.openxmlformats.org/drawingml/2006/main">
            <a:r>
              <a:t>Extinguishers match the fire - the wrong one can make it worse:</a:t>
            </a:r>
          </a:p>
          <a:p xmlns:a="http://schemas.openxmlformats.org/drawingml/2006/main">
            <a:r>
              <a:t>Class A - wood, paper, cloth. Water or CO₂ works.</a:t>
            </a:r>
          </a:p>
          <a:p xmlns:a="http://schemas.openxmlformats.org/drawingml/2006/main">
            <a:r>
              <a:t>Class B - flammable liquids (paint thinner, solvents). Smother it : foam or CO₂. Water spreads it.</a:t>
            </a:r>
          </a:p>
          <a:p xmlns:a="http://schemas.openxmlformats.org/drawingml/2006/main">
            <a:r>
              <a:t>Class C - electrical equipment. Non-conducting only : CO₂ or dry powder. Never water - electricity travels up the stream to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Pick the extinguisher</a:t>
            </a:r>
          </a:p>
          <a:p xmlns:a="http://schemas.openxmlformats.org/drawingml/2006/main">
            <a:r>
              <a:t>Match the fire to the response: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 spot smoke</a:t>
            </a:r>
          </a:p>
          <a:p xmlns:a="http://schemas.openxmlformats.org/drawingml/2006/main">
            <a:r>
              <a:t>You smell smoke and find a small fire behind the scene shop. What do you do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Flammables, rags &amp; finishes</a:t>
            </a:r>
          </a:p>
          <a:p xmlns:a="http://schemas.openxmlformats.org/drawingml/2006/main">
            <a:r>
              <a:t>The scene shop makes its own fire hazards:</a:t>
            </a:r>
          </a:p>
          <a:p xmlns:a="http://schemas.openxmlformats.org/drawingml/2006/main">
            <a:r>
              <a:t>Rags soaked with finish, stain, or solvent go in a covered metal container - oily rags in a pile can self-ignite . That’s not a myth; it’s chemistry.</a:t>
            </a:r>
          </a:p>
          <a:p xmlns:a="http://schemas.openxmlformats.org/drawingml/2006/main">
            <a:r>
              <a:t>Use finishes and solvents only in well-ventilated areas, away from open flame and heat.</a:t>
            </a:r>
          </a:p>
          <a:p xmlns:a="http://schemas.openxmlformats.org/drawingml/2006/main">
            <a:r>
              <a:t>Keep flammable items away from lighting instruments - and instruments away from soft goods, paper, and scenery that could cook against a hot fixture.</a:t>
            </a:r>
          </a:p>
          <a:p xmlns:a="http://schemas.openxmlformats.org/drawingml/2006/main">
            <a:r>
              <a:t>Pyrotechnics, flame effects, and prop firearms are never student-operated - district approval and the fire marshal come first, every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Match the fire to the response: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Scrap lumber and paper burning in the bin: Class A - ordinary combustibles; water or CO₂.</a:t>
            </a:r>
          </a:p>
          <a:p xmlns:a="http://schemas.openxmlformats.org/drawingml/2006/main">
            <a:r>
              <a:t>A dimmer rack sparking and smoking: Class C electrical - non-conducting extinguisher, never water.</a:t>
            </a:r>
          </a:p>
          <a:p xmlns:a="http://schemas.openxmlformats.org/drawingml/2006/main">
            <a:r>
              <a:t>Spilled paint thinner catches fire: Class B flammable liquid - smother with foam or CO₂; water spreads it.</a:t>
            </a:r>
          </a:p>
          <a:p xmlns:a="http://schemas.openxmlformats.org/drawingml/2006/main">
            <a:r>
              <a:t>Muslin scraps smoldering in the paint corner: Class A - cloth burns like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Scrap lumber and paper burning in the bin: Class A - ordinary combustibles; water or CO₂.</a:t>
            </a:r>
          </a:p>
          <a:p xmlns:a="http://schemas.openxmlformats.org/drawingml/2006/main">
            <a:r>
              <a:t>A dimmer rack sparking and smoking: Class C electrical - non-conducting extinguisher, never water.</a:t>
            </a:r>
          </a:p>
          <a:p xmlns:a="http://schemas.openxmlformats.org/drawingml/2006/main">
            <a:r>
              <a:t>Spilled paint thinner catches fire: Class B flammable liquid - smother with foam or CO₂; water spreads it.</a:t>
            </a:r>
          </a:p>
          <a:p xmlns:a="http://schemas.openxmlformats.org/drawingml/2006/main">
            <a:r>
              <a:t>Muslin scraps smoldering in the paint corner: Class A - cloth burns like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 smell smoke and find a small fire behind the scene shop. What do you do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location and the nature of the fire, to the nearest adult, immediately - and never a panic shout.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location and the nature of the fire, to the nearest adult, immediately - and never a panic shout.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Grade 10 - Tech 3-4</a:t>
            </a:r>
          </a:p>
          <a:p xmlns:a="http://schemas.openxmlformats.org/drawingml/2006/main">
            <a:r>
              <a:t>All Grade 8-9 hand and power/pneumatic tools move to independent-use level (after qualification), and you add:</a:t>
            </a:r>
          </a:p>
          <a:p xmlns:a="http://schemas.openxmlformats.org/drawingml/2006/main">
            <a:r>
              <a:t>Stationary machines (safety orientation required) - table saw, palm router, band saw .</a:t>
            </a:r>
          </a:p>
          <a:p xmlns:a="http://schemas.openxmlformats.org/drawingml/2006/main">
            <a:r>
              <a:t>Rigging - Nicopress swaging tool &amp; wire-rope cutters.</a:t>
            </a:r>
          </a:p>
          <a:p xmlns:a="http://schemas.openxmlformats.org/drawingml/2006/main">
            <a:r>
              <a:t>Props - 3D printer, vacuum former, casting &amp; molding equipment.</a:t>
            </a:r>
          </a:p>
          <a:p xmlns:a="http://schemas.openxmlformats.org/drawingml/2006/main">
            <a:r>
              <a:t>Painting - snap line, lining sticks, stencils.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Qualified - or new this year?</a:t>
            </a:r>
          </a:p>
          <a:p xmlns:a="http://schemas.openxmlformats.org/drawingml/2006/main">
            <a:r>
              <a:t>Sort your tools: which do you qualify to use independently , and which are new and need a fresh safety orientation with direct supervision?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Sort your tools: which do you qualify to use independently , and which are new and need a fresh safety orientation with direct supervision?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Jigsaw: A Grade 8-9 tool - pass the independent-use qualification and it’s yours.</a:t>
            </a:r>
          </a:p>
          <a:p xmlns:a="http://schemas.openxmlformats.org/drawingml/2006/main">
            <a:r>
              <a:t>Impact driver: A Grade 8-9 tool - pass the independent-use qualification and it’s yours.</a:t>
            </a:r>
          </a:p>
          <a:p xmlns:a="http://schemas.openxmlformats.org/drawingml/2006/main">
            <a:r>
              <a:t>Framing nailer: A Grade 8-9 tool - pass the independent-use qualification and it’s yours.</a:t>
            </a:r>
          </a:p>
          <a:p xmlns:a="http://schemas.openxmlformats.org/drawingml/2006/main">
            <a:r>
              <a:t>Table saw: New this year - safety orientation, then direct supervision at first.</a:t>
            </a:r>
          </a:p>
          <a:p xmlns:a="http://schemas.openxmlformats.org/drawingml/2006/main">
            <a:r>
              <a:t>Palm router: New this year - safety orientation, then direct supervision at first.</a:t>
            </a:r>
          </a:p>
          <a:p xmlns:a="http://schemas.openxmlformats.org/drawingml/2006/main">
            <a:r>
              <a:t>Band saw: New this year - safety orientation, then direct supervision at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Jigsaw: A Grade 8-9 tool - pass the independent-use qualification and it’s yours.</a:t>
            </a:r>
          </a:p>
          <a:p xmlns:a="http://schemas.openxmlformats.org/drawingml/2006/main">
            <a:r>
              <a:t>Impact driver: A Grade 8-9 tool - pass the independent-use qualification and it’s yours.</a:t>
            </a:r>
          </a:p>
          <a:p xmlns:a="http://schemas.openxmlformats.org/drawingml/2006/main">
            <a:r>
              <a:t>Framing nailer: A Grade 8-9 tool - pass the independent-use qualification and it’s yours.</a:t>
            </a:r>
          </a:p>
          <a:p xmlns:a="http://schemas.openxmlformats.org/drawingml/2006/main">
            <a:r>
              <a:t>Table saw: New this year - safety orientation, then direct supervision at first.</a:t>
            </a:r>
          </a:p>
          <a:p xmlns:a="http://schemas.openxmlformats.org/drawingml/2006/main">
            <a:r>
              <a:t>Palm router: New this year - safety orientation, then direct supervision at first.</a:t>
            </a:r>
          </a:p>
          <a:p xmlns:a="http://schemas.openxmlformats.org/drawingml/2006/main">
            <a:r>
              <a:t>Band saw: New this year - safety orientation, then direct supervision at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Measuring &amp; layout tools</a:t>
            </a:r>
          </a:p>
          <a:p xmlns:a="http://schemas.openxmlformats.org/drawingml/2006/main">
            <a:r>
              <a:t>Even “safe” tools have rules:</a:t>
            </a:r>
          </a:p>
          <a:p xmlns:a="http://schemas.openxmlformats.org/drawingml/2006/main">
            <a:r>
              <a:t>Tape measure - control the blade on the way back in; a spring-loaded steel edge returning at full speed can cut. Watch the hook edge on long pulls.</a:t>
            </a:r>
          </a:p>
          <a:p xmlns:a="http://schemas.openxmlformats.org/drawingml/2006/main">
            <a:r>
              <a:t>Marking &amp; layout tools - carry pointed tools (awls, compasses, pencils) tip-down , and never walk with them in a pocket point-up.</a:t>
            </a:r>
          </a:p>
          <a:p xmlns:a="http://schemas.openxmlformats.org/drawingml/2006/main">
            <a:r>
              <a:t>Every tool goes back to its rack when you set it down - a bench you can’t see the surface of is a bench hiding a blade.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Utility knife</a:t>
            </a:r>
          </a:p>
          <a:p xmlns:a="http://schemas.openxmlformats.org/drawingml/2006/main">
            <a:r>
              <a:t>The tool you’ll use most, and the one that sends the most people to the first-aid kit:</a:t>
            </a:r>
          </a:p>
          <a:p xmlns:a="http://schemas.openxmlformats.org/drawingml/2006/main">
            <a:r>
              <a:t>• A sharp blade is safer than a dull one - it needs less force, so it slips less. Swap dull blades.</a:t>
            </a:r>
          </a:p>
          <a:p xmlns:a="http://schemas.openxmlformats.org/drawingml/2006/main">
            <a:r>
              <a:t>• Cut away from your body - and away from the hand bracing the work. Ask: “if this slips, where does the blade finish?”</a:t>
            </a:r>
          </a:p>
          <a:p xmlns:a="http://schemas.openxmlformats.org/drawingml/2006/main">
            <a:r>
              <a:t>• Cut on a mat or scrap , never on the bare table or your knee.</a:t>
            </a:r>
          </a:p>
          <a:p xmlns:a="http://schemas.openxmlformats.org/drawingml/2006/main">
            <a:r>
              <a:t>• Retract the blade the second you stop cutting. No exceptions.</a:t>
            </a:r>
          </a:p>
          <a:p xmlns:a="http://schemas.openxmlformats.org/drawingml/2006/main">
            <a:r>
              <a:t>• Pass it handle-first , blade retracted. Used snap-off blades go in the taped sharps container, never loose in the trash.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Hammer, screwdrivers &amp; hand saw</a:t>
            </a:r>
          </a:p>
          <a:p xmlns:a="http://schemas.openxmlformats.org/drawingml/2006/main">
            <a:r>
              <a:t>Hammer - check the head is tight before swinging; clear your swing arc (people and your other hand); start nails with a light tap, fingers gone before the real swing.</a:t>
            </a:r>
          </a:p>
          <a:p xmlns:a="http://schemas.openxmlformats.org/drawingml/2006/main">
            <a:r>
              <a:t>Screwdrivers - use the right size tip so it doesn’t cam out; never drive toward your palm or hold the work in your hand; a screwdriver is not a chisel or a pry bar - tips snap and hands slip.</a:t>
            </a:r>
          </a:p>
          <a:p xmlns:a="http://schemas.openxmlformats.org/drawingml/2006/main">
            <a:r>
              <a:t>Hand saw - start the kerf with short, light strokes; keep your free hand clear of the cut line; support the off-cut so it doesn’t tear free at the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Needles, pins &amp; hand sewing</a:t>
            </a:r>
          </a:p>
          <a:p xmlns:a="http://schemas.openxmlformats.org/drawingml/2006/main">
            <a:r>
              <a:t>Small tools, real rules:</a:t>
            </a:r>
          </a:p>
          <a:p xmlns:a="http://schemas.openxmlformats.org/drawingml/2006/main">
            <a:r>
              <a:t>Count your needles and pins out - and back in. A lost pin ends up in a costume, a couch, or a foot.</a:t>
            </a:r>
          </a:p>
          <a:p xmlns:a="http://schemas.openxmlformats.org/drawingml/2006/main">
            <a:r>
              <a:t>Pins live in a pincushion or magnetic tray - never in your lips, never in your clothes.</a:t>
            </a:r>
          </a:p>
          <a:p xmlns:a="http://schemas.openxmlformats.org/drawingml/2006/main">
            <a:r>
              <a:t>Broken needles and bent pins get taped and binned , not tossed loose.</a:t>
            </a:r>
          </a:p>
          <a:p xmlns:a="http://schemas.openxmlformats.org/drawingml/2006/main">
            <a:r>
              <a:t>Anything sharp gets passed handle-first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Scissors &amp; pattern tools</a:t>
            </a:r>
          </a:p>
          <a:p xmlns:a="http://schemas.openxmlformats.org/drawingml/2006/main">
            <a:r>
              <a:t>Fabric shears are seriously sharp - that’s the point.</a:t>
            </a:r>
          </a:p>
          <a:p xmlns:a="http://schemas.openxmlformats.org/drawingml/2006/main">
            <a:r>
              <a:t>• Carry them closed, point-down . Never run - it’s a cliché because it’s true.</a:t>
            </a:r>
          </a:p>
          <a:p xmlns:a="http://schemas.openxmlformats.org/drawingml/2006/main">
            <a:r>
              <a:t>• Pass them handle-first .</a:t>
            </a:r>
          </a:p>
          <a:p xmlns:a="http://schemas.openxmlformats.org/drawingml/2006/main">
            <a:r>
              <a:t>• Cut on the table , fabric flat, free hand behind the blades - not in the air toward yourself.</a:t>
            </a:r>
          </a:p>
          <a:p xmlns:a="http://schemas.openxmlformats.org/drawingml/2006/main">
            <a:r>
              <a:t>• Fabric shears cut fabric only : paper and cardboard dull them into tools that slip.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Papier-mâché &amp; armatures</a:t>
            </a:r>
          </a:p>
          <a:p xmlns:a="http://schemas.openxmlformats.org/drawingml/2006/main">
            <a:r>
              <a:t>Props building has its own sharp ends:</a:t>
            </a:r>
          </a:p>
          <a:p xmlns:a="http://schemas.openxmlformats.org/drawingml/2006/main">
            <a:r>
              <a:t>Cut armature wire with wire cutters, never scissors - scissors get ruined, and ruined tools slip.</a:t>
            </a:r>
          </a:p>
          <a:p xmlns:a="http://schemas.openxmlformats.org/drawingml/2006/main">
            <a:r>
              <a:t>Every cut wire end gets bent back or taped immediately. Armature wires stick out at exactly eye height on a crowded work table.</a:t>
            </a:r>
          </a:p>
          <a:p xmlns:a="http://schemas.openxmlformats.org/drawingml/2006/main">
            <a:r>
              <a:t>Paste makes floors slick - wipe drips when they happen, not at cleanup.</a:t>
            </a:r>
          </a:p>
          <a:p xmlns:a="http://schemas.openxmlformats.org/drawingml/2006/main">
            <a:r>
              <a:t>Cover cuts on your hands before pasting, and wash up after - paste and sealers aren’t hand lotion.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ends</a:t>
            </a:r>
          </a:p>
          <a:p xmlns:a="http://schemas.openxmlformats.org/drawingml/2006/main">
            <a:r>
              <a:t>You just clipped an armature wire and the cut end sticks out at face height over the work table. What happens right 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Sewing machine</a:t>
            </a:r>
          </a:p>
          <a:p xmlns:a="http://schemas.openxmlformats.org/drawingml/2006/main">
            <a:r>
              <a:t>The machine drives a needle up and down faster than you can react - respect the zone around it:</a:t>
            </a:r>
          </a:p>
          <a:p xmlns:a="http://schemas.openxmlformats.org/drawingml/2006/main">
            <a:r>
              <a:t>• Fingers stay a needle-width away - guide fabric from the sides, never push it from directly in front of the needle.</a:t>
            </a:r>
          </a:p>
          <a:p xmlns:a="http://schemas.openxmlformats.org/drawingml/2006/main">
            <a:r>
              <a:t>• No loose sleeves, jewelry, or hair near the needle and handwheel.</a:t>
            </a:r>
          </a:p>
          <a:p xmlns:a="http://schemas.openxmlformats.org/drawingml/2006/main">
            <a:r>
              <a:t>• Control speed with the pedal - start slow ; speed is earned, not assumed.</a:t>
            </a:r>
          </a:p>
          <a:p xmlns:a="http://schemas.openxmlformats.org/drawingml/2006/main">
            <a:r>
              <a:t>• Power off (or unplug) before changing the needle or working close to it.</a:t>
            </a:r>
          </a:p>
          <a:p xmlns:a="http://schemas.openxmlformats.org/drawingml/2006/main">
            <a:r>
              <a:t>• Let the machine stop completely before reaching in to pull threads or fabric.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Sewing machine check</a:t>
            </a:r>
          </a:p>
          <a:p xmlns:a="http://schemas.openxmlformats.org/drawingml/2006/main">
            <a:r>
              <a:t>The needle on your machine is bent and needs changing. First move?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Hot-wire foam knife</a:t>
            </a:r>
          </a:p>
          <a:p xmlns:a="http://schemas.openxmlformats.org/drawingml/2006/main">
            <a:r>
              <a:t>It doesn’t look dangerous - it’s a wire. But it cuts by heat :</a:t>
            </a:r>
          </a:p>
          <a:p xmlns:a="http://schemas.openxmlformats.org/drawingml/2006/main">
            <a:r>
              <a:t>The wire burns skin instantly and stays hot after you switch it off - it rests on its stand until cool.</a:t>
            </a:r>
          </a:p>
          <a:p xmlns:a="http://schemas.openxmlformats.org/drawingml/2006/main">
            <a:r>
              <a:t>Only cut approved foam (polystyrene). Unknown foams and polyurethane can release toxic fumes when hot. If you don’t know what the foam is, you don’t cut it.</a:t>
            </a:r>
          </a:p>
          <a:p xmlns:a="http://schemas.openxmlformats.org/drawingml/2006/main">
            <a:r>
              <a:t>Cut with ventilation on , away from anything flammable.</a:t>
            </a:r>
          </a:p>
          <a:p xmlns:a="http://schemas.openxmlformats.org/drawingml/2006/main">
            <a:r>
              <a:t>A burn gets cool water and gets reported - like every injury.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Hot-wire check</a:t>
            </a:r>
          </a:p>
          <a:p xmlns:a="http://schemas.openxmlformats.org/drawingml/2006/main">
            <a:r>
              <a:t>A scrap of foam with no label shows up in the bin, and it would be perfect for your prop. Hot-wire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 just clipped an armature wire and the cut end sticks out at face height over the work table. What happens right 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ends at eye height don’t wait for cleanup time - they get bent back or capped the moment they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ends at eye height don’t wait for cleanup time - they get bent back or capped the moment they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The needle on your machine is bent and needs changing. First move?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pedal bump with your fingers at the needle is exactly how sewing-machine injuries happen - kill the power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pedal bump with your fingers at the needle is exactly how sewing-machine injuries happen - kill the power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Rules that never change</a:t>
            </a:r>
          </a:p>
          <a:p xmlns:a="http://schemas.openxmlformats.org/drawingml/2006/main">
            <a:r>
              <a:t>For every power and pneumatic tool, at every grade level:</a:t>
            </a:r>
          </a:p>
          <a:p xmlns:a="http://schemas.openxmlformats.org/drawingml/2006/main">
            <a:r>
              <a:t>• Guards stay on and working. A tool with a faulty guard doesn’t get used - it gets reported.</a:t>
            </a:r>
          </a:p>
          <a:p xmlns:a="http://schemas.openxmlformats.org/drawingml/2006/main">
            <a:r>
              <a:t>• PPE first - safety glasses always; hearing and dust protection as the task demands.</a:t>
            </a:r>
          </a:p>
          <a:p xmlns:a="http://schemas.openxmlformats.org/drawingml/2006/main">
            <a:r>
              <a:t>• Correct body position - balanced stance, hands clear of the cut line, never reaching across a blade.</a:t>
            </a:r>
          </a:p>
          <a:p xmlns:a="http://schemas.openxmlformats.org/drawingml/2006/main">
            <a:r>
              <a:t>• Disconnect power or air before adjusting - blade changes, depth settings, or clearing jams happen only on a dead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Your path: orientation → supervision → independence</a:t>
            </a:r>
          </a:p>
          <a:p xmlns:a="http://schemas.openxmlformats.org/drawingml/2006/main">
            <a:r>
              <a:t>Qualification is a ladder, and every tool has its own rung:</a:t>
            </a:r>
          </a:p>
          <a:p xmlns:a="http://schemas.openxmlformats.org/drawingml/2006/main">
            <a:r>
              <a:t>1⃣ Safety orientation (Grade 8) - you pass an orientation for each tool, then perform fundamental operations under direct supervision : straight cuts, crosscuts, driving fasteners, sanding flat stock.</a:t>
            </a:r>
          </a:p>
          <a:p xmlns:a="http://schemas.openxmlformats.org/drawingml/2006/main">
            <a:r>
              <a:t>2⃣ General supervision (Grade 9) - you set up and operate each tool with the teacher in the shop, not at your elbow, producing accurate cuts and secure assemblies.</a:t>
            </a:r>
          </a:p>
          <a:p xmlns:a="http://schemas.openxmlformats.org/drawingml/2006/main">
            <a:r>
              <a:t>3⃣ Independent qualification (Grade 10+) - you pass an independent-use qualification per tool, handle routine adjustments yourself, and help train peers.</a:t>
            </a:r>
          </a:p>
          <a:p xmlns:a="http://schemas.openxmlformats.org/drawingml/2006/main">
            <a:r>
              <a:t>Grade level alone never qualifies you - passing the orientation or qualification for that specific tool does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and report</a:t>
            </a:r>
          </a:p>
          <a:p xmlns:a="http://schemas.openxmlformats.org/drawingml/2006/main">
            <a:r>
              <a:t>From Grade 9 on, noticing problems is part of your qualification :</a:t>
            </a:r>
          </a:p>
          <a:p xmlns:a="http://schemas.openxmlformats.org/drawingml/2006/main">
            <a:r>
              <a:t>• A blade that burns the wood or cuts slowly is dull - stop and report it.</a:t>
            </a:r>
          </a:p>
          <a:p xmlns:a="http://schemas.openxmlformats.org/drawingml/2006/main">
            <a:r>
              <a:t>• A pneumatic tool that sputters or double-fires may have low or wrong air pressure - stop and report it.</a:t>
            </a:r>
          </a:p>
          <a:p xmlns:a="http://schemas.openxmlformats.org/drawingml/2006/main">
            <a:r>
              <a:t>• Anything loose, cracked, wobbling, or smelling hot - stop and report it .</a:t>
            </a:r>
          </a:p>
          <a:p xmlns:a="http://schemas.openxmlformats.org/drawingml/2006/main">
            <a:r>
              <a:t>You are not “bothering the teacher.” You are doing the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Cords, hoses &amp; your workspace</a:t>
            </a:r>
          </a:p>
          <a:p xmlns:a="http://schemas.openxmlformats.org/drawingml/2006/main">
            <a:r>
              <a:t>The cable end of tool safety:</a:t>
            </a:r>
          </a:p>
          <a:p xmlns:a="http://schemas.openxmlformats.org/drawingml/2006/main">
            <a:r>
              <a:t>The cord or hose stays behind the tool, never in the cut path - check before every cut, not after.</a:t>
            </a:r>
          </a:p>
          <a:p xmlns:a="http://schemas.openxmlformats.org/drawingml/2006/main">
            <a:r>
              <a:t>Never carry a tool by its cord , and unplug by gripping the plug , not yanking the cable.</a:t>
            </a:r>
          </a:p>
          <a:p xmlns:a="http://schemas.openxmlformats.org/drawingml/2006/main">
            <a:r>
              <a:t>Disconnecting an air hose: shut off the air and bleed the pressure first , and keep hold of the coupling - a charged hose whips.</a:t>
            </a:r>
          </a:p>
          <a:p xmlns:a="http://schemas.openxmlformats.org/drawingml/2006/main">
            <a:r>
              <a:t>Cords and hoses route along walls and out of walkways , same as the shop rule you already know.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Clamp it, support it</a:t>
            </a:r>
          </a:p>
          <a:p xmlns:a="http://schemas.openxmlformats.org/drawingml/2006/main">
            <a:r>
              <a:t>Most “tool accidents” are really workholding accidents :</a:t>
            </a:r>
          </a:p>
          <a:p xmlns:a="http://schemas.openxmlformats.org/drawingml/2006/main">
            <a:r>
              <a:t>A clamp beats your strongest grip - and it never flinches.</a:t>
            </a:r>
          </a:p>
          <a:p xmlns:a="http://schemas.openxmlformats.org/drawingml/2006/main">
            <a:r>
              <a:t>Long stock gets outfeed support - a sawhorse, a stand, or a partner on a callout.</a:t>
            </a:r>
          </a:p>
          <a:p xmlns:a="http://schemas.openxmlformats.org/drawingml/2006/main">
            <a:r>
              <a:t>The cut line hangs clear of the bench - cutting into the table pinches the blade and ruins both.</a:t>
            </a:r>
          </a:p>
          <a:p xmlns:a="http://schemas.openxmlformats.org/drawingml/2006/main">
            <a:r>
              <a:t>Never cut work resting on your knee or held in the air.</a:t>
            </a:r>
          </a:p>
          <a:p xmlns:a="http://schemas.openxmlformats.org/drawingml/2006/main">
            <a:r>
              <a:t>Know what’s under and behind the cut before you start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Pneumatic power: the air rules</a:t>
            </a:r>
          </a:p>
          <a:p xmlns:a="http://schemas.openxmlformats.org/drawingml/2006/main">
            <a:r>
              <a:t>The stapler and nailer run on compressed air, which adds rules of their own:</a:t>
            </a:r>
          </a:p>
          <a:p xmlns:a="http://schemas.openxmlformats.org/drawingml/2006/main">
            <a:r>
              <a:t>• Treat every air tool as loaded. Finger off the trigger until the nose is on the work.</a:t>
            </a:r>
          </a:p>
          <a:p xmlns:a="http://schemas.openxmlformats.org/drawingml/2006/main">
            <a:r>
              <a:t>• Never point one at anyone - including yourself. Ever. Even “empty.”</a:t>
            </a:r>
          </a:p>
          <a:p xmlns:a="http://schemas.openxmlformats.org/drawingml/2006/main">
            <a:r>
              <a:t>• Disconnect the air line before clearing a jam, adjusting, or handing it over.</a:t>
            </a:r>
          </a:p>
          <a:p xmlns:a="http://schemas.openxmlformats.org/drawingml/2006/main">
            <a:r>
              <a:t>• Use the tool’s correct air pressure - too high blows fasteners through the work; too low jams and double-fires.</a:t>
            </a:r>
          </a:p>
          <a:p xmlns:a="http://schemas.openxmlformats.org/drawingml/2006/main">
            <a:r>
              <a:t>• Hoses get routed out of walkways , like every 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Blade change - in order</a:t>
            </a:r>
          </a:p>
          <a:p xmlns:a="http://schemas.openxmlformats.org/drawingml/2006/main">
            <a:r>
              <a:t>You’re qualified for routine adjustments now. Put a safe blade change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You’re qualified for routine adjustments now. Put a safe blade change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Jigsaw</a:t>
            </a:r>
          </a:p>
          <a:p xmlns:a="http://schemas.openxmlformats.org/drawingml/2006/main">
            <a:r>
              <a:t>The curve-cutter. Its specifics:</a:t>
            </a:r>
          </a:p>
          <a:p xmlns:a="http://schemas.openxmlformats.org/drawingml/2006/main">
            <a:r>
              <a:t>• Clamp your stock - small pieces walk with the blade and take fingers along.</a:t>
            </a:r>
          </a:p>
          <a:p xmlns:a="http://schemas.openxmlformats.org/drawingml/2006/main">
            <a:r>
              <a:t>• Base plate flat on the work before you pull the trigger.</a:t>
            </a:r>
          </a:p>
          <a:p xmlns:a="http://schemas.openxmlformats.org/drawingml/2006/main">
            <a:r>
              <a:t>• Know what’s under the cut - the blade sticks out below the stock. Nothing under the line: not the bench edge, not the cord, not your hand.</a:t>
            </a:r>
          </a:p>
          <a:p xmlns:a="http://schemas.openxmlformats.org/drawingml/2006/main">
            <a:r>
              <a:t>• Let the blade stop before lifting the saw out of the cut.</a:t>
            </a:r>
          </a:p>
          <a:p xmlns:a="http://schemas.openxmlformats.org/drawingml/2006/main">
            <a:r>
              <a:t>• Forcing the cut bends and snaps blades - let the blade do the work . Unplug to change blades.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Jigsaw - blades, curves &amp; cutouts</a:t>
            </a:r>
          </a:p>
          <a:p xmlns:a="http://schemas.openxmlformats.org/drawingml/2006/main">
            <a:r>
              <a:t>Getting the cut you want, safely:</a:t>
            </a:r>
          </a:p>
          <a:p xmlns:a="http://schemas.openxmlformats.org/drawingml/2006/main">
            <a:r>
              <a:t>Match the blade to the material - wood, metal, and scroll blades are different animals; the wrong one burns, wanders, and snaps.</a:t>
            </a:r>
          </a:p>
          <a:p xmlns:a="http://schemas.openxmlformats.org/drawingml/2006/main">
            <a:r>
              <a:t>Tight curves want narrow blades - and really tight curves want relief cuts first, so the blade never binds.</a:t>
            </a:r>
          </a:p>
          <a:p xmlns:a="http://schemas.openxmlformats.org/drawingml/2006/main">
            <a:r>
              <a:t>Interior cutouts start from a drilled starter hole , never from tipping the saw into the surface.</a:t>
            </a:r>
          </a:p>
          <a:p xmlns:a="http://schemas.openxmlformats.org/drawingml/2006/main">
            <a:r>
              <a:t>A blade that starts wandering off your line is worn out - swap it (unplugged) instead of steering harder.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Compound miter saw</a:t>
            </a:r>
          </a:p>
          <a:p xmlns:a="http://schemas.openxmlformats.org/drawingml/2006/main">
            <a:r>
              <a:t>The crosscut machine. Its specifics:</a:t>
            </a:r>
          </a:p>
          <a:p xmlns:a="http://schemas.openxmlformats.org/drawingml/2006/main">
            <a:r>
              <a:t>• Stock tight against the fence - always. A gap lets the blade grab and slam the stock.</a:t>
            </a:r>
          </a:p>
          <a:p xmlns:a="http://schemas.openxmlformats.org/drawingml/2006/main">
            <a:r>
              <a:t>• Hands outside the no-hand zone (at least 6 inches from the blade path). Never cross your arms - left hand holding the right side of the blade is how people meet the blade.</a:t>
            </a:r>
          </a:p>
          <a:p xmlns:a="http://schemas.openxmlformats.org/drawingml/2006/main">
            <a:r>
              <a:t>• Full speed before the cut - let it spin up, then bring it down smoothly.</a:t>
            </a:r>
          </a:p>
          <a:p xmlns:a="http://schemas.openxmlformats.org/drawingml/2006/main">
            <a:r>
              <a:t>• After the cut, keep the blade down until it stops - a spinning blade coming up can grab the off-cut and throw it.</a:t>
            </a:r>
          </a:p>
          <a:p xmlns:a="http://schemas.openxmlformats.org/drawingml/2006/main">
            <a:r>
              <a:t>• Support long stock on both ends; never balance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Miter saw - angles &amp; short stock</a:t>
            </a:r>
          </a:p>
          <a:p xmlns:a="http://schemas.openxmlformats.org/drawingml/2006/main">
            <a:r>
              <a:t>The setups that catch people:</a:t>
            </a:r>
          </a:p>
          <a:p xmlns:a="http://schemas.openxmlformats.org/drawingml/2006/main">
            <a:r>
              <a:t>Set and lock the angle , then test on scrap - an unlocked table creeps mid-cut.</a:t>
            </a:r>
          </a:p>
          <a:p xmlns:a="http://schemas.openxmlformats.org/drawingml/2006/main">
            <a:r>
              <a:t>Long stock gets a stand or a partner (on a callout) at the far end - a see-sawing board pinches the blade.</a:t>
            </a:r>
          </a:p>
          <a:p xmlns:a="http://schemas.openxmlformats.org/drawingml/2006/main">
            <a:r>
              <a:t>Anything too short to hold outside the no-hand zone gets clamped - or cut from a longer board so your hand never gets close.</a:t>
            </a:r>
          </a:p>
          <a:p xmlns:a="http://schemas.openxmlformats.org/drawingml/2006/main">
            <a:r>
              <a:t>If a cut would put your fingers inside the zone, that cut doesn’t happen that way. There is always another 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saw</a:t>
            </a:r>
          </a:p>
          <a:p xmlns:a="http://schemas.openxmlformats.org/drawingml/2006/main">
            <a:r>
              <a:t>The sheet-goods saw. Its specifics:</a:t>
            </a:r>
          </a:p>
          <a:p xmlns:a="http://schemas.openxmlformats.org/drawingml/2006/main">
            <a:r>
              <a:t>• Seat the sheet fully on the rollers/rails before cutting - a cocked sheet binds the blade.</a:t>
            </a:r>
          </a:p>
          <a:p xmlns:a="http://schemas.openxmlformats.org/drawingml/2006/main">
            <a:r>
              <a:t>• Both hands on the carriage handle. Never steady the sheet with a hand near the cut line.</a:t>
            </a:r>
          </a:p>
          <a:p xmlns:a="http://schemas.openxmlformats.org/drawingml/2006/main">
            <a:r>
              <a:t>• Let the carriage return home before touching anything.</a:t>
            </a:r>
          </a:p>
          <a:p xmlns:a="http://schemas.openxmlformats.org/drawingml/2006/main">
            <a:r>
              <a:t>• Mind the off-cut - full sheets are heavy, and freed panels pinch fingers and toes. Get help catching big pieces.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Spot what’s wrong: the cutting station</a:t>
            </a:r>
          </a:p>
          <a:p xmlns:a="http://schemas.openxmlformats.org/drawingml/2006/main">
            <a:r>
              <a:t>Walk the saw stations and tap the 4 problems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Walk the saw stations and tap the 4 problems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 block held by hand for a jigsaw cut: Clamp small pieces - they walk, and fingers follow.</a:t>
            </a:r>
          </a:p>
          <a:p xmlns:a="http://schemas.openxmlformats.org/drawingml/2006/main">
            <a:r>
              <a:t>Fingers inside the miter saw’s no-hand zone: Six inches minimum from the blade path, always.</a:t>
            </a:r>
          </a:p>
          <a:p xmlns:a="http://schemas.openxmlformats.org/drawingml/2006/main">
            <a:r>
              <a:t>Blade change with the saw still plugged in: Adjustments happen on dead tools only.</a:t>
            </a:r>
          </a:p>
          <a:p xmlns:a="http://schemas.openxmlformats.org/drawingml/2006/main">
            <a:r>
              <a:t>One hand steadying the sheet near the cut line: On the panel saw both hands stay on the carriage handle.</a:t>
            </a:r>
          </a:p>
          <a:p xmlns:a="http://schemas.openxmlformats.org/drawingml/2006/main">
            <a:r>
              <a:t>Stock clamped tight to the bench: exactly right - clamped stock can’t walk.</a:t>
            </a:r>
          </a:p>
          <a:p xmlns:a="http://schemas.openxmlformats.org/drawingml/2006/main">
            <a:r>
              <a:t>Everyone at the station in safety glasses: PPE without reminders - that’s the standard.</a:t>
            </a:r>
          </a:p>
          <a:p xmlns:a="http://schemas.openxmlformats.org/drawingml/2006/main">
            <a:r>
              <a:t>Off-cuts cleared between cuts: a clear station is a safe station.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 block held by hand for a jigsaw cut: Clamp small pieces - they walk, and fingers follow.</a:t>
            </a:r>
          </a:p>
          <a:p xmlns:a="http://schemas.openxmlformats.org/drawingml/2006/main">
            <a:r>
              <a:t>Fingers inside the miter saw’s no-hand zone: Six inches minimum from the blade path, always.</a:t>
            </a:r>
          </a:p>
          <a:p xmlns:a="http://schemas.openxmlformats.org/drawingml/2006/main">
            <a:r>
              <a:t>Blade change with the saw still plugged in: Adjustments happen on dead tools only.</a:t>
            </a:r>
          </a:p>
          <a:p xmlns:a="http://schemas.openxmlformats.org/drawingml/2006/main">
            <a:r>
              <a:t>One hand steadying the sheet near the cut line: On the panel saw both hands stay on the carriage handle.</a:t>
            </a:r>
          </a:p>
          <a:p xmlns:a="http://schemas.openxmlformats.org/drawingml/2006/main">
            <a:r>
              <a:t>Stock clamped tight to the bench: exactly right - clamped stock can’t walk.</a:t>
            </a:r>
          </a:p>
          <a:p xmlns:a="http://schemas.openxmlformats.org/drawingml/2006/main">
            <a:r>
              <a:t>Everyone at the station in safety glasses: PPE without reminders - that’s the standard.</a:t>
            </a:r>
          </a:p>
          <a:p xmlns:a="http://schemas.openxmlformats.org/drawingml/2006/main">
            <a:r>
              <a:t>Off-cuts cleared between cuts: a clear station is a safe station.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driver</a:t>
            </a:r>
          </a:p>
          <a:p xmlns:a="http://schemas.openxmlformats.org/drawingml/2006/main">
            <a:r>
              <a:t>Small tool, huge torque. Its specifics:</a:t>
            </a:r>
          </a:p>
          <a:p xmlns:a="http://schemas.openxmlformats.org/drawingml/2006/main">
            <a:r>
              <a:t>• Seat the bit fully in the screw head before pulling the trigger - a half-seated bit cams out and skates.</a:t>
            </a:r>
          </a:p>
          <a:p xmlns:a="http://schemas.openxmlformats.org/drawingml/2006/main">
            <a:r>
              <a:t>• Hand off the fastener line. When the bit slips, it goes exactly where your hand was going to be.</a:t>
            </a:r>
          </a:p>
          <a:p xmlns:a="http://schemas.openxmlformats.org/drawingml/2006/main">
            <a:r>
              <a:t>• Start slow to set the threads, then run it home.</a:t>
            </a:r>
          </a:p>
          <a:p xmlns:a="http://schemas.openxmlformats.org/drawingml/2006/main">
            <a:r>
              <a:t>• Brace small work - the driver will happily spin the workpiece instead of the screw.</a:t>
            </a:r>
          </a:p>
          <a:p xmlns:a="http://schemas.openxmlformats.org/drawingml/2006/main">
            <a:r>
              <a:t>• Eye protection: screw heads snap and bits shatter.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Bits &amp; torque</a:t>
            </a:r>
          </a:p>
          <a:p xmlns:a="http://schemas.openxmlformats.org/drawingml/2006/main">
            <a:r>
              <a:t>The details that separate clean driving from stripped screws:</a:t>
            </a:r>
          </a:p>
          <a:p xmlns:a="http://schemas.openxmlformats.org/drawingml/2006/main">
            <a:r>
              <a:t>Right bit, right size - a PH2 in a PH3 screw strips both. Check before you drive.</a:t>
            </a:r>
          </a:p>
          <a:p xmlns:a="http://schemas.openxmlformats.org/drawingml/2006/main">
            <a:r>
              <a:t>Worn bits get binned , not babied - a rounded bit cams out no matter how hard you push.</a:t>
            </a:r>
          </a:p>
          <a:p xmlns:a="http://schemas.openxmlformats.org/drawingml/2006/main">
            <a:r>
              <a:t>Impact drivers hammer - that rattle is the mechanism working, and it’s loud : hearing protection when the driving runs long.</a:t>
            </a:r>
          </a:p>
          <a:p xmlns:a="http://schemas.openxmlformats.org/drawingml/2006/main">
            <a:r>
              <a:t>Small screws snap under full impact - ease off as the head seats.</a:t>
            </a:r>
          </a:p>
          <a:p xmlns:a="http://schemas.openxmlformats.org/drawingml/2006/main">
            <a:r>
              <a:t>Pilot holes near edges stop the split before it 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Random orbital sander</a:t>
            </a:r>
          </a:p>
          <a:p xmlns:a="http://schemas.openxmlformats.org/drawingml/2006/main">
            <a:r>
              <a:t>The dust machine. Its specifics:</a:t>
            </a:r>
          </a:p>
          <a:p xmlns:a="http://schemas.openxmlformats.org/drawingml/2006/main">
            <a:r>
              <a:t>• Dust protection on, dust collection attached - fine dust is the hazard you can’t see hurting you.</a:t>
            </a:r>
          </a:p>
          <a:p xmlns:a="http://schemas.openxmlformats.org/drawingml/2006/main">
            <a:r>
              <a:t>• Don’t press. The tool’s weight is enough; leaning on it burns the paper, scorches the stock, and stalls the pad.</a:t>
            </a:r>
          </a:p>
          <a:p xmlns:a="http://schemas.openxmlformats.org/drawingml/2006/main">
            <a:r>
              <a:t>• Let the pad stop before you set it down - a live sander walks off the bench.</a:t>
            </a:r>
          </a:p>
          <a:p xmlns:a="http://schemas.openxmlformats.org/drawingml/2006/main">
            <a:r>
              <a:t>• Secure small pieces ; the sander is strong enough to launch them.</a:t>
            </a:r>
          </a:p>
          <a:p xmlns:a="http://schemas.openxmlformats.org/drawingml/2006/main">
            <a:r>
              <a:t>• Keep the cord behind the tool , never under the pad.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Grits &amp; technique</a:t>
            </a:r>
          </a:p>
          <a:p xmlns:a="http://schemas.openxmlformats.org/drawingml/2006/main">
            <a:r>
              <a:t>Sanding well is sanding safely - fighting the tool is what causes slips:</a:t>
            </a:r>
          </a:p>
          <a:p xmlns:a="http://schemas.openxmlformats.org/drawingml/2006/main">
            <a:r>
              <a:t>Work the grit ladder: 80 → 120 → 220 . Skipping grits means pressing harder for less result.</a:t>
            </a:r>
          </a:p>
          <a:p xmlns:a="http://schemas.openxmlformats.org/drawingml/2006/main">
            <a:r>
              <a:t>Keep the pad flat and moving - parking it in one spot digs a dish you’ll sand an hour to fix.</a:t>
            </a:r>
          </a:p>
          <a:p xmlns:a="http://schemas.openxmlformats.org/drawingml/2006/main">
            <a:r>
              <a:t>Edges round over in seconds - ease up when you get near them.</a:t>
            </a:r>
          </a:p>
          <a:p xmlns:a="http://schemas.openxmlformats.org/drawingml/2006/main">
            <a:r>
              <a:t>Let the paper do the work: if you’re pressing, the paper’s done - change it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Stapler &amp; framing nailer</a:t>
            </a:r>
          </a:p>
          <a:p xmlns:a="http://schemas.openxmlformats.org/drawingml/2006/main">
            <a:r>
              <a:t>You learned the air rules in Power Tool Basics - here are the gun-specific ones:</a:t>
            </a:r>
          </a:p>
          <a:p xmlns:a="http://schemas.openxmlformats.org/drawingml/2006/main">
            <a:r>
              <a:t>• The contact safety tip on the nose is what stops accidental fires. It is never held down, taped, or bypassed . Never.</a:t>
            </a:r>
          </a:p>
          <a:p xmlns:a="http://schemas.openxmlformats.org/drawingml/2006/main">
            <a:r>
              <a:t>• Sequential fire : nose on the work first, then the trigger.</a:t>
            </a:r>
          </a:p>
          <a:p xmlns:a="http://schemas.openxmlformats.org/drawingml/2006/main">
            <a:r>
              <a:t>• Hands at least a hand-span from the fire line. Staples and nails follow the grain and deflect off knots - they can exit the wood sideways .</a:t>
            </a:r>
          </a:p>
          <a:p xmlns:a="http://schemas.openxmlformats.org/drawingml/2006/main">
            <a:r>
              <a:t>• The framing nailer recoils - grip it, expect it.</a:t>
            </a:r>
          </a:p>
          <a:p xmlns:a="http://schemas.openxmlformats.org/drawingml/2006/main">
            <a:r>
              <a:t>• Carry with your finger off the trigger ; disconnect air to clear jams or hand it 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Table saw - setup</a:t>
            </a:r>
          </a:p>
          <a:p xmlns:a="http://schemas.openxmlformats.org/drawingml/2006/main">
            <a:r>
              <a:t>The most powerful - and least forgiving - machine in the shop. Each stationary machine requires its own safety orientation , then fundamental operations under direct supervision .</a:t>
            </a:r>
          </a:p>
          <a:p xmlns:a="http://schemas.openxmlformats.org/drawingml/2006/main">
            <a:r>
              <a:t>Setup non-negotiables:</a:t>
            </a:r>
          </a:p>
          <a:p xmlns:a="http://schemas.openxmlformats.org/drawingml/2006/main">
            <a:r>
              <a:t>• Blade height : teeth just clear the top of the stock - a tall blade exposes more steel for no benefit.</a:t>
            </a:r>
          </a:p>
          <a:p xmlns:a="http://schemas.openxmlformats.org/drawingml/2006/main">
            <a:r>
              <a:t>• Guard and riving knife in place.</a:t>
            </a:r>
          </a:p>
          <a:p xmlns:a="http://schemas.openxmlformats.org/drawingml/2006/main">
            <a:r>
              <a:t>• Rip fence for rips, miter gauge for crosscuts - never both together. Trapping stock between them binds the off-cut and fires it back at you.</a:t>
            </a:r>
          </a:p>
          <a:p xmlns:a="http://schemas.openxmlformats.org/drawingml/2006/main">
            <a:r>
              <a:t>• Push sticks and featherboards within reach before you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Kickback &amp; body position</a:t>
            </a:r>
          </a:p>
          <a:p xmlns:a="http://schemas.openxmlformats.org/drawingml/2006/main">
            <a:r>
              <a:t>The table saw’s biggest danger is kickback - the blade grabbing stock and throwing it back at operator speed.</a:t>
            </a:r>
          </a:p>
          <a:p xmlns:a="http://schemas.openxmlformats.org/drawingml/2006/main">
            <a:r>
              <a:t>Defend against it: stand to the side of the blade, never directly behind the stock ; keep stock tight against the rip fence ; never cut freehand; use a push stick the moment your hand would come near the blade; and let the blade stop completely before reaching for anything.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Table saw - beyond the basics</a:t>
            </a:r>
          </a:p>
          <a:p xmlns:a="http://schemas.openxmlformats.org/drawingml/2006/main">
            <a:r>
              <a:t>The operations Tech 3-4 adds - and their rules:</a:t>
            </a:r>
          </a:p>
          <a:p xmlns:a="http://schemas.openxmlformats.org/drawingml/2006/main">
            <a:r>
              <a:t>Never trust the fence scale - measure blade-to-fence with your tape for anything that matters.</a:t>
            </a:r>
          </a:p>
          <a:p xmlns:a="http://schemas.openxmlformats.org/drawingml/2006/main">
            <a:r>
              <a:t>Dado and rabbet cuts usually mean removing the guard or riving knife - that is a teacher check-in, every single time , and the guard goes back on the moment the operation ends.</a:t>
            </a:r>
          </a:p>
          <a:p xmlns:a="http://schemas.openxmlformats.org/drawingml/2006/main">
            <a:r>
              <a:t>Swapping to a dado stack is a qualified-only, disconnected-first operation.</a:t>
            </a:r>
          </a:p>
          <a:p xmlns:a="http://schemas.openxmlformats.org/drawingml/2006/main">
            <a:r>
              <a:t>Know your wood: twisted or wet stock kicks back - flag it instead of forcing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Spot what’s wrong at the table saw</a:t>
            </a:r>
          </a:p>
          <a:p xmlns:a="http://schemas.openxmlformats.org/drawingml/2006/main">
            <a:r>
              <a:t>A classmate is about to rip a board. Tap the 4 problems before they start the cut.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Rip cut on the table saw - in order</a:t>
            </a:r>
          </a:p>
          <a:p xmlns:a="http://schemas.openxmlformats.org/drawingml/2006/main">
            <a:r>
              <a:t>Put a safe rip cut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Band saw</a:t>
            </a:r>
          </a:p>
          <a:p xmlns:a="http://schemas.openxmlformats.org/drawingml/2006/main">
            <a:r>
              <a:t>The curve machine for thick stock. Its specifics:</a:t>
            </a:r>
          </a:p>
          <a:p xmlns:a="http://schemas.openxmlformats.org/drawingml/2006/main">
            <a:r>
              <a:t>• Upper blade guide about 1/4 inch above the stock - an exposed blade is a cutting hazard and snaps easier.</a:t>
            </a:r>
          </a:p>
          <a:p xmlns:a="http://schemas.openxmlformats.org/drawingml/2006/main">
            <a:r>
              <a:t>• Hands to the sides of the cut line, never in line with the blade - push from beside the line, not behind it.</a:t>
            </a:r>
          </a:p>
          <a:p xmlns:a="http://schemas.openxmlformats.org/drawingml/2006/main">
            <a:r>
              <a:t>• Plan tight curves with relief cuts so the blade doesn’t bind.</a:t>
            </a:r>
          </a:p>
          <a:p xmlns:a="http://schemas.openxmlformats.org/drawingml/2006/main">
            <a:r>
              <a:t>• Never back out of a long curve with the blade running - it pulls the blade off the wheels. Stop the saw first.</a:t>
            </a:r>
          </a:p>
          <a:p xmlns:a="http://schemas.openxmlformats.org/drawingml/2006/main">
            <a:r>
              <a:t>• Blade stopped completely before clearing scraps off the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Band saw - resaw &amp; drift</a:t>
            </a:r>
          </a:p>
          <a:p xmlns:a="http://schemas.openxmlformats.org/drawingml/2006/main">
            <a:r>
              <a:t>Resawing - cutting a board through its thickness into thinner boards - is a Tech 3-4 operation with its own setup:</a:t>
            </a:r>
          </a:p>
          <a:p xmlns:a="http://schemas.openxmlformats.org/drawingml/2006/main">
            <a:r>
              <a:t>A tall fence supports the board on edge; a featherboard keeps it there.</a:t>
            </a:r>
          </a:p>
          <a:p xmlns:a="http://schemas.openxmlformats.org/drawingml/2006/main">
            <a:r>
              <a:t>Slow, steady feed - resawing asks a lot of the blade; forcing it wanders and heats.</a:t>
            </a:r>
          </a:p>
          <a:p xmlns:a="http://schemas.openxmlformats.org/drawingml/2006/main">
            <a:r>
              <a:t>Drift is normal - band saw blades pull slightly off-line; steer with the stock, hands out of the blade’s line.</a:t>
            </a:r>
          </a:p>
          <a:p xmlns:a="http://schemas.openxmlformats.org/drawingml/2006/main">
            <a:r>
              <a:t>The thin offcut next to the blade gets pushed clear with a stick , never fingers.</a:t>
            </a:r>
          </a:p>
          <a:p xmlns:a="http://schemas.openxmlformats.org/drawingml/2006/main">
            <a:r>
              <a:t>Check blade tension and tracking before the first cut - a resaw finds every weakness a blade 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Palm router</a:t>
            </a:r>
          </a:p>
          <a:p xmlns:a="http://schemas.openxmlformats.org/drawingml/2006/main">
            <a:r>
              <a:t>Small base, spinning cutter, strong opinions. Its specifics:</a:t>
            </a:r>
          </a:p>
          <a:p xmlns:a="http://schemas.openxmlformats.org/drawingml/2006/main">
            <a:r>
              <a:t>• Bit tight and fully seated (but not bottomed-out) in the collet - unplugged while you do it.</a:t>
            </a:r>
          </a:p>
          <a:p xmlns:a="http://schemas.openxmlformats.org/drawingml/2006/main">
            <a:r>
              <a:t>• Feed against the bit’s rotation - the correct direction lets you control the cut; feeding with the rotation lets the router yank itself along.</a:t>
            </a:r>
          </a:p>
          <a:p xmlns:a="http://schemas.openxmlformats.org/drawingml/2006/main">
            <a:r>
              <a:t>• Full speed before contact , then steady motion - pausing burns, forcing chatters.</a:t>
            </a:r>
          </a:p>
          <a:p xmlns:a="http://schemas.openxmlformats.org/drawingml/2006/main">
            <a:r>
              <a:t>• Small pieces get clamped , never hand-held under a router.</a:t>
            </a:r>
          </a:p>
          <a:p xmlns:a="http://schemas.openxmlformats.org/drawingml/2006/main">
            <a:r>
              <a:t>• Bits stay hot after cutting - let them cool before touching.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Band saw curve</a:t>
            </a:r>
          </a:p>
          <a:p xmlns:a="http://schemas.openxmlformats.org/drawingml/2006/main">
            <a:r>
              <a:t>Halfway through a long curve on the band saw, the blade starts to bind. You…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A classmate is about to rip a board. Tap the 4 problems before they start the cut.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Blade guard removed, sitting on the bench: Guards stay on the machine, not next to it.</a:t>
            </a:r>
          </a:p>
          <a:p xmlns:a="http://schemas.openxmlformats.org/drawingml/2006/main">
            <a:r>
              <a:t>Hand pushing stock inches from the blade: That’s push-stick territory.</a:t>
            </a:r>
          </a:p>
          <a:p xmlns:a="http://schemas.openxmlformats.org/drawingml/2006/main">
            <a:r>
              <a:t>Cutting freehand - stock not against the fence: Freehand cuts on a table saw invite kickback.</a:t>
            </a:r>
          </a:p>
          <a:p xmlns:a="http://schemas.openxmlformats.org/drawingml/2006/main">
            <a:r>
              <a:t>Standing directly behind the stock: Kickback fires straight back - stand to the side.</a:t>
            </a:r>
          </a:p>
          <a:p xmlns:a="http://schemas.openxmlformats.org/drawingml/2006/main">
            <a:r>
              <a:t>Rip fence locked at the cut width: that’s exactly how straight rips are made.</a:t>
            </a:r>
          </a:p>
          <a:p xmlns:a="http://schemas.openxmlformats.org/drawingml/2006/main">
            <a:r>
              <a:t>Featherboard clamped to hold the stock: that’s good pressure toward the fence.</a:t>
            </a:r>
          </a:p>
          <a:p xmlns:a="http://schemas.openxmlformats.org/drawingml/2006/main">
            <a:r>
              <a:t>Operator wearing safety glasses: PPE is on - good.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Blade guard removed, sitting on the bench: Guards stay on the machine, not next to it.</a:t>
            </a:r>
          </a:p>
          <a:p xmlns:a="http://schemas.openxmlformats.org/drawingml/2006/main">
            <a:r>
              <a:t>Hand pushing stock inches from the blade: That’s push-stick territory.</a:t>
            </a:r>
          </a:p>
          <a:p xmlns:a="http://schemas.openxmlformats.org/drawingml/2006/main">
            <a:r>
              <a:t>Cutting freehand - stock not against the fence: Freehand cuts on a table saw invite kickback.</a:t>
            </a:r>
          </a:p>
          <a:p xmlns:a="http://schemas.openxmlformats.org/drawingml/2006/main">
            <a:r>
              <a:t>Standing directly behind the stock: Kickback fires straight back - stand to the side.</a:t>
            </a:r>
          </a:p>
          <a:p xmlns:a="http://schemas.openxmlformats.org/drawingml/2006/main">
            <a:r>
              <a:t>Rip fence locked at the cut width: that’s exactly how straight rips are made.</a:t>
            </a:r>
          </a:p>
          <a:p xmlns:a="http://schemas.openxmlformats.org/drawingml/2006/main">
            <a:r>
              <a:t>Featherboard clamped to hold the stock: that’s good pressure toward the fence.</a:t>
            </a:r>
          </a:p>
          <a:p xmlns:a="http://schemas.openxmlformats.org/drawingml/2006/main">
            <a:r>
              <a:t>Operator wearing safety glasses: PPE is on - good.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Put a safe rip cut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3D printer</a:t>
            </a:r>
          </a:p>
          <a:p xmlns:a="http://schemas.openxmlformats.org/drawingml/2006/main">
            <a:r>
              <a:t>Slow, quiet, and hot:</a:t>
            </a:r>
          </a:p>
          <a:p xmlns:a="http://schemas.openxmlformats.org/drawingml/2006/main">
            <a:r>
              <a:t>The nozzle runs at 200°C+ and the bed is hot too - hands out of the machine while it prints and right after .</a:t>
            </a:r>
          </a:p>
          <a:p xmlns:a="http://schemas.openxmlformats.org/drawingml/2006/main">
            <a:r>
              <a:t>Don’t reach into the moving gantry - pause the print first.</a:t>
            </a:r>
          </a:p>
          <a:p xmlns:a="http://schemas.openxmlformats.org/drawingml/2006/main">
            <a:r>
              <a:t>Print in the ventilated space - melting filament off-gasses.</a:t>
            </a:r>
          </a:p>
          <a:p xmlns:a="http://schemas.openxmlformats.org/drawingml/2006/main">
            <a:r>
              <a:t>Removing supports: eye protection - snipped support bits fly, and fresh edges are sharp.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Vacuum former</a:t>
            </a:r>
          </a:p>
          <a:p xmlns:a="http://schemas.openxmlformats.org/drawingml/2006/main">
            <a:r>
              <a:t>A heating element hot enough to sag plastic - treat it that way:</a:t>
            </a:r>
          </a:p>
          <a:p xmlns:a="http://schemas.openxmlformats.org/drawingml/2006/main">
            <a:r>
              <a:t>The heater and every fresh pull are burn-hot . Gloves, or wait.</a:t>
            </a:r>
          </a:p>
          <a:p xmlns:a="http://schemas.openxmlformats.org/drawingml/2006/main">
            <a:r>
              <a:t>Never touch a sagging sheet - hot plastic drapes onto skin and sticks . That’s a serious burn, instantly.</a:t>
            </a:r>
          </a:p>
          <a:p xmlns:a="http://schemas.openxmlformats.org/drawingml/2006/main">
            <a:r>
              <a:t>Loose hair, sleeves, and lanyards stay away from the heater.</a:t>
            </a:r>
          </a:p>
          <a:p xmlns:a="http://schemas.openxmlformats.org/drawingml/2006/main">
            <a:r>
              <a:t>Trimming pulls uses your utility-knife rules : sharp blade, cut away, mat underneath.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Casting, molding &amp; resin</a:t>
            </a:r>
          </a:p>
          <a:p xmlns:a="http://schemas.openxmlformats.org/drawingml/2006/main">
            <a:r>
              <a:t>The chemistry corner. Its specifics:</a:t>
            </a:r>
          </a:p>
          <a:p xmlns:a="http://schemas.openxmlformats.org/drawingml/2006/main">
            <a:r>
              <a:t>Gloves and ventilation, every time. Resins sensitize skin - each exposure makes the next reaction worse, and it’s permanent. “Just a little batch” counts.</a:t>
            </a:r>
          </a:p>
          <a:p xmlns:a="http://schemas.openxmlformats.org/drawingml/2006/main">
            <a:r>
              <a:t>Curing resin generates heat (exotherm) - large pours get genuinely hot; follow mix ratios and pour sizes.</a:t>
            </a:r>
          </a:p>
          <a:p xmlns:a="http://schemas.openxmlformats.org/drawingml/2006/main">
            <a:r>
              <a:t>Label and lid everything. Unlabeled chemicals are hazards twice: now and later.</a:t>
            </a:r>
          </a:p>
          <a:p xmlns:a="http://schemas.openxmlformats.org/drawingml/2006/main">
            <a:r>
              <a:t>Spills get cleaned immediately ; no food or drink anywhere near the casting bench.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Hot - or safe to touch?</a:t>
            </a:r>
          </a:p>
          <a:p xmlns:a="http://schemas.openxmlformats.org/drawingml/2006/main">
            <a:r>
              <a:t>Props equipment punishes the casual grab. Sort each one: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Resin check</a:t>
            </a:r>
          </a:p>
          <a:p xmlns:a="http://schemas.openxmlformats.org/drawingml/2006/main">
            <a:r>
              <a:t>You’re mixing a tiny batch of resin - thirty seconds of work. Gloves are across the room. Skip them?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Props equipment punishes the casual grab. Sort each one: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Printer nozzle right after a print finishes: 200°C+ and it looks exactly like a cold nozzle.</a:t>
            </a:r>
          </a:p>
          <a:p xmlns:a="http://schemas.openxmlformats.org/drawingml/2006/main">
            <a:r>
              <a:t>A vacuum-form pull fresh off the machine: Fresh pulls hold heat - gloves or wait.</a:t>
            </a:r>
          </a:p>
          <a:p xmlns:a="http://schemas.openxmlformats.org/drawingml/2006/main">
            <a:r>
              <a:t>A resin part that cured yesterday: Fully cured and cooled - fine.</a:t>
            </a:r>
          </a:p>
          <a:p xmlns:a="http://schemas.openxmlformats.org/drawingml/2006/main">
            <a:r>
              <a:t>Filament spools on the shelf: Just plastic until it meets the nozzle.</a:t>
            </a:r>
          </a:p>
          <a:p xmlns:a="http://schemas.openxmlformats.org/drawingml/2006/main">
            <a:r>
              <a:t>The vac former’s heating element: The hottest thing in the props 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Printer nozzle right after a print finishes: 200°C+ and it looks exactly like a cold nozzle.</a:t>
            </a:r>
          </a:p>
          <a:p xmlns:a="http://schemas.openxmlformats.org/drawingml/2006/main">
            <a:r>
              <a:t>A vacuum-form pull fresh off the machine: Fresh pulls hold heat - gloves or wait.</a:t>
            </a:r>
          </a:p>
          <a:p xmlns:a="http://schemas.openxmlformats.org/drawingml/2006/main">
            <a:r>
              <a:t>A resin part that cured yesterday: Fully cured and cooled - fine.</a:t>
            </a:r>
          </a:p>
          <a:p xmlns:a="http://schemas.openxmlformats.org/drawingml/2006/main">
            <a:r>
              <a:t>Filament spools on the shelf: Just plastic until it meets the nozzle.</a:t>
            </a:r>
          </a:p>
          <a:p xmlns:a="http://schemas.openxmlformats.org/drawingml/2006/main">
            <a:r>
              <a:t>The vac former’s heating element: The hottest thing in the props 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You’re mixing a tiny batch of resin - thirty seconds of work. Gloves are across the room. Skip them?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Sensitization is cumulative and permanent - the “quick batch” is exactly how it happens. Gloves every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Sensitization is cumulative and permanent - the “quick batch” is exactly how it happens. Gloves every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Ladders &amp; working at height</a:t>
            </a:r>
          </a:p>
          <a:p xmlns:a="http://schemas.openxmlformats.org/drawingml/2006/main">
            <a:r>
              <a:t>Know the ladder and working-at-height rules and be able to state them:</a:t>
            </a:r>
          </a:p>
          <a:p xmlns:a="http://schemas.openxmlformats.org/drawingml/2006/main">
            <a:r>
              <a:t>• A ladder is set on stable ground and steadied - never climbed alone in the shop.</a:t>
            </a:r>
          </a:p>
          <a:p xmlns:a="http://schemas.openxmlformats.org/drawingml/2006/main">
            <a:r>
              <a:t>• Keep three points of contact and never overreach; climb down and move the ladder instead.</a:t>
            </a:r>
          </a:p>
          <a:p xmlns:a="http://schemas.openxmlformats.org/drawingml/2006/main">
            <a:r>
              <a:t>• Nothing is carried up that can’t be carried safely; nothing gets dropped, ever.</a:t>
            </a:r>
          </a:p>
          <a:p xmlns:a="http://schemas.openxmlformats.org/drawingml/2006/main">
            <a:r>
              <a:t>Anyone working below wears the hazard in mind: if work is happening overhead, stay clear or call it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hardware: C-clamp, wrench &amp; safety cable</a:t>
            </a:r>
          </a:p>
          <a:p xmlns:a="http://schemas.openxmlformats.org/drawingml/2006/main">
            <a:r>
              <a:t>Your first lighting tools are hardware - and hardware has rules:</a:t>
            </a:r>
          </a:p>
          <a:p xmlns:a="http://schemas.openxmlformats.org/drawingml/2006/main">
            <a:r>
              <a:t>The wrench fits the bolt snugly - an adjustable wrench gets set tight; a loose fit rounds the bolt and skins knuckles.</a:t>
            </a:r>
          </a:p>
          <a:p xmlns:a="http://schemas.openxmlformats.org/drawingml/2006/main">
            <a:r>
              <a:t>Tighten the C-clamp snug, not gorilla-tight - over-torquing cracks clamps and pipes.</a:t>
            </a:r>
          </a:p>
          <a:p xmlns:a="http://schemas.openxmlformats.org/drawingml/2006/main">
            <a:r>
              <a:t>At height, the wrench is tethered or in a closed pocket - a dropped wrench from the grid is a missile with your name on the incident report.</a:t>
            </a:r>
          </a:p>
          <a:p xmlns:a="http://schemas.openxmlformats.org/drawingml/2006/main">
            <a:r>
              <a:t>The safety cable goes through the fixture’s yoke and around the pipe , clipped back on itself - so it catches the fixture even if the whole clamp lets 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Power, plugs &amp; equipment care</a:t>
            </a:r>
          </a:p>
          <a:p xmlns:a="http://schemas.openxmlformats.org/drawingml/2006/main">
            <a:r>
              <a:t>The rules for anything with a plug - consoles, playback, monitors, practicals:</a:t>
            </a:r>
          </a:p>
          <a:p xmlns:a="http://schemas.openxmlformats.org/drawingml/2006/main">
            <a:r>
              <a:t>Dry hands only on switches, plugs, and equipment - and never use electrical equipment near water or wet floors. Moisture conducts.</a:t>
            </a:r>
          </a:p>
          <a:p xmlns:a="http://schemas.openxmlformats.org/drawingml/2006/main">
            <a:r>
              <a:t>Before moving any equipment, disconnect and clear its cables. A dangling cord is a trip line and a broken connector.</a:t>
            </a:r>
          </a:p>
          <a:p xmlns:a="http://schemas.openxmlformats.org/drawingml/2006/main">
            <a:r>
              <a:t>Never defeat grounding - no forcing a three-prong plug into a two-prong outlet, ever. That third pin is what keeps a fault from going through you.</a:t>
            </a:r>
          </a:p>
          <a:p xmlns:a="http://schemas.openxmlformats.org/drawingml/2006/main">
            <a:r>
              <a:t>Connect gear only to the power type marked on it ; route cords where they can’t be walked on or pinched .</a:t>
            </a:r>
          </a:p>
          <a:p xmlns:a="http://schemas.openxmlformats.org/drawingml/2006/main">
            <a:r>
              <a:t>Give equipment ventilation - racks and amps cook when boxed in - and keep liquids and stray objects out of the openings.</a:t>
            </a:r>
          </a:p>
          <a:p xmlns:a="http://schemas.openxmlformats.org/drawingml/2006/main">
            <a:r>
              <a:t>Don’t service beyond the manual. Anything deeper goes to qualified personnel.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Gels, gobos &amp; hot fronts</a:t>
            </a:r>
          </a:p>
          <a:p xmlns:a="http://schemas.openxmlformats.org/drawingml/2006/main">
            <a:r>
              <a:t>Handling the pretty parts safely:</a:t>
            </a:r>
          </a:p>
          <a:p xmlns:a="http://schemas.openxmlformats.org/drawingml/2006/main">
            <a:r>
              <a:t>Gels ride in gel frames - a loose gel stuffed in a fixture melts, smokes, and stinks up a performance.</a:t>
            </a:r>
          </a:p>
          <a:p xmlns:a="http://schemas.openxmlformats.org/drawingml/2006/main">
            <a:r>
              <a:t>Gobos are thin sharp steel - handle by the rim, like a razor-edged coin.</a:t>
            </a:r>
          </a:p>
          <a:p xmlns:a="http://schemas.openxmlformats.org/drawingml/2006/main">
            <a:r>
              <a:t>Warn everyone before switching an instrument on - nobody should be staring into a light that doesn’t announce itself.</a:t>
            </a:r>
          </a:p>
          <a:p xmlns:a="http://schemas.openxmlformats.org/drawingml/2006/main">
            <a:r>
              <a:t>Assume any instrument is extremely hot - even switched off. The front end (barrel, gel frame, shutters) holds burn heat long after the cue.</a:t>
            </a:r>
          </a:p>
          <a:p xmlns:a="http://schemas.openxmlformats.org/drawingml/2006/main">
            <a:r>
              <a:t>Keep instruments and flammable items apart - soft goods, paper, and scenery cook against a hot fixture.</a:t>
            </a:r>
          </a:p>
          <a:p xmlns:a="http://schemas.openxmlformats.org/drawingml/2006/main">
            <a:r>
              <a:t>Ask before touching any hung fixture - you don’t know how long it’s been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Cable care &amp; over-under</a:t>
            </a:r>
          </a:p>
          <a:p xmlns:a="http://schemas.openxmlformats.org/drawingml/2006/main">
            <a:r>
              <a:t>Cable is equipment, not rope:</a:t>
            </a:r>
          </a:p>
          <a:p xmlns:a="http://schemas.openxmlformats.org/drawingml/2006/main">
            <a:r>
              <a:t>Coil over-under so it pays out flat without kinks - a kinked cable is a damaged cable waiting to happen.</a:t>
            </a:r>
          </a:p>
          <a:p xmlns:a="http://schemas.openxmlformats.org/drawingml/2006/main">
            <a:r>
              <a:t>Out of walkways , always - tape it down or reroute it.</a:t>
            </a:r>
          </a:p>
          <a:p xmlns:a="http://schemas.openxmlformats.org/drawingml/2006/main">
            <a:r>
              <a:t>Never yank a connector out by its cable - grip the connector itself.</a:t>
            </a:r>
          </a:p>
          <a:p xmlns:a="http://schemas.openxmlformats.org/drawingml/2006/main">
            <a:r>
              <a:t>Never pinch cable in doorways or run it over sharp edges .</a:t>
            </a:r>
          </a:p>
          <a:p xmlns:a="http://schemas.openxmlformats.org/drawingml/2006/main">
            <a:r>
              <a:t>Wet floors and cable don’t mix - dry first, then run power.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Hang a fixture - in order</a:t>
            </a:r>
          </a:p>
          <a:p xmlns:a="http://schemas.openxmlformats.org/drawingml/2006/main">
            <a:r>
              <a:t>Put the steps of hanging a fixture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Inspect before you use</a:t>
            </a:r>
          </a:p>
          <a:p xmlns:a="http://schemas.openxmlformats.org/drawingml/2006/main">
            <a:r>
              <a:t>You now work safely at height and around circuits with general supervision . That comes with a duty: inspect cables and fixtures before use - cracked connectors, frayed jacket, loose clamp, missing safety cable.</a:t>
            </a:r>
          </a:p>
          <a:p xmlns:a="http://schemas.openxmlformats.org/drawingml/2006/main">
            <a:r>
              <a:t>And when you find a fault, report it without prompting . A damaged cable that goes back in the bin unfixed is a trap for the next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Lock-out / tag-out</a:t>
            </a:r>
          </a:p>
          <a:p xmlns:a="http://schemas.openxmlformats.org/drawingml/2006/main">
            <a:r>
              <a:t>When equipment is unsafe, it comes out of service - visibly :</a:t>
            </a:r>
          </a:p>
          <a:p xmlns:a="http://schemas.openxmlformats.org/drawingml/2006/main">
            <a:r>
              <a:t>A tag (or lock) on a tool, cable, or machine means: dead until the instructor clears it . You don’t use it, you don’t “just test it,” and you never remove the tag.</a:t>
            </a:r>
          </a:p>
          <a:p xmlns:a="http://schemas.openxmlformats.org/drawingml/2006/main">
            <a:r>
              <a:t>That’s the student half of lock-out/tag-out - the industry system that keeps someone from powering up gear another person is working on.</a:t>
            </a:r>
          </a:p>
          <a:p xmlns:a="http://schemas.openxmlformats.org/drawingml/2006/main">
            <a:r>
              <a:t>The other half: your instructor inspects equipment weekly and documents it. Your pre-use inspection is the daily layer on top of that.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Hot focus</a:t>
            </a:r>
          </a:p>
          <a:p xmlns:a="http://schemas.openxmlformats.org/drawingml/2006/main">
            <a:r>
              <a:t>Refocusing fixtures that have been running is normal electrics work - done the right way:</a:t>
            </a:r>
          </a:p>
          <a:p xmlns:a="http://schemas.openxmlformats.org/drawingml/2006/main">
            <a:r>
              <a:t>Gloves for a hot fixture - or kill the channel and let it cool. A Source Four that’s been on all rehearsal blisters skin.</a:t>
            </a:r>
          </a:p>
          <a:p xmlns:a="http://schemas.openxmlformats.org/drawingml/2006/main">
            <a:r>
              <a:t>Loosen the right bolt - know your pan bolt from your tilt bolt so the unit moves where you expect instead of swinging free.</a:t>
            </a:r>
          </a:p>
          <a:p xmlns:a="http://schemas.openxmlformats.org/drawingml/2006/main">
            <a:r>
              <a:t>Wrench tethered or pocketed , same as every trip up the ladder.</a:t>
            </a:r>
          </a:p>
          <a:p xmlns:a="http://schemas.openxmlformats.org/drawingml/2006/main">
            <a:r>
              <a:t>Call your moves: “going into channel 12” - so the board op doesn’t light you up mid-grab.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 like a professional</a:t>
            </a:r>
          </a:p>
          <a:p xmlns:a="http://schemas.openxmlformats.org/drawingml/2006/main">
            <a:r>
              <a:t>At this level you work at height and around power independently and safely - and you model the practices for everyone else: safety cable on every fixture, inspect before use, tag out and report faults immediately, never work an energized problem.</a:t>
            </a:r>
          </a:p>
          <a:p xmlns:a="http://schemas.openxmlformats.org/drawingml/2006/main">
            <a:r>
              <a:t>In Design &amp; Management and Capstone work, you’re expected to bring these habits into any space you work in, without being told.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energized problem</a:t>
            </a:r>
          </a:p>
          <a:p xmlns:a="http://schemas.openxmlformats.org/drawingml/2006/main">
            <a:r>
              <a:t>Halfway up the ladder you realize the fixture you’re about to re-lamp is still powered. What’s the professional move?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Put the steps of hanging a fixture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rope &amp; terminations</a:t>
            </a:r>
          </a:p>
          <a:p xmlns:a="http://schemas.openxmlformats.org/drawingml/2006/main">
            <a:r>
              <a:t>Anything flown or suspended rides on wire rope - never tie line or hope. You build wire-rope terminations to standard : a thimble protecting the loop, a Nicopress sleeve swaged with the correct tool, and every crimp checked with the gauge.</a:t>
            </a:r>
          </a:p>
          <a:p xmlns:a="http://schemas.openxmlformats.org/drawingml/2006/main">
            <a:r>
              <a:t>A termination that isn’t built to standard and verified does not take load. Ever.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a termination - in order</a:t>
            </a:r>
          </a:p>
          <a:p xmlns:a="http://schemas.openxmlformats.org/drawingml/2006/main">
            <a:r>
              <a:t>Put the steps of a wire-rope termination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Load Limit (WLL)</a:t>
            </a:r>
          </a:p>
          <a:p xmlns:a="http://schemas.openxmlformats.org/drawingml/2006/main">
            <a:r>
              <a:t>Every piece of rigging hardware - wire rope, shackles, clips - is rated with a Working Load Limit (WLL) : the maximum load it may safely carry.</a:t>
            </a:r>
          </a:p>
          <a:p xmlns:a="http://schemas.openxmlformats.org/drawingml/2006/main">
            <a:r>
              <a:t>You rig scenic elements within the WLL of every component in the system - the rig is only as strong as its weakest piece. Add up the real weight, know your ratings, and when in doubt, size up and 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weakest link</a:t>
            </a:r>
          </a:p>
          <a:p xmlns:a="http://schemas.openxmlformats.org/drawingml/2006/main">
            <a:r>
              <a:t>Your rig uses wire rope rated 300 lb WLL, a shackle rated 250 lb , and a clip rated 100 lb . What is the most this system may carry?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Put the steps of a wire-rope termination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your hearing</a:t>
            </a:r>
          </a:p>
          <a:p xmlns:a="http://schemas.openxmlformats.org/drawingml/2006/main">
            <a:r>
              <a:t>Sound level is measured as SPL (sound pressure level). Loud sound damages the tiny hair cells in your inner ear - and that damage is cumulative and permanent . It never heals, it only adds up.</a:t>
            </a:r>
          </a:p>
          <a:p xmlns:a="http://schemas.openxmlformats.org/drawingml/2006/main">
            <a:r>
              <a:t>So: wear hearing protection around loud tools and loud playback, keep your distance from speakers at show level, and treat ringing ears as a warning you already went too far.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Ringing ears</a:t>
            </a:r>
          </a:p>
          <a:p xmlns:a="http://schemas.openxmlformats.org/drawingml/2006/main">
            <a:r>
              <a:t>After a loud work session, your ears are ringing. What does that mean?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Headsets &amp; comms</a:t>
            </a:r>
          </a:p>
          <a:p xmlns:a="http://schemas.openxmlformats.org/drawingml/2006/main">
            <a:r>
              <a:t>The “no earbuds in the shop” rule has a show-business nuance:</a:t>
            </a:r>
          </a:p>
          <a:p xmlns:a="http://schemas.openxmlformats.org/drawingml/2006/main">
            <a:r>
              <a:t>Personal earbuds and headphones never belong in the work environment - they mask callouts, warnings, and the sound of trouble.</a:t>
            </a:r>
          </a:p>
          <a:p xmlns:a="http://schemas.openxmlformats.org/drawingml/2006/main">
            <a:r>
              <a:t>Production intercom is the exception - it exists so the crew can hear each other . Keep one ear open around moving scenery, keep chatter short and clean, and never let a joke on comms bury a “heads up.”</a:t>
            </a:r>
          </a:p>
          <a:p xmlns:a="http://schemas.openxmlformats.org/drawingml/2006/main">
            <a:r>
              <a:t>If you can’t hear the room, you’re not safe in the 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Fog, haze &amp; atmospherics</a:t>
            </a:r>
          </a:p>
          <a:p xmlns:a="http://schemas.openxmlformats.org/drawingml/2006/main">
            <a:r>
              <a:t>Atmosphere looks like magic and behaves like a chemical plus a slip hazard:</a:t>
            </a:r>
          </a:p>
          <a:p xmlns:a="http://schemas.openxmlformats.org/drawingml/2006/main">
            <a:r>
              <a:t>Use only approved fluids in fog and haze machines - the fluid’s SDS lives in the binder like every other chemical.</a:t>
            </a:r>
          </a:p>
          <a:p xmlns:a="http://schemas.openxmlformats.org/drawingml/2006/main">
            <a:r>
              <a:t>Heavy fog is a respiratory consideration - ventilation matters, and anyone with asthma should say so before the effect runs.</a:t>
            </a:r>
          </a:p>
          <a:p xmlns:a="http://schemas.openxmlformats.org/drawingml/2006/main">
            <a:r>
              <a:t>Fluid residue makes decks slick - watch the floor near the machine and mop drips.</a:t>
            </a:r>
          </a:p>
          <a:p xmlns:a="http://schemas.openxmlformats.org/drawingml/2006/main">
            <a:r>
              <a:t>Fog and haze can trip smoke alarms - effects run only with the instructor, coordinated with the venue.</a:t>
            </a:r>
          </a:p>
          <a:p xmlns:a="http://schemas.openxmlformats.org/drawingml/2006/main">
            <a:r>
              <a:t>The machine’s output and nozzle get hot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Handling &amp; rigging speakers</a:t>
            </a:r>
          </a:p>
          <a:p xmlns:a="http://schemas.openxmlformats.org/drawingml/2006/main">
            <a:r>
              <a:t>Speakers are heavy, awkward, and often end up over people’s heads.</a:t>
            </a:r>
          </a:p>
          <a:p xmlns:a="http://schemas.openxmlformats.org/drawingml/2006/main">
            <a:r>
              <a:t>• Lift and move them with help - protect your back and the cabinet.</a:t>
            </a:r>
          </a:p>
          <a:p xmlns:a="http://schemas.openxmlformats.org/drawingml/2006/main">
            <a:r>
              <a:t>• Anything flown or mounted overhead uses rated hardware and rigging points , secured so it cannot fall.</a:t>
            </a:r>
          </a:p>
          <a:p xmlns:a="http://schemas.openxmlformats.org/drawingml/2006/main">
            <a:r>
              <a:t>• Never stack or perch a speaker where a bump or a cable snag could bring it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Speakers: do - or never?</a:t>
            </a:r>
          </a:p>
          <a:p xmlns:a="http://schemas.openxmlformats.org/drawingml/2006/main">
            <a:r>
              <a:t>Sort each speaker move: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After a loud work session, your ears are ringing. What does that mean?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Ringing means overexposure. Hearing damage is cumulative and permanent - protect your ears earlier next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Ringing means overexposure. Hearing damage is cumulative and permanent - protect your ears earlier next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A task is going to fill the air with fine dust. Which PPE does that call for?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Dust protection is required whenever a task puts fine dust in the air; safety glasses and hearing protection guard against different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Dust protection is required whenever a task puts fine dust in the air; safety glasses and hearing protection guard against different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 discover a fire in the scene shop. What do you do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location and the nature of the fire, to the nearest adult - and never a panic shout in a crowded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location and the nature of the fire, to the nearest adult - and never a panic shout in a crowded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stationary machines are introduced in Tech 3-4 and require their own safety orientation?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table saw, palm router, and band saw are new at Grade 10 and each requires a safety orientation with direct supervision at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table saw, palm router, and band saw are new at Grade 10 and each requires a safety orientation with direct supervision at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utility-knife blade is safer?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Dull blades need force, and force is what slips - fresh, sharp blades are the safe 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Dull blades need force, and force is what slips - fresh, sharp blades are the safe 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Where do pins live while you’re working?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Pins stay contained and countable - never in lips or clothes, and always counted back in at the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Pins stay contained and countable - never in lips or clothes, and always counted back in at the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The blade guard on the miter saw is sticking and won’t drop back over the blade. What do you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tool with a faulty guard never gets used - it gets reported and taken out of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tool with a faulty guard never gets used - it gets reported and taken out of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 need a jigsaw cut in a small block of wood. The block gets…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 pieces walk with the blade - and fingers follow. Clamp anything small.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 pieces walk with the blade - and fingers follow. Clamp anything small.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You’re about to drive a nail about 2 inches from the hand bracing the stud. You…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Nails deflect along grain and off knots and can exit the wood sideways - clear the fire line before you shoot.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Nails deflect along grain and off knots and can exit the wood sideways - clear the fire line before you shoot.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Grade 9 section and name the level of supervision students are working toward.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Welcome to certification week</a:t>
            </a:r>
          </a:p>
          <a:p xmlns:a="http://schemas.openxmlformats.org/drawingml/2006/main">
            <a:r>
              <a:t>This week you earn your shop certification - proof that you know every rule and every tool you’re responsible for at your grade level, including everything from past years.</a:t>
            </a:r>
          </a:p>
          <a:p xmlns:a="http://schemas.openxmlformats.org/drawingml/2006/main">
            <a:r>
              <a:t>Plan on about 45 minutes of training a day : Days 1–4 are training modules, Day 5 is the certification quiz. The quiz needs 100% - and anything you miss sends you back to retrain that module. That’s not punishment; it’s how real shops qualify people.</a:t>
            </a:r>
          </a:p>
          <a:p xmlns:a="http://schemas.openxmlformats.org/drawingml/2006/main">
            <a:r>
              <a:t>Passing this lab is step one of the district’s safety program. Before you operate anything, your teacher still gives you hands-on demonstrations and a guided-practice sign-off on each piece of equipment - and nothing in this shop is ever operated without the instructor’s permission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Permission &amp; attention</a:t>
            </a:r>
          </a:p>
          <a:p xmlns:a="http://schemas.openxmlformats.org/drawingml/2006/main">
            <a:r>
              <a:t>The rule the district prints in capital letters: DO NOT OPERATE EQUIPMENT WITHOUT PERMISSION FROM THE INSTRUCTOR. Not before class, not during, not after - safety instruction and the instructor’s go-ahead come first, every time.</a:t>
            </a:r>
          </a:p>
          <a:p xmlns:a="http://schemas.openxmlformats.org/drawingml/2006/main">
            <a:r>
              <a:t>Keep your mind on the work. A moment of lost attention is how serious accidents happen.</a:t>
            </a:r>
          </a:p>
          <a:p xmlns:a="http://schemas.openxmlformats.org/drawingml/2006/main">
            <a:r>
              <a:t>No earbuds or headphones in the work environment - they mask warnings, callouts, and the sound of a machine going wrong. (Production intercom during shows is the one exception, used with discipline.)</a:t>
            </a:r>
          </a:p>
          <a:p xmlns:a="http://schemas.openxmlformats.org/drawingml/2006/main">
            <a:r>
              <a:t>When in doubt, ask the instructor - not the student next to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Dress for the shop</a:t>
            </a:r>
          </a:p>
          <a:p xmlns:a="http://schemas.openxmlformats.org/drawingml/2006/main">
            <a:r>
              <a:t>Shop safety starts before you touch a tool - with what you’re wearing:</a:t>
            </a:r>
          </a:p>
          <a:p xmlns:a="http://schemas.openxmlformats.org/drawingml/2006/main">
            <a:r>
              <a:t>Closed-toe shoes, every shop day. No sandals, no slides, no exceptions - dropped lumber doesn’t care how careful you were.</a:t>
            </a:r>
          </a:p>
          <a:p xmlns:a="http://schemas.openxmlformats.org/drawingml/2006/main">
            <a:r>
              <a:t>Long hair tied back. Hair near a spinning tool gets pulled in faster than you can react.</a:t>
            </a:r>
          </a:p>
          <a:p xmlns:a="http://schemas.openxmlformats.org/drawingml/2006/main">
            <a:r>
              <a:t>No dangling anything - jewelry, hoodie strings, loose sleeves, lanyards. If it hangs, it catches.</a:t>
            </a:r>
          </a:p>
          <a:p xmlns:a="http://schemas.openxmlformats.org/drawingml/2006/main">
            <a:r>
              <a:t>Sleeves rolled above the elbows , nothing loose at the wrists.</a:t>
            </a:r>
          </a:p>
          <a:p xmlns:a="http://schemas.openxmlformats.org/drawingml/2006/main">
            <a:r>
              <a:t>Gloves only where the task calls for them - rough lumber, hot fixtures, chemicals. Never around spinning blades or bits: a caught glove pulls the hand in with it.</a:t>
            </a:r>
          </a:p>
          <a:p xmlns:a="http://schemas.openxmlformats.org/drawingml/2006/main">
            <a:r>
              <a:t>No running, no horseplay. Ever. The shop is the one room where a joke shove can cost a finger.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Know your hazards</a:t>
            </a:r>
          </a:p>
          <a:p xmlns:a="http://schemas.openxmlformats.org/drawingml/2006/main">
            <a:r>
              <a:t>A theatre shop is full of things that can hurt you if you don’t see them coming: sharp tools and blades , things falling from above , dust in the air , loud noise , and cords, lumber, and clutter you can trip over .</a:t>
            </a:r>
          </a:p>
          <a:p xmlns:a="http://schemas.openxmlformats.org/drawingml/2006/main">
            <a:r>
              <a:t>Your first safety skill is simple: look around and name the hazards before you start any task. If you can’t name what could go wrong, you’re not ready to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Spot the hazards</a:t>
            </a:r>
          </a:p>
          <a:p xmlns:a="http://schemas.openxmlformats.org/drawingml/2006/main">
            <a:r>
              <a:t>Time to use that skill. Look around this shop and tap everything that’s a hazard - there are 5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Lifting &amp; carrying</a:t>
            </a:r>
          </a:p>
          <a:p xmlns:a="http://schemas.openxmlformats.org/drawingml/2006/main">
            <a:r>
              <a:t>More shop injuries come from carrying than from cutting:</a:t>
            </a:r>
          </a:p>
          <a:p xmlns:a="http://schemas.openxmlformats.org/drawingml/2006/main">
            <a:r>
              <a:t>Lift with your legs - squat, keep your back near-vertical, hug the load close, stand. Your back is not a crane.</a:t>
            </a:r>
          </a:p>
          <a:p xmlns:a="http://schemas.openxmlformats.org/drawingml/2006/main">
            <a:r>
              <a:t>Never lift more than you can handle easily - over about 25 pounds, get help.</a:t>
            </a:r>
          </a:p>
          <a:p xmlns:a="http://schemas.openxmlformats.org/drawingml/2006/main">
            <a:r>
              <a:t>Clear your path before you pick anything up - most carrying accidents are collisions with things left on the floor or hanging at head height.</a:t>
            </a:r>
          </a:p>
          <a:p xmlns:a="http://schemas.openxmlformats.org/drawingml/2006/main">
            <a:r>
              <a:t>Team-lift anything long or heavy , and lift on a call: “ready - lift on three.” Same for setting down.</a:t>
            </a:r>
          </a:p>
          <a:p xmlns:a="http://schemas.openxmlformats.org/drawingml/2006/main">
            <a:r>
              <a:t>Carrying long stock: watch both ends , keep the front end high, and call the corners (“coming around!”).</a:t>
            </a:r>
          </a:p>
          <a:p xmlns:a="http://schemas.openxmlformats.org/drawingml/2006/main">
            <a:r>
              <a:t>Gloves for rough lumber - splinters are the tax on bare hands.</a:t>
            </a:r>
          </a:p>
          <a:p xmlns:a="http://schemas.openxmlformats.org/drawingml/2006/main">
            <a:r>
              <a:t>Watch the pinch points when setting anything down: fingers out from under, always.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Emergencies &amp; injuries</a:t>
            </a:r>
          </a:p>
          <a:p xmlns:a="http://schemas.openxmlformats.org/drawingml/2006/main">
            <a:r>
              <a:t>Know these before you touch a single tool:</a:t>
            </a:r>
          </a:p>
          <a:p xmlns:a="http://schemas.openxmlformats.org/drawingml/2006/main">
            <a:r>
              <a:t>If anyone yells “STOP” or “HOLD” , all work stops instantly - no questions, hands off, tools down.</a:t>
            </a:r>
          </a:p>
          <a:p xmlns:a="http://schemas.openxmlformats.org/drawingml/2006/main">
            <a:r>
              <a:t>Every injury gets reported to the teacher immediately - no matter how slight - and an incident report is filed. A tiny cut in a dusty shop gets infected; a “small” incident often means a hazard that will hurt the next person worse.</a:t>
            </a:r>
          </a:p>
          <a:p xmlns:a="http://schemas.openxmlformats.org/drawingml/2006/main">
            <a:r>
              <a:t>Know where the first-aid kit lives.</a:t>
            </a:r>
          </a:p>
          <a:p xmlns:a="http://schemas.openxmlformats.org/drawingml/2006/main">
            <a:r>
              <a:t>Fire gets its own full module - alarms, exits, extinguisher classes, and how to report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PPE without reminders</a:t>
            </a:r>
          </a:p>
          <a:p xmlns:a="http://schemas.openxmlformats.org/drawingml/2006/main">
            <a:r>
              <a:t>You’ve been introduced to PPE - now the bar is higher: select and wear the correct PPE for the task without being reminded .</a:t>
            </a:r>
          </a:p>
          <a:p xmlns:a="http://schemas.openxmlformats.org/drawingml/2006/main">
            <a:r>
              <a:t>Safety glasses for cutting and drilling, hearing protection around loud tools, dust protection when sanding. Nobody should ever have to tell you. If you’re reaching for a tool, you’ve already reached for your PPE.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Pre-use check: good to go, or report it?</a:t>
            </a:r>
          </a:p>
          <a:p xmlns:a="http://schemas.openxmlformats.org/drawingml/2006/main">
            <a:r>
              <a:t>Before using any tool you do a pre-use safety check - and anything unsafe gets reported , even if it isn’t yours. Sort each finding: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Dust - the slow hazard</a:t>
            </a:r>
          </a:p>
          <a:p xmlns:a="http://schemas.openxmlformats.org/drawingml/2006/main">
            <a:r>
              <a:t>The hazard you can’t feel hurting you:</a:t>
            </a:r>
          </a:p>
          <a:p xmlns:a="http://schemas.openxmlformats.org/drawingml/2006/main">
            <a:r>
              <a:t>Fine wood dust harms lungs over years , not minutes - which is why nobody takes it seriously until it’s late. Take it seriously now.</a:t>
            </a:r>
          </a:p>
          <a:p xmlns:a="http://schemas.openxmlformats.org/drawingml/2006/main">
            <a:r>
              <a:t>Dust collection on whenever the sander or saws run.</a:t>
            </a:r>
          </a:p>
          <a:p xmlns:a="http://schemas.openxmlformats.org/drawingml/2006/main">
            <a:r>
              <a:t>Clean up dust by sweeping or vacuuming - never by blasting it airborne with the compressor.</a:t>
            </a:r>
          </a:p>
          <a:p xmlns:a="http://schemas.openxmlformats.org/drawingml/2006/main">
            <a:r>
              <a:t>The dust mask is for making dust and for cleaning it up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air hose is not a broom</a:t>
            </a:r>
          </a:p>
          <a:p xmlns:a="http://schemas.openxmlformats.org/drawingml/2006/main">
            <a:r>
              <a:t>You’re covered in sawdust after sanding, and the compressor hose is right there. Blow yourself off?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Chemicals, SDS &amp; the eyewash station</a:t>
            </a:r>
          </a:p>
          <a:p xmlns:a="http://schemas.openxmlformats.org/drawingml/2006/main">
            <a:r>
              <a:t>Paint, adhesives, solvents, and fog fluid are chemicals - and every chemical in the shop has a Safety Data Sheet (SDS) :</a:t>
            </a:r>
          </a:p>
          <a:p xmlns:a="http://schemas.openxmlformats.org/drawingml/2006/main">
            <a:r>
              <a:t>The SDS binder lists each product’s hazards, handling rules, and first aid. Know where it lives.</a:t>
            </a:r>
          </a:p>
          <a:p xmlns:a="http://schemas.openxmlformats.org/drawingml/2006/main">
            <a:r>
              <a:t>Chemicals stay in labeled, closed containers - never in mystery cups or water bottles.</a:t>
            </a:r>
          </a:p>
          <a:p xmlns:a="http://schemas.openxmlformats.org/drawingml/2006/main">
            <a:r>
              <a:t>Rubber gloves are the exception to the no-gloves rule: wear them for stains, resins, and bleaches (never around spinning machines).</a:t>
            </a:r>
          </a:p>
          <a:p xmlns:a="http://schemas.openxmlformats.org/drawingml/2006/main">
            <a:r>
              <a:t>Know where the eyewash station is before you need it - you won’t be able to look for it with chemicals in your eyes.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Time to use that skill. Look around this shop and tap everything that’s a hazard - there are 5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 cord run across the walkway: Trip hazard - cords get routed out of walking paths.</a:t>
            </a:r>
          </a:p>
          <a:p xmlns:a="http://schemas.openxmlformats.org/drawingml/2006/main">
            <a:r>
              <a:t>Hand saw left blade-up on the bench: Sharp edges get sheathed or racked, never left out.</a:t>
            </a:r>
          </a:p>
          <a:p xmlns:a="http://schemas.openxmlformats.org/drawingml/2006/main">
            <a:r>
              <a:t>Boxes stacked in front of the exit: Exits stay clear - always.</a:t>
            </a:r>
          </a:p>
          <a:p xmlns:a="http://schemas.openxmlformats.org/drawingml/2006/main">
            <a:r>
              <a:t>Open drink next to the work area: Spills around tools and electricity - drinks stay out of the shop.</a:t>
            </a:r>
          </a:p>
          <a:p xmlns:a="http://schemas.openxmlformats.org/drawingml/2006/main">
            <a:r>
              <a:t>Board with a nail sticking out: Pull or bend nails the moment you see them.</a:t>
            </a:r>
          </a:p>
          <a:p xmlns:a="http://schemas.openxmlformats.org/drawingml/2006/main">
            <a:r>
              <a:t>Safety glasses on the PPE shelf: that’s exactly where PPE belongs.</a:t>
            </a:r>
          </a:p>
          <a:p xmlns:a="http://schemas.openxmlformats.org/drawingml/2006/main">
            <a:r>
              <a:t>Fire extinguisher on its wall hook: visible and ready - just right.</a:t>
            </a:r>
          </a:p>
          <a:p xmlns:a="http://schemas.openxmlformats.org/drawingml/2006/main">
            <a:r>
              <a:t>Swept floor, broom racked: good housekeeping is what prevents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 cord run across the walkway: Trip hazard - cords get routed out of walking paths.</a:t>
            </a:r>
          </a:p>
          <a:p xmlns:a="http://schemas.openxmlformats.org/drawingml/2006/main">
            <a:r>
              <a:t>Hand saw left blade-up on the bench: Sharp edges get sheathed or racked, never left out.</a:t>
            </a:r>
          </a:p>
          <a:p xmlns:a="http://schemas.openxmlformats.org/drawingml/2006/main">
            <a:r>
              <a:t>Boxes stacked in front of the exit: Exits stay clear - always.</a:t>
            </a:r>
          </a:p>
          <a:p xmlns:a="http://schemas.openxmlformats.org/drawingml/2006/main">
            <a:r>
              <a:t>Open drink next to the work area: Spills around tools and electricity - drinks stay out of the shop.</a:t>
            </a:r>
          </a:p>
          <a:p xmlns:a="http://schemas.openxmlformats.org/drawingml/2006/main">
            <a:r>
              <a:t>Board with a nail sticking out: Pull or bend nails the moment you see them.</a:t>
            </a:r>
          </a:p>
          <a:p xmlns:a="http://schemas.openxmlformats.org/drawingml/2006/main">
            <a:r>
              <a:t>Safety glasses on the PPE shelf: that’s exactly where PPE belongs.</a:t>
            </a:r>
          </a:p>
          <a:p xmlns:a="http://schemas.openxmlformats.org/drawingml/2006/main">
            <a:r>
              <a:t>Fire extinguisher on its wall hook: visible and ready - just right.</a:t>
            </a:r>
          </a:p>
          <a:p xmlns:a="http://schemas.openxmlformats.org/drawingml/2006/main">
            <a:r>
              <a:t>Swept floor, broom racked: good housekeeping is what prevents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Alarms, drills &amp; exits</a:t>
            </a:r>
          </a:p>
          <a:p xmlns:a="http://schemas.openxmlformats.org/drawingml/2006/main">
            <a:r>
              <a:t>Fire safety starts before there’s ever a fire:</a:t>
            </a:r>
          </a:p>
          <a:p xmlns:a="http://schemas.openxmlformats.org/drawingml/2006/main">
            <a:r>
              <a:t>Know the fire bell/alarm and the fire-drill procedure for the shop and the theatre.</a:t>
            </a:r>
          </a:p>
          <a:p xmlns:a="http://schemas.openxmlformats.org/drawingml/2006/main">
            <a:r>
              <a:t>Know every fire-exit location - and keep all exits and corridors clear at all times . In an evacuation, a blocked hallway costs lives, not minutes.</a:t>
            </a:r>
          </a:p>
          <a:p xmlns:a="http://schemas.openxmlformats.org/drawingml/2006/main">
            <a:r>
              <a:t>Know the types and locations of the fire extinguishers in your space - before you need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Reporting a fire</a:t>
            </a:r>
          </a:p>
          <a:p xmlns:a="http://schemas.openxmlformats.org/drawingml/2006/main">
            <a:r>
              <a:t>If you discover a fire:</a:t>
            </a:r>
          </a:p>
          <a:p xmlns:a="http://schemas.openxmlformats.org/drawingml/2006/main">
            <a:r>
              <a:t>Immediately notify the closest adult with the exact location and the nature of the fire (what’s burning).</a:t>
            </a:r>
          </a:p>
          <a:p xmlns:a="http://schemas.openxmlformats.org/drawingml/2006/main">
            <a:r>
              <a:t>Do NOT shout “Fire!” - panic in a crowded theatre is its own disaster; information moves faster than fear.</a:t>
            </a:r>
          </a:p>
          <a:p xmlns:a="http://schemas.openxmlformats.org/drawingml/2006/main">
            <a:r>
              <a:t>If someone’s clothing catches fire: smother the flames - get them down and roll them in a blanket if one is close.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Fire classes &amp; extinguishers</a:t>
            </a:r>
          </a:p>
          <a:p xmlns:a="http://schemas.openxmlformats.org/drawingml/2006/main">
            <a:r>
              <a:t>Extinguishers match the fire - the wrong one can make it worse:</a:t>
            </a:r>
          </a:p>
          <a:p xmlns:a="http://schemas.openxmlformats.org/drawingml/2006/main">
            <a:r>
              <a:t>Class A - wood, paper, cloth. Water or CO₂ works.</a:t>
            </a:r>
          </a:p>
          <a:p xmlns:a="http://schemas.openxmlformats.org/drawingml/2006/main">
            <a:r>
              <a:t>Class B - flammable liquids (paint thinner, solvents). Smother it : foam or CO₂. Water spreads it.</a:t>
            </a:r>
          </a:p>
          <a:p xmlns:a="http://schemas.openxmlformats.org/drawingml/2006/main">
            <a:r>
              <a:t>Class C - electrical equipment. Non-conducting only : CO₂ or dry powder. Never water - electricity travels up the stream to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Pick the extinguisher</a:t>
            </a:r>
          </a:p>
          <a:p xmlns:a="http://schemas.openxmlformats.org/drawingml/2006/main">
            <a:r>
              <a:t>Match the fire to the response: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 spot smoke</a:t>
            </a:r>
          </a:p>
          <a:p xmlns:a="http://schemas.openxmlformats.org/drawingml/2006/main">
            <a:r>
              <a:t>You smell smoke and find a small fire behind the scene shop. What do you do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Flammables, rags &amp; finishes</a:t>
            </a:r>
          </a:p>
          <a:p xmlns:a="http://schemas.openxmlformats.org/drawingml/2006/main">
            <a:r>
              <a:t>The scene shop makes its own fire hazards:</a:t>
            </a:r>
          </a:p>
          <a:p xmlns:a="http://schemas.openxmlformats.org/drawingml/2006/main">
            <a:r>
              <a:t>Rags soaked with finish, stain, or solvent go in a covered metal container - oily rags in a pile can self-ignite . That’s not a myth; it’s chemistry.</a:t>
            </a:r>
          </a:p>
          <a:p xmlns:a="http://schemas.openxmlformats.org/drawingml/2006/main">
            <a:r>
              <a:t>Use finishes and solvents only in well-ventilated areas, away from open flame and heat.</a:t>
            </a:r>
          </a:p>
          <a:p xmlns:a="http://schemas.openxmlformats.org/drawingml/2006/main">
            <a:r>
              <a:t>Keep flammable items away from lighting instruments - and instruments away from soft goods, paper, and scenery that could cook against a hot fixture.</a:t>
            </a:r>
          </a:p>
          <a:p xmlns:a="http://schemas.openxmlformats.org/drawingml/2006/main">
            <a:r>
              <a:t>Pyrotechnics, flame effects, and prop firearms are never student-operated - district approval and the fire marshal come first, every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Match the fire to the response: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Scrap lumber and paper burning in the bin: Class A - ordinary combustibles; water or CO₂.</a:t>
            </a:r>
          </a:p>
          <a:p xmlns:a="http://schemas.openxmlformats.org/drawingml/2006/main">
            <a:r>
              <a:t>A dimmer rack sparking and smoking: Class C electrical - non-conducting extinguisher, never water.</a:t>
            </a:r>
          </a:p>
          <a:p xmlns:a="http://schemas.openxmlformats.org/drawingml/2006/main">
            <a:r>
              <a:t>Spilled paint thinner catches fire: Class B flammable liquid - smother with foam or CO₂; water spreads it.</a:t>
            </a:r>
          </a:p>
          <a:p xmlns:a="http://schemas.openxmlformats.org/drawingml/2006/main">
            <a:r>
              <a:t>Muslin scraps smoldering in the paint corner: Class A - cloth burns like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Scrap lumber and paper burning in the bin: Class A - ordinary combustibles; water or CO₂.</a:t>
            </a:r>
          </a:p>
          <a:p xmlns:a="http://schemas.openxmlformats.org/drawingml/2006/main">
            <a:r>
              <a:t>A dimmer rack sparking and smoking: Class C electrical - non-conducting extinguisher, never water.</a:t>
            </a:r>
          </a:p>
          <a:p xmlns:a="http://schemas.openxmlformats.org/drawingml/2006/main">
            <a:r>
              <a:t>Spilled paint thinner catches fire: Class B flammable liquid - smother with foam or CO₂; water spreads it.</a:t>
            </a:r>
          </a:p>
          <a:p xmlns:a="http://schemas.openxmlformats.org/drawingml/2006/main">
            <a:r>
              <a:t>Muslin scraps smoldering in the paint corner: Class A - cloth burns like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Grade 9 - Tech 1-2</a:t>
            </a:r>
          </a:p>
          <a:p xmlns:a="http://schemas.openxmlformats.org/drawingml/2006/main">
            <a:r>
              <a:t>You now use the full hand-tool set , and your power tools move to general supervision :</a:t>
            </a:r>
          </a:p>
          <a:p xmlns:a="http://schemas.openxmlformats.org/drawingml/2006/main">
            <a:r>
              <a:t>Power &amp; pneumatic - jigsaw, compound miter saw, panel saw, impact driver, random orbital sander, narrow crown stapler, framing nailer.</a:t>
            </a:r>
          </a:p>
          <a:p xmlns:a="http://schemas.openxmlformats.org/drawingml/2006/main">
            <a:r>
              <a:t>Lighting - Source Four hang &amp; focus tools (C-clamp, safety cable, wrench), cable; ETC Eos.</a:t>
            </a:r>
          </a:p>
          <a:p xmlns:a="http://schemas.openxmlformats.org/drawingml/2006/main">
            <a:r>
              <a:t>Costume - sewing machine.</a:t>
            </a:r>
          </a:p>
          <a:p xmlns:a="http://schemas.openxmlformats.org/drawingml/2006/main">
            <a:r>
              <a:t>Props - hot-wire foam knife.</a:t>
            </a:r>
          </a:p>
          <a:p xmlns:a="http://schemas.openxmlformats.org/drawingml/2006/main">
            <a:r>
              <a:t>Painting - brushes &amp; rollers.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Cleared for you - or not yet?</a:t>
            </a:r>
          </a:p>
          <a:p xmlns:a="http://schemas.openxmlformats.org/drawingml/2006/main">
            <a:r>
              <a:t>Which of these are you cleared to use at your grade level (after passing each tool’s safety orientation)?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of these are you cleared to use at your grade level (after passing each tool’s safety orientation)?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Compound miter saw: Yours after its safety orientation, with supervision.</a:t>
            </a:r>
          </a:p>
          <a:p xmlns:a="http://schemas.openxmlformats.org/drawingml/2006/main">
            <a:r>
              <a:t>Random orbital sander: Yours after its safety orientation, with supervision.</a:t>
            </a:r>
          </a:p>
          <a:p xmlns:a="http://schemas.openxmlformats.org/drawingml/2006/main">
            <a:r>
              <a:t>Framing nailer: Pneumatic tools are in - after the orientation.</a:t>
            </a:r>
          </a:p>
          <a:p xmlns:a="http://schemas.openxmlformats.org/drawingml/2006/main">
            <a:r>
              <a:t>Table saw: Stationary machines start in Grade 10.</a:t>
            </a:r>
          </a:p>
          <a:p xmlns:a="http://schemas.openxmlformats.org/drawingml/2006/main">
            <a:r>
              <a:t>Band saw: Stationary machines start in Grade 10.</a:t>
            </a:r>
          </a:p>
          <a:p xmlns:a="http://schemas.openxmlformats.org/drawingml/2006/main">
            <a:r>
              <a:t>Palm router: Stationary machines start in Grade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Compound miter saw: Yours after its safety orientation, with supervision.</a:t>
            </a:r>
          </a:p>
          <a:p xmlns:a="http://schemas.openxmlformats.org/drawingml/2006/main">
            <a:r>
              <a:t>Random orbital sander: Yours after its safety orientation, with supervision.</a:t>
            </a:r>
          </a:p>
          <a:p xmlns:a="http://schemas.openxmlformats.org/drawingml/2006/main">
            <a:r>
              <a:t>Framing nailer: Pneumatic tools are in - after the orientation.</a:t>
            </a:r>
          </a:p>
          <a:p xmlns:a="http://schemas.openxmlformats.org/drawingml/2006/main">
            <a:r>
              <a:t>Table saw: Stationary machines start in Grade 10.</a:t>
            </a:r>
          </a:p>
          <a:p xmlns:a="http://schemas.openxmlformats.org/drawingml/2006/main">
            <a:r>
              <a:t>Band saw: Stationary machines start in Grade 10.</a:t>
            </a:r>
          </a:p>
          <a:p xmlns:a="http://schemas.openxmlformats.org/drawingml/2006/main">
            <a:r>
              <a:t>Palm router: Stationary machines start in Grade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Measuring &amp; layout tools</a:t>
            </a:r>
          </a:p>
          <a:p xmlns:a="http://schemas.openxmlformats.org/drawingml/2006/main">
            <a:r>
              <a:t>Even “safe” tools have rules:</a:t>
            </a:r>
          </a:p>
          <a:p xmlns:a="http://schemas.openxmlformats.org/drawingml/2006/main">
            <a:r>
              <a:t>Tape measure - control the blade on the way back in; a spring-loaded steel edge returning at full speed can cut. Watch the hook edge on long pulls.</a:t>
            </a:r>
          </a:p>
          <a:p xmlns:a="http://schemas.openxmlformats.org/drawingml/2006/main">
            <a:r>
              <a:t>Marking &amp; layout tools - carry pointed tools (awls, compasses, pencils) tip-down , and never walk with them in a pocket point-up.</a:t>
            </a:r>
          </a:p>
          <a:p xmlns:a="http://schemas.openxmlformats.org/drawingml/2006/main">
            <a:r>
              <a:t>Every tool goes back to its rack when you set it down - a bench you can’t see the surface of is a bench hiding a blade.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Utility knife</a:t>
            </a:r>
          </a:p>
          <a:p xmlns:a="http://schemas.openxmlformats.org/drawingml/2006/main">
            <a:r>
              <a:t>The tool you’ll use most, and the one that sends the most people to the first-aid kit:</a:t>
            </a:r>
          </a:p>
          <a:p xmlns:a="http://schemas.openxmlformats.org/drawingml/2006/main">
            <a:r>
              <a:t>• A sharp blade is safer than a dull one - it needs less force, so it slips less. Swap dull blades.</a:t>
            </a:r>
          </a:p>
          <a:p xmlns:a="http://schemas.openxmlformats.org/drawingml/2006/main">
            <a:r>
              <a:t>• Cut away from your body - and away from the hand bracing the work. Ask: “if this slips, where does the blade finish?”</a:t>
            </a:r>
          </a:p>
          <a:p xmlns:a="http://schemas.openxmlformats.org/drawingml/2006/main">
            <a:r>
              <a:t>• Cut on a mat or scrap , never on the bare table or your knee.</a:t>
            </a:r>
          </a:p>
          <a:p xmlns:a="http://schemas.openxmlformats.org/drawingml/2006/main">
            <a:r>
              <a:t>• Retract the blade the second you stop cutting. No exceptions.</a:t>
            </a:r>
          </a:p>
          <a:p xmlns:a="http://schemas.openxmlformats.org/drawingml/2006/main">
            <a:r>
              <a:t>• Pass it handle-first , blade retracted. Used snap-off blades go in the taped sharps container, never loose in the trash.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Change a utility-knife blade - in order</a:t>
            </a:r>
          </a:p>
          <a:p xmlns:a="http://schemas.openxmlformats.org/drawingml/2006/main">
            <a:r>
              <a:t>Put a safe blade change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Hammer, screwdrivers &amp; hand saw</a:t>
            </a:r>
          </a:p>
          <a:p xmlns:a="http://schemas.openxmlformats.org/drawingml/2006/main">
            <a:r>
              <a:t>Hammer - check the head is tight before swinging; clear your swing arc (people and your other hand); start nails with a light tap, fingers gone before the real swing.</a:t>
            </a:r>
          </a:p>
          <a:p xmlns:a="http://schemas.openxmlformats.org/drawingml/2006/main">
            <a:r>
              <a:t>Screwdrivers - use the right size tip so it doesn’t cam out; never drive toward your palm or hold the work in your hand; a screwdriver is not a chisel or a pry bar - tips snap and hands slip.</a:t>
            </a:r>
          </a:p>
          <a:p xmlns:a="http://schemas.openxmlformats.org/drawingml/2006/main">
            <a:r>
              <a:t>Hand saw - start the kerf with short, light strokes; keep your free hand clear of the cut line; support the off-cut so it doesn’t tear free at the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Squares &amp; layout at the bench</a:t>
            </a:r>
          </a:p>
          <a:p xmlns:a="http://schemas.openxmlformats.org/drawingml/2006/main">
            <a:r>
              <a:t>Layout tools earn their keep in Stagecraft:</a:t>
            </a:r>
          </a:p>
          <a:p xmlns:a="http://schemas.openxmlformats.org/drawingml/2006/main">
            <a:r>
              <a:t>Speed square - your crosscut guide: hold it firm with your thumb up on its face, and run the saw along the edge. Fingers stay on top of the square, never on the blade side.</a:t>
            </a:r>
          </a:p>
          <a:p xmlns:a="http://schemas.openxmlformats.org/drawingml/2006/main">
            <a:r>
              <a:t>Framing square - for sheet layout and checking corners; two people hold it for long lines.</a:t>
            </a:r>
          </a:p>
          <a:p xmlns:a="http://schemas.openxmlformats.org/drawingml/2006/main">
            <a:r>
              <a:t>Mark the waste side of every line with an X - half the “wrong cuts” in a shop are right cuts on the wrong side.</a:t>
            </a:r>
          </a:p>
          <a:p xmlns:a="http://schemas.openxmlformats.org/drawingml/2006/main">
            <a:r>
              <a:t>A sharp pencil line beats a fat one; for fine work, a knife line beats both (utility-knife rules apply).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Hand-tool habits</a:t>
            </a:r>
          </a:p>
          <a:p xmlns:a="http://schemas.openxmlformats.org/drawingml/2006/main">
            <a:r>
              <a:t>Sort each habit: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Make a hand-saw cut - in order</a:t>
            </a:r>
          </a:p>
          <a:p xmlns:a="http://schemas.openxmlformats.org/drawingml/2006/main">
            <a:r>
              <a:t>Put a clean, safe hand-saw cut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Put a safe blade change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Needles, pins &amp; hand sewing</a:t>
            </a:r>
          </a:p>
          <a:p xmlns:a="http://schemas.openxmlformats.org/drawingml/2006/main">
            <a:r>
              <a:t>Small tools, real rules:</a:t>
            </a:r>
          </a:p>
          <a:p xmlns:a="http://schemas.openxmlformats.org/drawingml/2006/main">
            <a:r>
              <a:t>Count your needles and pins out - and back in. A lost pin ends up in a costume, a couch, or a foot.</a:t>
            </a:r>
          </a:p>
          <a:p xmlns:a="http://schemas.openxmlformats.org/drawingml/2006/main">
            <a:r>
              <a:t>Pins live in a pincushion or magnetic tray - never in your lips, never in your clothes.</a:t>
            </a:r>
          </a:p>
          <a:p xmlns:a="http://schemas.openxmlformats.org/drawingml/2006/main">
            <a:r>
              <a:t>Broken needles and bent pins get taped and binned , not tossed loose.</a:t>
            </a:r>
          </a:p>
          <a:p xmlns:a="http://schemas.openxmlformats.org/drawingml/2006/main">
            <a:r>
              <a:t>Anything sharp gets passed handle-first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Scissors &amp; pattern tools</a:t>
            </a:r>
          </a:p>
          <a:p xmlns:a="http://schemas.openxmlformats.org/drawingml/2006/main">
            <a:r>
              <a:t>Fabric shears are seriously sharp - that’s the point.</a:t>
            </a:r>
          </a:p>
          <a:p xmlns:a="http://schemas.openxmlformats.org/drawingml/2006/main">
            <a:r>
              <a:t>• Carry them closed, point-down . Never run - it’s a cliché because it’s true.</a:t>
            </a:r>
          </a:p>
          <a:p xmlns:a="http://schemas.openxmlformats.org/drawingml/2006/main">
            <a:r>
              <a:t>• Pass them handle-first .</a:t>
            </a:r>
          </a:p>
          <a:p xmlns:a="http://schemas.openxmlformats.org/drawingml/2006/main">
            <a:r>
              <a:t>• Cut on the table , fabric flat, free hand behind the blades - not in the air toward yourself.</a:t>
            </a:r>
          </a:p>
          <a:p xmlns:a="http://schemas.openxmlformats.org/drawingml/2006/main">
            <a:r>
              <a:t>• Fabric shears cut fabric only : paper and cardboard dull them into tools that slip.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Papier-mâché &amp; armatures</a:t>
            </a:r>
          </a:p>
          <a:p xmlns:a="http://schemas.openxmlformats.org/drawingml/2006/main">
            <a:r>
              <a:t>Props building has its own sharp ends:</a:t>
            </a:r>
          </a:p>
          <a:p xmlns:a="http://schemas.openxmlformats.org/drawingml/2006/main">
            <a:r>
              <a:t>Cut armature wire with wire cutters, never scissors - scissors get ruined, and ruined tools slip.</a:t>
            </a:r>
          </a:p>
          <a:p xmlns:a="http://schemas.openxmlformats.org/drawingml/2006/main">
            <a:r>
              <a:t>Every cut wire end gets bent back or taped immediately. Armature wires stick out at exactly eye height on a crowded work table.</a:t>
            </a:r>
          </a:p>
          <a:p xmlns:a="http://schemas.openxmlformats.org/drawingml/2006/main">
            <a:r>
              <a:t>Paste makes floors slick - wipe drips when they happen, not at cleanup.</a:t>
            </a:r>
          </a:p>
          <a:p xmlns:a="http://schemas.openxmlformats.org/drawingml/2006/main">
            <a:r>
              <a:t>Cover cuts on your hands before pasting, and wash up after - paste and sealers aren’t hand lotion.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ends</a:t>
            </a:r>
          </a:p>
          <a:p xmlns:a="http://schemas.openxmlformats.org/drawingml/2006/main">
            <a:r>
              <a:t>You just clipped an armature wire and the cut end sticks out at face height over the work table. What happens right 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Sewing machine</a:t>
            </a:r>
          </a:p>
          <a:p xmlns:a="http://schemas.openxmlformats.org/drawingml/2006/main">
            <a:r>
              <a:t>The machine drives a needle up and down faster than you can react - respect the zone around it:</a:t>
            </a:r>
          </a:p>
          <a:p xmlns:a="http://schemas.openxmlformats.org/drawingml/2006/main">
            <a:r>
              <a:t>• Fingers stay a needle-width away - guide fabric from the sides, never push it from directly in front of the needle.</a:t>
            </a:r>
          </a:p>
          <a:p xmlns:a="http://schemas.openxmlformats.org/drawingml/2006/main">
            <a:r>
              <a:t>• No loose sleeves, jewelry, or hair near the needle and handwheel.</a:t>
            </a:r>
          </a:p>
          <a:p xmlns:a="http://schemas.openxmlformats.org/drawingml/2006/main">
            <a:r>
              <a:t>• Control speed with the pedal - start slow ; speed is earned, not assumed.</a:t>
            </a:r>
          </a:p>
          <a:p xmlns:a="http://schemas.openxmlformats.org/drawingml/2006/main">
            <a:r>
              <a:t>• Power off (or unplug) before changing the needle or working close to it.</a:t>
            </a:r>
          </a:p>
          <a:p xmlns:a="http://schemas.openxmlformats.org/drawingml/2006/main">
            <a:r>
              <a:t>• Let the machine stop completely before reaching in to pull threads or fabric.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Sewing machine check</a:t>
            </a:r>
          </a:p>
          <a:p xmlns:a="http://schemas.openxmlformats.org/drawingml/2006/main">
            <a:r>
              <a:t>The needle on your machine is bent and needs changing. First move?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Hot-wire foam knife</a:t>
            </a:r>
          </a:p>
          <a:p xmlns:a="http://schemas.openxmlformats.org/drawingml/2006/main">
            <a:r>
              <a:t>It doesn’t look dangerous - it’s a wire. But it cuts by heat :</a:t>
            </a:r>
          </a:p>
          <a:p xmlns:a="http://schemas.openxmlformats.org/drawingml/2006/main">
            <a:r>
              <a:t>The wire burns skin instantly and stays hot after you switch it off - it rests on its stand until cool.</a:t>
            </a:r>
          </a:p>
          <a:p xmlns:a="http://schemas.openxmlformats.org/drawingml/2006/main">
            <a:r>
              <a:t>Only cut approved foam (polystyrene). Unknown foams and polyurethane can release toxic fumes when hot. If you don’t know what the foam is, you don’t cut it.</a:t>
            </a:r>
          </a:p>
          <a:p xmlns:a="http://schemas.openxmlformats.org/drawingml/2006/main">
            <a:r>
              <a:t>Cut with ventilation on , away from anything flammable.</a:t>
            </a:r>
          </a:p>
          <a:p xmlns:a="http://schemas.openxmlformats.org/drawingml/2006/main">
            <a:r>
              <a:t>A burn gets cool water and gets reported - like every injury.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Hot-wire check</a:t>
            </a:r>
          </a:p>
          <a:p xmlns:a="http://schemas.openxmlformats.org/drawingml/2006/main">
            <a:r>
              <a:t>A scrap of foam with no label shows up in the bin, and it would be perfect for your prop. Hot-wire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 just clipped an armature wire and the cut end sticks out at face height over the work table. What happens right 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ends at eye height don’t wait for cleanup time - they get bent back or capped the moment they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ends at eye height don’t wait for cleanup time - they get bent back or capped the moment they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Rules that never change</a:t>
            </a:r>
          </a:p>
          <a:p xmlns:a="http://schemas.openxmlformats.org/drawingml/2006/main">
            <a:r>
              <a:t>For every power and pneumatic tool, at every grade level:</a:t>
            </a:r>
          </a:p>
          <a:p xmlns:a="http://schemas.openxmlformats.org/drawingml/2006/main">
            <a:r>
              <a:t>• Guards stay on and working. A tool with a faulty guard doesn’t get used - it gets reported.</a:t>
            </a:r>
          </a:p>
          <a:p xmlns:a="http://schemas.openxmlformats.org/drawingml/2006/main">
            <a:r>
              <a:t>• PPE first - safety glasses always; hearing and dust protection as the task demands.</a:t>
            </a:r>
          </a:p>
          <a:p xmlns:a="http://schemas.openxmlformats.org/drawingml/2006/main">
            <a:r>
              <a:t>• Correct body position - balanced stance, hands clear of the cut line, never reaching across a blade.</a:t>
            </a:r>
          </a:p>
          <a:p xmlns:a="http://schemas.openxmlformats.org/drawingml/2006/main">
            <a:r>
              <a:t>• Disconnect power or air before adjusting - blade changes, depth settings, or clearing jams happen only on a dead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Your path: orientation → supervision → independence</a:t>
            </a:r>
          </a:p>
          <a:p xmlns:a="http://schemas.openxmlformats.org/drawingml/2006/main">
            <a:r>
              <a:t>Qualification is a ladder, and every tool has its own rung:</a:t>
            </a:r>
          </a:p>
          <a:p xmlns:a="http://schemas.openxmlformats.org/drawingml/2006/main">
            <a:r>
              <a:t>1⃣ Safety orientation (Grade 8) - you pass an orientation for each tool, then perform fundamental operations under direct supervision : straight cuts, crosscuts, driving fasteners, sanding flat stock.</a:t>
            </a:r>
          </a:p>
          <a:p xmlns:a="http://schemas.openxmlformats.org/drawingml/2006/main">
            <a:r>
              <a:t>2⃣ General supervision (Grade 9) - you set up and operate each tool with the teacher in the shop, not at your elbow, producing accurate cuts and secure assemblies.</a:t>
            </a:r>
          </a:p>
          <a:p xmlns:a="http://schemas.openxmlformats.org/drawingml/2006/main">
            <a:r>
              <a:t>3⃣ Independent qualification (Grade 10+) - you pass an independent-use qualification per tool, handle routine adjustments yourself, and help train peers.</a:t>
            </a:r>
          </a:p>
          <a:p xmlns:a="http://schemas.openxmlformats.org/drawingml/2006/main">
            <a:r>
              <a:t>Grade level alone never qualifies you - passing the orientation or qualification for that specific tool does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Notice and report</a:t>
            </a:r>
          </a:p>
          <a:p xmlns:a="http://schemas.openxmlformats.org/drawingml/2006/main">
            <a:r>
              <a:t>From Grade 9 on, noticing problems is part of your qualification :</a:t>
            </a:r>
          </a:p>
          <a:p xmlns:a="http://schemas.openxmlformats.org/drawingml/2006/main">
            <a:r>
              <a:t>• A blade that burns the wood or cuts slowly is dull - stop and report it.</a:t>
            </a:r>
          </a:p>
          <a:p xmlns:a="http://schemas.openxmlformats.org/drawingml/2006/main">
            <a:r>
              <a:t>• A pneumatic tool that sputters or double-fires may have low or wrong air pressure - stop and report it.</a:t>
            </a:r>
          </a:p>
          <a:p xmlns:a="http://schemas.openxmlformats.org/drawingml/2006/main">
            <a:r>
              <a:t>• Anything loose, cracked, wobbling, or smelling hot - stop and report it .</a:t>
            </a:r>
          </a:p>
          <a:p xmlns:a="http://schemas.openxmlformats.org/drawingml/2006/main">
            <a:r>
              <a:t>You are not “bothering the teacher.” You are doing the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Cords, hoses &amp; your workspace</a:t>
            </a:r>
          </a:p>
          <a:p xmlns:a="http://schemas.openxmlformats.org/drawingml/2006/main">
            <a:r>
              <a:t>The cable end of tool safety:</a:t>
            </a:r>
          </a:p>
          <a:p xmlns:a="http://schemas.openxmlformats.org/drawingml/2006/main">
            <a:r>
              <a:t>The cord or hose stays behind the tool, never in the cut path - check before every cut, not after.</a:t>
            </a:r>
          </a:p>
          <a:p xmlns:a="http://schemas.openxmlformats.org/drawingml/2006/main">
            <a:r>
              <a:t>Never carry a tool by its cord , and unplug by gripping the plug , not yanking the cable.</a:t>
            </a:r>
          </a:p>
          <a:p xmlns:a="http://schemas.openxmlformats.org/drawingml/2006/main">
            <a:r>
              <a:t>Disconnecting an air hose: shut off the air and bleed the pressure first , and keep hold of the coupling - a charged hose whips.</a:t>
            </a:r>
          </a:p>
          <a:p xmlns:a="http://schemas.openxmlformats.org/drawingml/2006/main">
            <a:r>
              <a:t>Cords and hoses route along walls and out of walkways , same as the shop rule you already know.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Clamp it, support it</a:t>
            </a:r>
          </a:p>
          <a:p xmlns:a="http://schemas.openxmlformats.org/drawingml/2006/main">
            <a:r>
              <a:t>Most “tool accidents” are really workholding accidents :</a:t>
            </a:r>
          </a:p>
          <a:p xmlns:a="http://schemas.openxmlformats.org/drawingml/2006/main">
            <a:r>
              <a:t>A clamp beats your strongest grip - and it never flinches.</a:t>
            </a:r>
          </a:p>
          <a:p xmlns:a="http://schemas.openxmlformats.org/drawingml/2006/main">
            <a:r>
              <a:t>Long stock gets outfeed support - a sawhorse, a stand, or a partner on a callout.</a:t>
            </a:r>
          </a:p>
          <a:p xmlns:a="http://schemas.openxmlformats.org/drawingml/2006/main">
            <a:r>
              <a:t>The cut line hangs clear of the bench - cutting into the table pinches the blade and ruins both.</a:t>
            </a:r>
          </a:p>
          <a:p xmlns:a="http://schemas.openxmlformats.org/drawingml/2006/main">
            <a:r>
              <a:t>Never cut work resting on your knee or held in the air.</a:t>
            </a:r>
          </a:p>
          <a:p xmlns:a="http://schemas.openxmlformats.org/drawingml/2006/main">
            <a:r>
              <a:t>Know what’s under and behind the cut before you start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up a cut - in order</a:t>
            </a:r>
          </a:p>
          <a:p xmlns:a="http://schemas.openxmlformats.org/drawingml/2006/main">
            <a:r>
              <a:t>Put the steps of a safe power-tool cut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Pneumatic power: the air rules</a:t>
            </a:r>
          </a:p>
          <a:p xmlns:a="http://schemas.openxmlformats.org/drawingml/2006/main">
            <a:r>
              <a:t>The stapler and nailer run on compressed air, which adds rules of their own:</a:t>
            </a:r>
          </a:p>
          <a:p xmlns:a="http://schemas.openxmlformats.org/drawingml/2006/main">
            <a:r>
              <a:t>• Treat every air tool as loaded. Finger off the trigger until the nose is on the work.</a:t>
            </a:r>
          </a:p>
          <a:p xmlns:a="http://schemas.openxmlformats.org/drawingml/2006/main">
            <a:r>
              <a:t>• Never point one at anyone - including yourself. Ever. Even “empty.”</a:t>
            </a:r>
          </a:p>
          <a:p xmlns:a="http://schemas.openxmlformats.org/drawingml/2006/main">
            <a:r>
              <a:t>• Disconnect the air line before clearing a jam, adjusting, or handing it over.</a:t>
            </a:r>
          </a:p>
          <a:p xmlns:a="http://schemas.openxmlformats.org/drawingml/2006/main">
            <a:r>
              <a:t>• Use the tool’s correct air pressure - too high blows fasteners through the work; too low jams and double-fires.</a:t>
            </a:r>
          </a:p>
          <a:p xmlns:a="http://schemas.openxmlformats.org/drawingml/2006/main">
            <a:r>
              <a:t>• Hoses get routed out of walkways , like every 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Jammed nailer</a:t>
            </a:r>
          </a:p>
          <a:p xmlns:a="http://schemas.openxmlformats.org/drawingml/2006/main">
            <a:r>
              <a:t>The framing nailer jams mid-wall. Before you touch the jam, you…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Cord in the lane</a:t>
            </a:r>
          </a:p>
          <a:p xmlns:a="http://schemas.openxmlformats.org/drawingml/2006/main">
            <a:r>
              <a:t>Mid-setup, you notice the jigsaw’s own cord crossing under the line you’re about to cut. You…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Put the steps of a safe power-tool cut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Jigsaw</a:t>
            </a:r>
          </a:p>
          <a:p xmlns:a="http://schemas.openxmlformats.org/drawingml/2006/main">
            <a:r>
              <a:t>The curve-cutter. Its specifics:</a:t>
            </a:r>
          </a:p>
          <a:p xmlns:a="http://schemas.openxmlformats.org/drawingml/2006/main">
            <a:r>
              <a:t>• Clamp your stock - small pieces walk with the blade and take fingers along.</a:t>
            </a:r>
          </a:p>
          <a:p xmlns:a="http://schemas.openxmlformats.org/drawingml/2006/main">
            <a:r>
              <a:t>• Base plate flat on the work before you pull the trigger.</a:t>
            </a:r>
          </a:p>
          <a:p xmlns:a="http://schemas.openxmlformats.org/drawingml/2006/main">
            <a:r>
              <a:t>• Know what’s under the cut - the blade sticks out below the stock. Nothing under the line: not the bench edge, not the cord, not your hand.</a:t>
            </a:r>
          </a:p>
          <a:p xmlns:a="http://schemas.openxmlformats.org/drawingml/2006/main">
            <a:r>
              <a:t>• Let the blade stop before lifting the saw out of the cut.</a:t>
            </a:r>
          </a:p>
          <a:p xmlns:a="http://schemas.openxmlformats.org/drawingml/2006/main">
            <a:r>
              <a:t>• Forcing the cut bends and snaps blades - let the blade do the work . Unplug to change blades.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Jigsaw - blades, curves &amp; cutouts</a:t>
            </a:r>
          </a:p>
          <a:p xmlns:a="http://schemas.openxmlformats.org/drawingml/2006/main">
            <a:r>
              <a:t>Getting the cut you want, safely:</a:t>
            </a:r>
          </a:p>
          <a:p xmlns:a="http://schemas.openxmlformats.org/drawingml/2006/main">
            <a:r>
              <a:t>Match the blade to the material - wood, metal, and scroll blades are different animals; the wrong one burns, wanders, and snaps.</a:t>
            </a:r>
          </a:p>
          <a:p xmlns:a="http://schemas.openxmlformats.org/drawingml/2006/main">
            <a:r>
              <a:t>Tight curves want narrow blades - and really tight curves want relief cuts first, so the blade never binds.</a:t>
            </a:r>
          </a:p>
          <a:p xmlns:a="http://schemas.openxmlformats.org/drawingml/2006/main">
            <a:r>
              <a:t>Interior cutouts start from a drilled starter hole , never from tipping the saw into the surface.</a:t>
            </a:r>
          </a:p>
          <a:p xmlns:a="http://schemas.openxmlformats.org/drawingml/2006/main">
            <a:r>
              <a:t>A blade that starts wandering off your line is worn out - swap it (unplugged) instead of steering harder.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Compound miter saw</a:t>
            </a:r>
          </a:p>
          <a:p xmlns:a="http://schemas.openxmlformats.org/drawingml/2006/main">
            <a:r>
              <a:t>The crosscut machine. Its specifics:</a:t>
            </a:r>
          </a:p>
          <a:p xmlns:a="http://schemas.openxmlformats.org/drawingml/2006/main">
            <a:r>
              <a:t>• Stock tight against the fence - always. A gap lets the blade grab and slam the stock.</a:t>
            </a:r>
          </a:p>
          <a:p xmlns:a="http://schemas.openxmlformats.org/drawingml/2006/main">
            <a:r>
              <a:t>• Hands outside the no-hand zone (at least 6 inches from the blade path). Never cross your arms - left hand holding the right side of the blade is how people meet the blade.</a:t>
            </a:r>
          </a:p>
          <a:p xmlns:a="http://schemas.openxmlformats.org/drawingml/2006/main">
            <a:r>
              <a:t>• Full speed before the cut - let it spin up, then bring it down smoothly.</a:t>
            </a:r>
          </a:p>
          <a:p xmlns:a="http://schemas.openxmlformats.org/drawingml/2006/main">
            <a:r>
              <a:t>• After the cut, keep the blade down until it stops - a spinning blade coming up can grab the off-cut and throw it.</a:t>
            </a:r>
          </a:p>
          <a:p xmlns:a="http://schemas.openxmlformats.org/drawingml/2006/main">
            <a:r>
              <a:t>• Support long stock on both ends; never balance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Miter saw - angles &amp; short stock</a:t>
            </a:r>
          </a:p>
          <a:p xmlns:a="http://schemas.openxmlformats.org/drawingml/2006/main">
            <a:r>
              <a:t>The setups that catch people:</a:t>
            </a:r>
          </a:p>
          <a:p xmlns:a="http://schemas.openxmlformats.org/drawingml/2006/main">
            <a:r>
              <a:t>Set and lock the angle , then test on scrap - an unlocked table creeps mid-cut.</a:t>
            </a:r>
          </a:p>
          <a:p xmlns:a="http://schemas.openxmlformats.org/drawingml/2006/main">
            <a:r>
              <a:t>Long stock gets a stand or a partner (on a callout) at the far end - a see-sawing board pinches the blade.</a:t>
            </a:r>
          </a:p>
          <a:p xmlns:a="http://schemas.openxmlformats.org/drawingml/2006/main">
            <a:r>
              <a:t>Anything too short to hold outside the no-hand zone gets clamped - or cut from a longer board so your hand never gets close.</a:t>
            </a:r>
          </a:p>
          <a:p xmlns:a="http://schemas.openxmlformats.org/drawingml/2006/main">
            <a:r>
              <a:t>If a cut would put your fingers inside the zone, that cut doesn’t happen that way. There is always another 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Miter saw check</a:t>
            </a:r>
          </a:p>
          <a:p xmlns:a="http://schemas.openxmlformats.org/drawingml/2006/main">
            <a:r>
              <a:t>You just finished a cut on the miter saw. When do you raise the blade?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short piece</a:t>
            </a:r>
          </a:p>
          <a:p xmlns:a="http://schemas.openxmlformats.org/drawingml/2006/main">
            <a:r>
              <a:t>You need a 3-inch block. Holding it for the miter cut would put your fingers inside the no-hand zone. You…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saw</a:t>
            </a:r>
          </a:p>
          <a:p xmlns:a="http://schemas.openxmlformats.org/drawingml/2006/main">
            <a:r>
              <a:t>The sheet-goods saw. Its specifics:</a:t>
            </a:r>
          </a:p>
          <a:p xmlns:a="http://schemas.openxmlformats.org/drawingml/2006/main">
            <a:r>
              <a:t>• Seat the sheet fully on the rollers/rails before cutting - a cocked sheet binds the blade.</a:t>
            </a:r>
          </a:p>
          <a:p xmlns:a="http://schemas.openxmlformats.org/drawingml/2006/main">
            <a:r>
              <a:t>• Both hands on the carriage handle. Never steady the sheet with a hand near the cut line.</a:t>
            </a:r>
          </a:p>
          <a:p xmlns:a="http://schemas.openxmlformats.org/drawingml/2006/main">
            <a:r>
              <a:t>• Let the carriage return home before touching anything.</a:t>
            </a:r>
          </a:p>
          <a:p xmlns:a="http://schemas.openxmlformats.org/drawingml/2006/main">
            <a:r>
              <a:t>• Mind the off-cut - full sheets are heavy, and freed panels pinch fingers and toes. Get help catching big pieces.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saw sheet cut - in order</a:t>
            </a:r>
          </a:p>
          <a:p xmlns:a="http://schemas.openxmlformats.org/drawingml/2006/main">
            <a:r>
              <a:t>Put a full-sheet cut on the panel saw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Rip vs crosscut - know your cut</a:t>
            </a:r>
          </a:p>
          <a:p xmlns:a="http://schemas.openxmlformats.org/drawingml/2006/main">
            <a:r>
              <a:t>Two words you’ll hear every day in the shop:</a:t>
            </a:r>
          </a:p>
          <a:p xmlns:a="http://schemas.openxmlformats.org/drawingml/2006/main">
            <a:r>
              <a:t>A crosscut goes across the grain - cutting a 2×4 to length. That’s the miter saw’s job.</a:t>
            </a:r>
          </a:p>
          <a:p xmlns:a="http://schemas.openxmlformats.org/drawingml/2006/main">
            <a:r>
              <a:t>A rip cut runs along the grain or the length of a sheet. At your grade, sheet rips happen on the panel saw .</a:t>
            </a:r>
          </a:p>
          <a:p xmlns:a="http://schemas.openxmlformats.org/drawingml/2006/main">
            <a:r>
              <a:t>The table saw - the shop’s main rip machine - waits for Grade 10 and its own orientation.</a:t>
            </a:r>
          </a:p>
          <a:p xmlns:a="http://schemas.openxmlformats.org/drawingml/2006/main">
            <a:r>
              <a:t>Naming the cut tells you the tool; the tool tells you the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Which saw for the job?</a:t>
            </a:r>
          </a:p>
          <a:p xmlns:a="http://schemas.openxmlformats.org/drawingml/2006/main">
            <a:r>
              <a:t>Choosing the right saw is a safety skill - the wrong tool fights you. Match each cut to its saw: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Spot what’s wrong: the cutting station</a:t>
            </a:r>
          </a:p>
          <a:p xmlns:a="http://schemas.openxmlformats.org/drawingml/2006/main">
            <a:r>
              <a:t>Walk the saw stations and tap the 4 problems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 just finished a cut on the miter saw. When do you raise the blade?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spinning blade coming up can catch the off-cut and throw it - the blade stays down until it stops.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spinning blade coming up can catch the off-cut and throw it - the blade stays down until it stops.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driver</a:t>
            </a:r>
          </a:p>
          <a:p xmlns:a="http://schemas.openxmlformats.org/drawingml/2006/main">
            <a:r>
              <a:t>Small tool, huge torque. Its specifics:</a:t>
            </a:r>
          </a:p>
          <a:p xmlns:a="http://schemas.openxmlformats.org/drawingml/2006/main">
            <a:r>
              <a:t>• Seat the bit fully in the screw head before pulling the trigger - a half-seated bit cams out and skates.</a:t>
            </a:r>
          </a:p>
          <a:p xmlns:a="http://schemas.openxmlformats.org/drawingml/2006/main">
            <a:r>
              <a:t>• Hand off the fastener line. When the bit slips, it goes exactly where your hand was going to be.</a:t>
            </a:r>
          </a:p>
          <a:p xmlns:a="http://schemas.openxmlformats.org/drawingml/2006/main">
            <a:r>
              <a:t>• Start slow to set the threads, then run it home.</a:t>
            </a:r>
          </a:p>
          <a:p xmlns:a="http://schemas.openxmlformats.org/drawingml/2006/main">
            <a:r>
              <a:t>• Brace small work - the driver will happily spin the workpiece instead of the screw.</a:t>
            </a:r>
          </a:p>
          <a:p xmlns:a="http://schemas.openxmlformats.org/drawingml/2006/main">
            <a:r>
              <a:t>• Eye protection: screw heads snap and bits shatter.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Bits &amp; torque</a:t>
            </a:r>
          </a:p>
          <a:p xmlns:a="http://schemas.openxmlformats.org/drawingml/2006/main">
            <a:r>
              <a:t>The details that separate clean driving from stripped screws:</a:t>
            </a:r>
          </a:p>
          <a:p xmlns:a="http://schemas.openxmlformats.org/drawingml/2006/main">
            <a:r>
              <a:t>Right bit, right size - a PH2 in a PH3 screw strips both. Check before you drive.</a:t>
            </a:r>
          </a:p>
          <a:p xmlns:a="http://schemas.openxmlformats.org/drawingml/2006/main">
            <a:r>
              <a:t>Worn bits get binned , not babied - a rounded bit cams out no matter how hard you push.</a:t>
            </a:r>
          </a:p>
          <a:p xmlns:a="http://schemas.openxmlformats.org/drawingml/2006/main">
            <a:r>
              <a:t>Impact drivers hammer - that rattle is the mechanism working, and it’s loud : hearing protection when the driving runs long.</a:t>
            </a:r>
          </a:p>
          <a:p xmlns:a="http://schemas.openxmlformats.org/drawingml/2006/main">
            <a:r>
              <a:t>Small screws snap under full impact - ease off as the head seats.</a:t>
            </a:r>
          </a:p>
          <a:p xmlns:a="http://schemas.openxmlformats.org/drawingml/2006/main">
            <a:r>
              <a:t>Pilot holes near edges stop the split before it 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Random orbital sander</a:t>
            </a:r>
          </a:p>
          <a:p xmlns:a="http://schemas.openxmlformats.org/drawingml/2006/main">
            <a:r>
              <a:t>The dust machine. Its specifics:</a:t>
            </a:r>
          </a:p>
          <a:p xmlns:a="http://schemas.openxmlformats.org/drawingml/2006/main">
            <a:r>
              <a:t>• Dust protection on, dust collection attached - fine dust is the hazard you can’t see hurting you.</a:t>
            </a:r>
          </a:p>
          <a:p xmlns:a="http://schemas.openxmlformats.org/drawingml/2006/main">
            <a:r>
              <a:t>• Don’t press. The tool’s weight is enough; leaning on it burns the paper, scorches the stock, and stalls the pad.</a:t>
            </a:r>
          </a:p>
          <a:p xmlns:a="http://schemas.openxmlformats.org/drawingml/2006/main">
            <a:r>
              <a:t>• Let the pad stop before you set it down - a live sander walks off the bench.</a:t>
            </a:r>
          </a:p>
          <a:p xmlns:a="http://schemas.openxmlformats.org/drawingml/2006/main">
            <a:r>
              <a:t>• Secure small pieces ; the sander is strong enough to launch them.</a:t>
            </a:r>
          </a:p>
          <a:p xmlns:a="http://schemas.openxmlformats.org/drawingml/2006/main">
            <a:r>
              <a:t>• Keep the cord behind the tool , never under the pad.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Grits &amp; technique</a:t>
            </a:r>
          </a:p>
          <a:p xmlns:a="http://schemas.openxmlformats.org/drawingml/2006/main">
            <a:r>
              <a:t>Sanding well is sanding safely - fighting the tool is what causes slips:</a:t>
            </a:r>
          </a:p>
          <a:p xmlns:a="http://schemas.openxmlformats.org/drawingml/2006/main">
            <a:r>
              <a:t>Work the grit ladder: 80 → 120 → 220 . Skipping grits means pressing harder for less result.</a:t>
            </a:r>
          </a:p>
          <a:p xmlns:a="http://schemas.openxmlformats.org/drawingml/2006/main">
            <a:r>
              <a:t>Keep the pad flat and moving - parking it in one spot digs a dish you’ll sand an hour to fix.</a:t>
            </a:r>
          </a:p>
          <a:p xmlns:a="http://schemas.openxmlformats.org/drawingml/2006/main">
            <a:r>
              <a:t>Edges round over in seconds - ease up when you get near them.</a:t>
            </a:r>
          </a:p>
          <a:p xmlns:a="http://schemas.openxmlformats.org/drawingml/2006/main">
            <a:r>
              <a:t>Let the paper do the work: if you’re pressing, the paper’s done - change it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Stapler &amp; framing nailer</a:t>
            </a:r>
          </a:p>
          <a:p xmlns:a="http://schemas.openxmlformats.org/drawingml/2006/main">
            <a:r>
              <a:t>You learned the air rules in Power Tool Basics - here are the gun-specific ones:</a:t>
            </a:r>
          </a:p>
          <a:p xmlns:a="http://schemas.openxmlformats.org/drawingml/2006/main">
            <a:r>
              <a:t>• The contact safety tip on the nose is what stops accidental fires. It is never held down, taped, or bypassed . Never.</a:t>
            </a:r>
          </a:p>
          <a:p xmlns:a="http://schemas.openxmlformats.org/drawingml/2006/main">
            <a:r>
              <a:t>• Sequential fire : nose on the work first, then the trigger.</a:t>
            </a:r>
          </a:p>
          <a:p xmlns:a="http://schemas.openxmlformats.org/drawingml/2006/main">
            <a:r>
              <a:t>• Hands at least a hand-span from the fire line. Staples and nails follow the grain and deflect off knots - they can exit the wood sideways .</a:t>
            </a:r>
          </a:p>
          <a:p xmlns:a="http://schemas.openxmlformats.org/drawingml/2006/main">
            <a:r>
              <a:t>• The framing nailer recoils - grip it, expect it.</a:t>
            </a:r>
          </a:p>
          <a:p xmlns:a="http://schemas.openxmlformats.org/drawingml/2006/main">
            <a:r>
              <a:t>• Carry with your finger off the trigger ; disconnect air to clear jams or hand it 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Nailer check</a:t>
            </a:r>
          </a:p>
          <a:p xmlns:a="http://schemas.openxmlformats.org/drawingml/2006/main">
            <a:r>
              <a:t>Your palm is bracing a stud about 2 inches from where you’re about to shoot a nail. Fire?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Driver &amp; sander habits</a:t>
            </a:r>
          </a:p>
          <a:p xmlns:a="http://schemas.openxmlformats.org/drawingml/2006/main">
            <a:r>
              <a:t>Sort each habit: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Your palm is bracing a stud about 2 inches from where you’re about to shoot a nail. Fire?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Nails follow the grain and bounce off knots - a hand-span of clearance from the fire line, minimum.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Nails follow the grain and bounce off knots - a hand-span of clearance from the fire line, minimum.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Ladders &amp; working at height</a:t>
            </a:r>
          </a:p>
          <a:p xmlns:a="http://schemas.openxmlformats.org/drawingml/2006/main">
            <a:r>
              <a:t>Know the ladder and working-at-height rules and be able to state them:</a:t>
            </a:r>
          </a:p>
          <a:p xmlns:a="http://schemas.openxmlformats.org/drawingml/2006/main">
            <a:r>
              <a:t>• A ladder is set on stable ground and steadied - never climbed alone in the shop.</a:t>
            </a:r>
          </a:p>
          <a:p xmlns:a="http://schemas.openxmlformats.org/drawingml/2006/main">
            <a:r>
              <a:t>• Keep three points of contact and never overreach; climb down and move the ladder instead.</a:t>
            </a:r>
          </a:p>
          <a:p xmlns:a="http://schemas.openxmlformats.org/drawingml/2006/main">
            <a:r>
              <a:t>• Nothing is carried up that can’t be carried safely; nothing gets dropped, ever.</a:t>
            </a:r>
          </a:p>
          <a:p xmlns:a="http://schemas.openxmlformats.org/drawingml/2006/main">
            <a:r>
              <a:t>Anyone working below wears the hazard in mind: if work is happening overhead, stay clear or call it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hardware: C-clamp, wrench &amp; safety cable</a:t>
            </a:r>
          </a:p>
          <a:p xmlns:a="http://schemas.openxmlformats.org/drawingml/2006/main">
            <a:r>
              <a:t>Your first lighting tools are hardware - and hardware has rules:</a:t>
            </a:r>
          </a:p>
          <a:p xmlns:a="http://schemas.openxmlformats.org/drawingml/2006/main">
            <a:r>
              <a:t>The wrench fits the bolt snugly - an adjustable wrench gets set tight; a loose fit rounds the bolt and skins knuckles.</a:t>
            </a:r>
          </a:p>
          <a:p xmlns:a="http://schemas.openxmlformats.org/drawingml/2006/main">
            <a:r>
              <a:t>Tighten the C-clamp snug, not gorilla-tight - over-torquing cracks clamps and pipes.</a:t>
            </a:r>
          </a:p>
          <a:p xmlns:a="http://schemas.openxmlformats.org/drawingml/2006/main">
            <a:r>
              <a:t>At height, the wrench is tethered or in a closed pocket - a dropped wrench from the grid is a missile with your name on the incident report.</a:t>
            </a:r>
          </a:p>
          <a:p xmlns:a="http://schemas.openxmlformats.org/drawingml/2006/main">
            <a:r>
              <a:t>The safety cable goes through the fixture’s yoke and around the pipe , clipped back on itself - so it catches the fixture even if the whole clamp lets 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Power, plugs &amp; equipment care</a:t>
            </a:r>
          </a:p>
          <a:p xmlns:a="http://schemas.openxmlformats.org/drawingml/2006/main">
            <a:r>
              <a:t>The rules for anything with a plug - consoles, playback, monitors, practicals:</a:t>
            </a:r>
          </a:p>
          <a:p xmlns:a="http://schemas.openxmlformats.org/drawingml/2006/main">
            <a:r>
              <a:t>Dry hands only on switches, plugs, and equipment - and never use electrical equipment near water or wet floors. Moisture conducts.</a:t>
            </a:r>
          </a:p>
          <a:p xmlns:a="http://schemas.openxmlformats.org/drawingml/2006/main">
            <a:r>
              <a:t>Before moving any equipment, disconnect and clear its cables. A dangling cord is a trip line and a broken connector.</a:t>
            </a:r>
          </a:p>
          <a:p xmlns:a="http://schemas.openxmlformats.org/drawingml/2006/main">
            <a:r>
              <a:t>Never defeat grounding - no forcing a three-prong plug into a two-prong outlet, ever. That third pin is what keeps a fault from going through you.</a:t>
            </a:r>
          </a:p>
          <a:p xmlns:a="http://schemas.openxmlformats.org/drawingml/2006/main">
            <a:r>
              <a:t>Connect gear only to the power type marked on it ; route cords where they can’t be walked on or pinched .</a:t>
            </a:r>
          </a:p>
          <a:p xmlns:a="http://schemas.openxmlformats.org/drawingml/2006/main">
            <a:r>
              <a:t>Give equipment ventilation - racks and amps cook when boxed in - and keep liquids and stray objects out of the openings.</a:t>
            </a:r>
          </a:p>
          <a:p xmlns:a="http://schemas.openxmlformats.org/drawingml/2006/main">
            <a:r>
              <a:t>Don’t service beyond the manual. Anything deeper goes to qualified personnel.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Gels, gobos &amp; hot fronts</a:t>
            </a:r>
          </a:p>
          <a:p xmlns:a="http://schemas.openxmlformats.org/drawingml/2006/main">
            <a:r>
              <a:t>Handling the pretty parts safely:</a:t>
            </a:r>
          </a:p>
          <a:p xmlns:a="http://schemas.openxmlformats.org/drawingml/2006/main">
            <a:r>
              <a:t>Gels ride in gel frames - a loose gel stuffed in a fixture melts, smokes, and stinks up a performance.</a:t>
            </a:r>
          </a:p>
          <a:p xmlns:a="http://schemas.openxmlformats.org/drawingml/2006/main">
            <a:r>
              <a:t>Gobos are thin sharp steel - handle by the rim, like a razor-edged coin.</a:t>
            </a:r>
          </a:p>
          <a:p xmlns:a="http://schemas.openxmlformats.org/drawingml/2006/main">
            <a:r>
              <a:t>Warn everyone before switching an instrument on - nobody should be staring into a light that doesn’t announce itself.</a:t>
            </a:r>
          </a:p>
          <a:p xmlns:a="http://schemas.openxmlformats.org/drawingml/2006/main">
            <a:r>
              <a:t>Assume any instrument is extremely hot - even switched off. The front end (barrel, gel frame, shutters) holds burn heat long after the cue.</a:t>
            </a:r>
          </a:p>
          <a:p xmlns:a="http://schemas.openxmlformats.org/drawingml/2006/main">
            <a:r>
              <a:t>Keep instruments and flammable items apart - soft goods, paper, and scenery cook against a hot fixture.</a:t>
            </a:r>
          </a:p>
          <a:p xmlns:a="http://schemas.openxmlformats.org/drawingml/2006/main">
            <a:r>
              <a:t>Ask before touching any hung fixture - you don’t know how long it’s been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Cable care &amp; over-under</a:t>
            </a:r>
          </a:p>
          <a:p xmlns:a="http://schemas.openxmlformats.org/drawingml/2006/main">
            <a:r>
              <a:t>Cable is equipment, not rope:</a:t>
            </a:r>
          </a:p>
          <a:p xmlns:a="http://schemas.openxmlformats.org/drawingml/2006/main">
            <a:r>
              <a:t>Coil over-under so it pays out flat without kinks - a kinked cable is a damaged cable waiting to happen.</a:t>
            </a:r>
          </a:p>
          <a:p xmlns:a="http://schemas.openxmlformats.org/drawingml/2006/main">
            <a:r>
              <a:t>Out of walkways , always - tape it down or reroute it.</a:t>
            </a:r>
          </a:p>
          <a:p xmlns:a="http://schemas.openxmlformats.org/drawingml/2006/main">
            <a:r>
              <a:t>Never yank a connector out by its cable - grip the connector itself.</a:t>
            </a:r>
          </a:p>
          <a:p xmlns:a="http://schemas.openxmlformats.org/drawingml/2006/main">
            <a:r>
              <a:t>Never pinch cable in doorways or run it over sharp edges .</a:t>
            </a:r>
          </a:p>
          <a:p xmlns:a="http://schemas.openxmlformats.org/drawingml/2006/main">
            <a:r>
              <a:t>Wet floors and cable don’t mix - dry first, then run power.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Hang a fixture - in order</a:t>
            </a:r>
          </a:p>
          <a:p xmlns:a="http://schemas.openxmlformats.org/drawingml/2006/main">
            <a:r>
              <a:t>Put the steps of hanging a fixture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Inspect before you use</a:t>
            </a:r>
          </a:p>
          <a:p xmlns:a="http://schemas.openxmlformats.org/drawingml/2006/main">
            <a:r>
              <a:t>You now work safely at height and around circuits with general supervision . That comes with a duty: inspect cables and fixtures before use - cracked connectors, frayed jacket, loose clamp, missing safety cable.</a:t>
            </a:r>
          </a:p>
          <a:p xmlns:a="http://schemas.openxmlformats.org/drawingml/2006/main">
            <a:r>
              <a:t>And when you find a fault, report it without prompting . A damaged cable that goes back in the bin unfixed is a trap for the next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Lock-out / tag-out</a:t>
            </a:r>
          </a:p>
          <a:p xmlns:a="http://schemas.openxmlformats.org/drawingml/2006/main">
            <a:r>
              <a:t>When equipment is unsafe, it comes out of service - visibly :</a:t>
            </a:r>
          </a:p>
          <a:p xmlns:a="http://schemas.openxmlformats.org/drawingml/2006/main">
            <a:r>
              <a:t>A tag (or lock) on a tool, cable, or machine means: dead until the instructor clears it . You don’t use it, you don’t “just test it,” and you never remove the tag.</a:t>
            </a:r>
          </a:p>
          <a:p xmlns:a="http://schemas.openxmlformats.org/drawingml/2006/main">
            <a:r>
              <a:t>That’s the student half of lock-out/tag-out - the industry system that keeps someone from powering up gear another person is working on.</a:t>
            </a:r>
          </a:p>
          <a:p xmlns:a="http://schemas.openxmlformats.org/drawingml/2006/main">
            <a:r>
              <a:t>The other half: your instructor inspects equipment weekly and documents it. Your pre-use inspection is the daily layer on top of that.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Hot focus</a:t>
            </a:r>
          </a:p>
          <a:p xmlns:a="http://schemas.openxmlformats.org/drawingml/2006/main">
            <a:r>
              <a:t>Refocusing fixtures that have been running is normal electrics work - done the right way:</a:t>
            </a:r>
          </a:p>
          <a:p xmlns:a="http://schemas.openxmlformats.org/drawingml/2006/main">
            <a:r>
              <a:t>Gloves for a hot fixture - or kill the channel and let it cool. A Source Four that’s been on all rehearsal blisters skin.</a:t>
            </a:r>
          </a:p>
          <a:p xmlns:a="http://schemas.openxmlformats.org/drawingml/2006/main">
            <a:r>
              <a:t>Loosen the right bolt - know your pan bolt from your tilt bolt so the unit moves where you expect instead of swinging free.</a:t>
            </a:r>
          </a:p>
          <a:p xmlns:a="http://schemas.openxmlformats.org/drawingml/2006/main">
            <a:r>
              <a:t>Wrench tethered or pocketed , same as every trip up the ladder.</a:t>
            </a:r>
          </a:p>
          <a:p xmlns:a="http://schemas.openxmlformats.org/drawingml/2006/main">
            <a:r>
              <a:t>Call your moves: “going into channel 12” - so the board op doesn’t light you up mid-grab.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your hearing</a:t>
            </a:r>
          </a:p>
          <a:p xmlns:a="http://schemas.openxmlformats.org/drawingml/2006/main">
            <a:r>
              <a:t>Sound level is measured as SPL (sound pressure level). Loud sound damages the tiny hair cells in your inner ear - and that damage is cumulative and permanent . It never heals, it only adds up.</a:t>
            </a:r>
          </a:p>
          <a:p xmlns:a="http://schemas.openxmlformats.org/drawingml/2006/main">
            <a:r>
              <a:t>So: wear hearing protection around loud tools and loud playback, keep your distance from speakers at show level, and treat ringing ears as a warning you already went too far.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Ringing ears</a:t>
            </a:r>
          </a:p>
          <a:p xmlns:a="http://schemas.openxmlformats.org/drawingml/2006/main">
            <a:r>
              <a:t>After a loud work session, your ears are ringing. What does that mean?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Headsets &amp; comms</a:t>
            </a:r>
          </a:p>
          <a:p xmlns:a="http://schemas.openxmlformats.org/drawingml/2006/main">
            <a:r>
              <a:t>The “no earbuds in the shop” rule has a show-business nuance:</a:t>
            </a:r>
          </a:p>
          <a:p xmlns:a="http://schemas.openxmlformats.org/drawingml/2006/main">
            <a:r>
              <a:t>Personal earbuds and headphones never belong in the work environment - they mask callouts, warnings, and the sound of trouble.</a:t>
            </a:r>
          </a:p>
          <a:p xmlns:a="http://schemas.openxmlformats.org/drawingml/2006/main">
            <a:r>
              <a:t>Production intercom is the exception - it exists so the crew can hear each other . Keep one ear open around moving scenery, keep chatter short and clean, and never let a joke on comms bury a “heads up.”</a:t>
            </a:r>
          </a:p>
          <a:p xmlns:a="http://schemas.openxmlformats.org/drawingml/2006/main">
            <a:r>
              <a:t>If you can’t hear the room, you’re not safe in the 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Fog, haze &amp; atmospherics</a:t>
            </a:r>
          </a:p>
          <a:p xmlns:a="http://schemas.openxmlformats.org/drawingml/2006/main">
            <a:r>
              <a:t>Atmosphere looks like magic and behaves like a chemical plus a slip hazard:</a:t>
            </a:r>
          </a:p>
          <a:p xmlns:a="http://schemas.openxmlformats.org/drawingml/2006/main">
            <a:r>
              <a:t>Use only approved fluids in fog and haze machines - the fluid’s SDS lives in the binder like every other chemical.</a:t>
            </a:r>
          </a:p>
          <a:p xmlns:a="http://schemas.openxmlformats.org/drawingml/2006/main">
            <a:r>
              <a:t>Heavy fog is a respiratory consideration - ventilation matters, and anyone with asthma should say so before the effect runs.</a:t>
            </a:r>
          </a:p>
          <a:p xmlns:a="http://schemas.openxmlformats.org/drawingml/2006/main">
            <a:r>
              <a:t>Fluid residue makes decks slick - watch the floor near the machine and mop drips.</a:t>
            </a:r>
          </a:p>
          <a:p xmlns:a="http://schemas.openxmlformats.org/drawingml/2006/main">
            <a:r>
              <a:t>Fog and haze can trip smoke alarms - effects run only with the instructor, coordinated with the venue.</a:t>
            </a:r>
          </a:p>
          <a:p xmlns:a="http://schemas.openxmlformats.org/drawingml/2006/main">
            <a:r>
              <a:t>The machine’s output and nozzle get hot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Handling &amp; rigging speakers</a:t>
            </a:r>
          </a:p>
          <a:p xmlns:a="http://schemas.openxmlformats.org/drawingml/2006/main">
            <a:r>
              <a:t>Speakers are heavy, awkward, and often end up over people’s heads.</a:t>
            </a:r>
          </a:p>
          <a:p xmlns:a="http://schemas.openxmlformats.org/drawingml/2006/main">
            <a:r>
              <a:t>• Lift and move them with help - protect your back and the cabinet.</a:t>
            </a:r>
          </a:p>
          <a:p xmlns:a="http://schemas.openxmlformats.org/drawingml/2006/main">
            <a:r>
              <a:t>• Anything flown or mounted overhead uses rated hardware and rigging points , secured so it cannot fall.</a:t>
            </a:r>
          </a:p>
          <a:p xmlns:a="http://schemas.openxmlformats.org/drawingml/2006/main">
            <a:r>
              <a:t>• Never stack or perch a speaker where a bump or a cable snag could bring it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Speakers: do - or never?</a:t>
            </a:r>
          </a:p>
          <a:p xmlns:a="http://schemas.openxmlformats.org/drawingml/2006/main">
            <a:r>
              <a:t>Sort each speaker move: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A task is going to fill the air with fine dust. Which PPE does that call for?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Dust protection is required whenever a task puts fine dust in the air; safety glasses and hearing protection guard against different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Dust protection is required whenever a task puts fine dust in the air; safety glasses and hearing protection guard against different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 discover a fire in the scene shop. What do you do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location and the nature of the fire, to the nearest adult - and never a panic shout in a crowded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location and the nature of the fire, to the nearest adult - and never a panic shout in a crowded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Before using any power or pneumatic tool for the first time, you must…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power and pneumatic tool requires passing its own safety orientation before you use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power and pneumatic tool requires passing its own safety orientation before you use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utility-knife blade is safer?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Dull blades need force, and force is what slips - fresh, sharp blades are the safe 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Dull blades need force, and force is what slips - fresh, sharp blades are the safe 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Grade 8 section and name the level of supervision students are working toward.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Welcome to certification week</a:t>
            </a:r>
          </a:p>
          <a:p xmlns:a="http://schemas.openxmlformats.org/drawingml/2006/main">
            <a:r>
              <a:t>This week you earn your shop certification - proof that you know every rule and every tool you’re responsible for at your grade level, including everything from past years.</a:t>
            </a:r>
          </a:p>
          <a:p xmlns:a="http://schemas.openxmlformats.org/drawingml/2006/main">
            <a:r>
              <a:t>Plan on about 45 minutes of training a day : Days 1–4 are training modules, Day 5 is the certification quiz. The quiz needs 100% - and anything you miss sends you back to retrain that module. That’s not punishment; it’s how real shops qualify people.</a:t>
            </a:r>
          </a:p>
          <a:p xmlns:a="http://schemas.openxmlformats.org/drawingml/2006/main">
            <a:r>
              <a:t>Passing this lab is step one of the district’s safety program. Before you operate anything, your teacher still gives you hands-on demonstrations and a guided-practice sign-off on each piece of equipment - and nothing in this shop is ever operated without the instructor’s permission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Permission &amp; attention</a:t>
            </a:r>
          </a:p>
          <a:p xmlns:a="http://schemas.openxmlformats.org/drawingml/2006/main">
            <a:r>
              <a:t>The rule the district prints in capital letters: DO NOT OPERATE EQUIPMENT WITHOUT PERMISSION FROM THE INSTRUCTOR. Not before class, not during, not after - safety instruction and the instructor’s go-ahead come first, every time.</a:t>
            </a:r>
          </a:p>
          <a:p xmlns:a="http://schemas.openxmlformats.org/drawingml/2006/main">
            <a:r>
              <a:t>Keep your mind on the work. A moment of lost attention is how serious accidents happen.</a:t>
            </a:r>
          </a:p>
          <a:p xmlns:a="http://schemas.openxmlformats.org/drawingml/2006/main">
            <a:r>
              <a:t>No earbuds or headphones in the work environment - they mask warnings, callouts, and the sound of a machine going wrong. (Production intercom during shows is the one exception, used with discipline.)</a:t>
            </a:r>
          </a:p>
          <a:p xmlns:a="http://schemas.openxmlformats.org/drawingml/2006/main">
            <a:r>
              <a:t>When in doubt, ask the instructor - not the student next to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Dress for the shop</a:t>
            </a:r>
          </a:p>
          <a:p xmlns:a="http://schemas.openxmlformats.org/drawingml/2006/main">
            <a:r>
              <a:t>Shop safety starts before you touch a tool - with what you’re wearing:</a:t>
            </a:r>
          </a:p>
          <a:p xmlns:a="http://schemas.openxmlformats.org/drawingml/2006/main">
            <a:r>
              <a:t>Closed-toe shoes, every shop day. No sandals, no slides, no exceptions - dropped lumber doesn’t care how careful you were.</a:t>
            </a:r>
          </a:p>
          <a:p xmlns:a="http://schemas.openxmlformats.org/drawingml/2006/main">
            <a:r>
              <a:t>Long hair tied back. Hair near a spinning tool gets pulled in faster than you can react.</a:t>
            </a:r>
          </a:p>
          <a:p xmlns:a="http://schemas.openxmlformats.org/drawingml/2006/main">
            <a:r>
              <a:t>No dangling anything - jewelry, hoodie strings, loose sleeves, lanyards. If it hangs, it catches.</a:t>
            </a:r>
          </a:p>
          <a:p xmlns:a="http://schemas.openxmlformats.org/drawingml/2006/main">
            <a:r>
              <a:t>Sleeves rolled above the elbows , nothing loose at the wrists.</a:t>
            </a:r>
          </a:p>
          <a:p xmlns:a="http://schemas.openxmlformats.org/drawingml/2006/main">
            <a:r>
              <a:t>Gloves only where the task calls for them - rough lumber, hot fixtures, chemicals. Never around spinning blades or bits: a caught glove pulls the hand in with it.</a:t>
            </a:r>
          </a:p>
          <a:p xmlns:a="http://schemas.openxmlformats.org/drawingml/2006/main">
            <a:r>
              <a:t>No running, no horseplay. Ever. The shop is the one room where a joke shove can cost a finger.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Know your hazards</a:t>
            </a:r>
          </a:p>
          <a:p xmlns:a="http://schemas.openxmlformats.org/drawingml/2006/main">
            <a:r>
              <a:t>A theatre shop is full of things that can hurt you if you don’t see them coming: sharp tools and blades , things falling from above , dust in the air , loud noise , and cords, lumber, and clutter you can trip over .</a:t>
            </a:r>
          </a:p>
          <a:p xmlns:a="http://schemas.openxmlformats.org/drawingml/2006/main">
            <a:r>
              <a:t>Your first safety skill is simple: look around and name the hazards before you start any task. If you can’t name what could go wrong, you’re not ready to 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Spot the hazards</a:t>
            </a:r>
          </a:p>
          <a:p xmlns:a="http://schemas.openxmlformats.org/drawingml/2006/main">
            <a:r>
              <a:t>Time to use that skill. Look around this shop and tap everything that’s a hazard - there are 5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Lifting &amp; carrying</a:t>
            </a:r>
          </a:p>
          <a:p xmlns:a="http://schemas.openxmlformats.org/drawingml/2006/main">
            <a:r>
              <a:t>More shop injuries come from carrying than from cutting:</a:t>
            </a:r>
          </a:p>
          <a:p xmlns:a="http://schemas.openxmlformats.org/drawingml/2006/main">
            <a:r>
              <a:t>Lift with your legs - squat, keep your back near-vertical, hug the load close, stand. Your back is not a crane.</a:t>
            </a:r>
          </a:p>
          <a:p xmlns:a="http://schemas.openxmlformats.org/drawingml/2006/main">
            <a:r>
              <a:t>Never lift more than you can handle easily - over about 25 pounds, get help.</a:t>
            </a:r>
          </a:p>
          <a:p xmlns:a="http://schemas.openxmlformats.org/drawingml/2006/main">
            <a:r>
              <a:t>Clear your path before you pick anything up - most carrying accidents are collisions with things left on the floor or hanging at head height.</a:t>
            </a:r>
          </a:p>
          <a:p xmlns:a="http://schemas.openxmlformats.org/drawingml/2006/main">
            <a:r>
              <a:t>Team-lift anything long or heavy , and lift on a call: “ready - lift on three.” Same for setting down.</a:t>
            </a:r>
          </a:p>
          <a:p xmlns:a="http://schemas.openxmlformats.org/drawingml/2006/main">
            <a:r>
              <a:t>Carrying long stock: watch both ends , keep the front end high, and call the corners (“coming around!”).</a:t>
            </a:r>
          </a:p>
          <a:p xmlns:a="http://schemas.openxmlformats.org/drawingml/2006/main">
            <a:r>
              <a:t>Gloves for rough lumber - splinters are the tax on bare hands.</a:t>
            </a:r>
          </a:p>
          <a:p xmlns:a="http://schemas.openxmlformats.org/drawingml/2006/main">
            <a:r>
              <a:t>Watch the pinch points when setting anything down: fingers out from under, always.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Emergencies &amp; injuries</a:t>
            </a:r>
          </a:p>
          <a:p xmlns:a="http://schemas.openxmlformats.org/drawingml/2006/main">
            <a:r>
              <a:t>Know these before you touch a single tool:</a:t>
            </a:r>
          </a:p>
          <a:p xmlns:a="http://schemas.openxmlformats.org/drawingml/2006/main">
            <a:r>
              <a:t>If anyone yells “STOP” or “HOLD” , all work stops instantly - no questions, hands off, tools down.</a:t>
            </a:r>
          </a:p>
          <a:p xmlns:a="http://schemas.openxmlformats.org/drawingml/2006/main">
            <a:r>
              <a:t>Every injury gets reported to the teacher immediately - no matter how slight - and an incident report is filed. A tiny cut in a dusty shop gets infected; a “small” incident often means a hazard that will hurt the next person worse.</a:t>
            </a:r>
          </a:p>
          <a:p xmlns:a="http://schemas.openxmlformats.org/drawingml/2006/main">
            <a:r>
              <a:t>Know where the first-aid kit lives.</a:t>
            </a:r>
          </a:p>
          <a:p xmlns:a="http://schemas.openxmlformats.org/drawingml/2006/main">
            <a:r>
              <a:t>Fire gets its own full module - alarms, exits, extinguisher classes, and how to report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PPE without reminders</a:t>
            </a:r>
          </a:p>
          <a:p xmlns:a="http://schemas.openxmlformats.org/drawingml/2006/main">
            <a:r>
              <a:t>You’ve been introduced to PPE - now the bar is higher: select and wear the correct PPE for the task without being reminded .</a:t>
            </a:r>
          </a:p>
          <a:p xmlns:a="http://schemas.openxmlformats.org/drawingml/2006/main">
            <a:r>
              <a:t>Safety glasses for cutting and drilling, hearing protection around loud tools, dust protection when sanding. Nobody should ever have to tell you. If you’re reaching for a tool, you’ve already reached for your PPE.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Pre-use check: good to go, or report it?</a:t>
            </a:r>
          </a:p>
          <a:p xmlns:a="http://schemas.openxmlformats.org/drawingml/2006/main">
            <a:r>
              <a:t>Before using any tool you do a pre-use safety check - and anything unsafe gets reported , even if it isn’t yours. Sort each finding: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Dust - the slow hazard</a:t>
            </a:r>
          </a:p>
          <a:p xmlns:a="http://schemas.openxmlformats.org/drawingml/2006/main">
            <a:r>
              <a:t>The hazard you can’t feel hurting you:</a:t>
            </a:r>
          </a:p>
          <a:p xmlns:a="http://schemas.openxmlformats.org/drawingml/2006/main">
            <a:r>
              <a:t>Fine wood dust harms lungs over years , not minutes - which is why nobody takes it seriously until it’s late. Take it seriously now.</a:t>
            </a:r>
          </a:p>
          <a:p xmlns:a="http://schemas.openxmlformats.org/drawingml/2006/main">
            <a:r>
              <a:t>Dust collection on whenever the sander or saws run.</a:t>
            </a:r>
          </a:p>
          <a:p xmlns:a="http://schemas.openxmlformats.org/drawingml/2006/main">
            <a:r>
              <a:t>Clean up dust by sweeping or vacuuming - never by blasting it airborne with the compressor.</a:t>
            </a:r>
          </a:p>
          <a:p xmlns:a="http://schemas.openxmlformats.org/drawingml/2006/main">
            <a:r>
              <a:t>The dust mask is for making dust and for cleaning it up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air hose is not a broom</a:t>
            </a:r>
          </a:p>
          <a:p xmlns:a="http://schemas.openxmlformats.org/drawingml/2006/main">
            <a:r>
              <a:t>You’re covered in sawdust after sanding, and the compressor hose is right there. Blow yourself off?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Chemicals, SDS &amp; the eyewash station</a:t>
            </a:r>
          </a:p>
          <a:p xmlns:a="http://schemas.openxmlformats.org/drawingml/2006/main">
            <a:r>
              <a:t>Paint, adhesives, solvents, and fog fluid are chemicals - and every chemical in the shop has a Safety Data Sheet (SDS) :</a:t>
            </a:r>
          </a:p>
          <a:p xmlns:a="http://schemas.openxmlformats.org/drawingml/2006/main">
            <a:r>
              <a:t>The SDS binder lists each product’s hazards, handling rules, and first aid. Know where it lives.</a:t>
            </a:r>
          </a:p>
          <a:p xmlns:a="http://schemas.openxmlformats.org/drawingml/2006/main">
            <a:r>
              <a:t>Chemicals stay in labeled, closed containers - never in mystery cups or water bottles.</a:t>
            </a:r>
          </a:p>
          <a:p xmlns:a="http://schemas.openxmlformats.org/drawingml/2006/main">
            <a:r>
              <a:t>Rubber gloves are the exception to the no-gloves rule: wear them for stains, resins, and bleaches (never around spinning machines).</a:t>
            </a:r>
          </a:p>
          <a:p xmlns:a="http://schemas.openxmlformats.org/drawingml/2006/main">
            <a:r>
              <a:t>Know where the eyewash station is before you need it - you won’t be able to look for it with chemicals in your eyes.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Time to use that skill. Look around this shop and tap everything that’s a hazard - there are 5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 cord run across the walkway: Trip hazard - cords get routed out of walking paths.</a:t>
            </a:r>
          </a:p>
          <a:p xmlns:a="http://schemas.openxmlformats.org/drawingml/2006/main">
            <a:r>
              <a:t>Hand saw left blade-up on the bench: Sharp edges get sheathed or racked, never left out.</a:t>
            </a:r>
          </a:p>
          <a:p xmlns:a="http://schemas.openxmlformats.org/drawingml/2006/main">
            <a:r>
              <a:t>Boxes stacked in front of the exit: Exits stay clear - always.</a:t>
            </a:r>
          </a:p>
          <a:p xmlns:a="http://schemas.openxmlformats.org/drawingml/2006/main">
            <a:r>
              <a:t>Open drink next to the work area: Spills around tools and electricity - drinks stay out of the shop.</a:t>
            </a:r>
          </a:p>
          <a:p xmlns:a="http://schemas.openxmlformats.org/drawingml/2006/main">
            <a:r>
              <a:t>Board with a nail sticking out: Pull or bend nails the moment you see them.</a:t>
            </a:r>
          </a:p>
          <a:p xmlns:a="http://schemas.openxmlformats.org/drawingml/2006/main">
            <a:r>
              <a:t>Safety glasses on the PPE shelf: that’s exactly where PPE belongs.</a:t>
            </a:r>
          </a:p>
          <a:p xmlns:a="http://schemas.openxmlformats.org/drawingml/2006/main">
            <a:r>
              <a:t>Fire extinguisher on its wall hook: visible and ready - just right.</a:t>
            </a:r>
          </a:p>
          <a:p xmlns:a="http://schemas.openxmlformats.org/drawingml/2006/main">
            <a:r>
              <a:t>Swept floor, broom racked: good housekeeping is what prevents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 cord run across the walkway: Trip hazard - cords get routed out of walking paths.</a:t>
            </a:r>
          </a:p>
          <a:p xmlns:a="http://schemas.openxmlformats.org/drawingml/2006/main">
            <a:r>
              <a:t>Hand saw left blade-up on the bench: Sharp edges get sheathed or racked, never left out.</a:t>
            </a:r>
          </a:p>
          <a:p xmlns:a="http://schemas.openxmlformats.org/drawingml/2006/main">
            <a:r>
              <a:t>Boxes stacked in front of the exit: Exits stay clear - always.</a:t>
            </a:r>
          </a:p>
          <a:p xmlns:a="http://schemas.openxmlformats.org/drawingml/2006/main">
            <a:r>
              <a:t>Open drink next to the work area: Spills around tools and electricity - drinks stay out of the shop.</a:t>
            </a:r>
          </a:p>
          <a:p xmlns:a="http://schemas.openxmlformats.org/drawingml/2006/main">
            <a:r>
              <a:t>Board with a nail sticking out: Pull or bend nails the moment you see them.</a:t>
            </a:r>
          </a:p>
          <a:p xmlns:a="http://schemas.openxmlformats.org/drawingml/2006/main">
            <a:r>
              <a:t>Safety glasses on the PPE shelf: that’s exactly where PPE belongs.</a:t>
            </a:r>
          </a:p>
          <a:p xmlns:a="http://schemas.openxmlformats.org/drawingml/2006/main">
            <a:r>
              <a:t>Fire extinguisher on its wall hook: visible and ready - just right.</a:t>
            </a:r>
          </a:p>
          <a:p xmlns:a="http://schemas.openxmlformats.org/drawingml/2006/main">
            <a:r>
              <a:t>Swept floor, broom racked: good housekeeping is what prevents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Alarms, drills &amp; exits</a:t>
            </a:r>
          </a:p>
          <a:p xmlns:a="http://schemas.openxmlformats.org/drawingml/2006/main">
            <a:r>
              <a:t>Fire safety starts before there’s ever a fire:</a:t>
            </a:r>
          </a:p>
          <a:p xmlns:a="http://schemas.openxmlformats.org/drawingml/2006/main">
            <a:r>
              <a:t>Know the fire bell/alarm and the fire-drill procedure for the shop and the theatre.</a:t>
            </a:r>
          </a:p>
          <a:p xmlns:a="http://schemas.openxmlformats.org/drawingml/2006/main">
            <a:r>
              <a:t>Know every fire-exit location - and keep all exits and corridors clear at all times . In an evacuation, a blocked hallway costs lives, not minutes.</a:t>
            </a:r>
          </a:p>
          <a:p xmlns:a="http://schemas.openxmlformats.org/drawingml/2006/main">
            <a:r>
              <a:t>Know the types and locations of the fire extinguishers in your space - before you need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Reporting a fire</a:t>
            </a:r>
          </a:p>
          <a:p xmlns:a="http://schemas.openxmlformats.org/drawingml/2006/main">
            <a:r>
              <a:t>If you discover a fire:</a:t>
            </a:r>
          </a:p>
          <a:p xmlns:a="http://schemas.openxmlformats.org/drawingml/2006/main">
            <a:r>
              <a:t>Immediately notify the closest adult with the exact location and the nature of the fire (what’s burning).</a:t>
            </a:r>
          </a:p>
          <a:p xmlns:a="http://schemas.openxmlformats.org/drawingml/2006/main">
            <a:r>
              <a:t>Do NOT shout “Fire!” - panic in a crowded theatre is its own disaster; information moves faster than fear.</a:t>
            </a:r>
          </a:p>
          <a:p xmlns:a="http://schemas.openxmlformats.org/drawingml/2006/main">
            <a:r>
              <a:t>If someone’s clothing catches fire: smother the flames - get them down and roll them in a blanket if one is close.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Fire classes &amp; extinguishers</a:t>
            </a:r>
          </a:p>
          <a:p xmlns:a="http://schemas.openxmlformats.org/drawingml/2006/main">
            <a:r>
              <a:t>Extinguishers match the fire - the wrong one can make it worse:</a:t>
            </a:r>
          </a:p>
          <a:p xmlns:a="http://schemas.openxmlformats.org/drawingml/2006/main">
            <a:r>
              <a:t>Class A - wood, paper, cloth. Water or CO₂ works.</a:t>
            </a:r>
          </a:p>
          <a:p xmlns:a="http://schemas.openxmlformats.org/drawingml/2006/main">
            <a:r>
              <a:t>Class B - flammable liquids (paint thinner, solvents). Smother it : foam or CO₂. Water spreads it.</a:t>
            </a:r>
          </a:p>
          <a:p xmlns:a="http://schemas.openxmlformats.org/drawingml/2006/main">
            <a:r>
              <a:t>Class C - electrical equipment. Non-conducting only : CO₂ or dry powder. Never water - electricity travels up the stream to you.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Pick the extinguisher</a:t>
            </a:r>
          </a:p>
          <a:p xmlns:a="http://schemas.openxmlformats.org/drawingml/2006/main">
            <a:r>
              <a:t>Match the fire to the response: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 spot smoke</a:t>
            </a:r>
          </a:p>
          <a:p xmlns:a="http://schemas.openxmlformats.org/drawingml/2006/main">
            <a:r>
              <a:t>You smell smoke and find a small fire behind the scene shop. What do you do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Flammables, rags &amp; finishes</a:t>
            </a:r>
          </a:p>
          <a:p xmlns:a="http://schemas.openxmlformats.org/drawingml/2006/main">
            <a:r>
              <a:t>The scene shop makes its own fire hazards:</a:t>
            </a:r>
          </a:p>
          <a:p xmlns:a="http://schemas.openxmlformats.org/drawingml/2006/main">
            <a:r>
              <a:t>Rags soaked with finish, stain, or solvent go in a covered metal container - oily rags in a pile can self-ignite . That’s not a myth; it’s chemistry.</a:t>
            </a:r>
          </a:p>
          <a:p xmlns:a="http://schemas.openxmlformats.org/drawingml/2006/main">
            <a:r>
              <a:t>Use finishes and solvents only in well-ventilated areas, away from open flame and heat.</a:t>
            </a:r>
          </a:p>
          <a:p xmlns:a="http://schemas.openxmlformats.org/drawingml/2006/main">
            <a:r>
              <a:t>Keep flammable items away from lighting instruments - and instruments away from soft goods, paper, and scenery that could cook against a hot fixture.</a:t>
            </a:r>
          </a:p>
          <a:p xmlns:a="http://schemas.openxmlformats.org/drawingml/2006/main">
            <a:r>
              <a:t>Pyrotechnics, flame effects, and prop firearms are never student-operated - district approval and the fire marshal come first, every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Match the fire to the response: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Scrap lumber and paper burning in the bin: Class A - ordinary combustibles; water or CO₂.</a:t>
            </a:r>
          </a:p>
          <a:p xmlns:a="http://schemas.openxmlformats.org/drawingml/2006/main">
            <a:r>
              <a:t>A dimmer rack sparking and smoking: Class C electrical - non-conducting extinguisher, never water.</a:t>
            </a:r>
          </a:p>
          <a:p xmlns:a="http://schemas.openxmlformats.org/drawingml/2006/main">
            <a:r>
              <a:t>Spilled paint thinner catches fire: Class B flammable liquid - smother with foam or CO₂; water spreads it.</a:t>
            </a:r>
          </a:p>
          <a:p xmlns:a="http://schemas.openxmlformats.org/drawingml/2006/main">
            <a:r>
              <a:t>Muslin scraps smoldering in the paint corner: Class A - cloth burns like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Scrap lumber and paper burning in the bin: Class A - ordinary combustibles; water or CO₂.</a:t>
            </a:r>
          </a:p>
          <a:p xmlns:a="http://schemas.openxmlformats.org/drawingml/2006/main">
            <a:r>
              <a:t>A dimmer rack sparking and smoking: Class C electrical - non-conducting extinguisher, never water.</a:t>
            </a:r>
          </a:p>
          <a:p xmlns:a="http://schemas.openxmlformats.org/drawingml/2006/main">
            <a:r>
              <a:t>Spilled paint thinner catches fire: Class B flammable liquid - smother with foam or CO₂; water spreads it.</a:t>
            </a:r>
          </a:p>
          <a:p xmlns:a="http://schemas.openxmlformats.org/drawingml/2006/main">
            <a:r>
              <a:t>Muslin scraps smoldering in the paint corner: Class A - cloth burns like paper.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Grade 8 - Stagecraft</a:t>
            </a:r>
          </a:p>
          <a:p xmlns:a="http://schemas.openxmlformats.org/drawingml/2006/main">
            <a:r>
              <a:t>This is the year power tools begin.</a:t>
            </a:r>
          </a:p>
          <a:p xmlns:a="http://schemas.openxmlformats.org/drawingml/2006/main">
            <a:r>
              <a:t>Hand tools - hammer, tape measure, speed/framing square, utility knife, hand saw, screwdrivers.</a:t>
            </a:r>
          </a:p>
          <a:p xmlns:a="http://schemas.openxmlformats.org/drawingml/2006/main">
            <a:r>
              <a:t>Power &amp; pneumatic (safety orientation required, supervised) - jigsaw, compound miter saw, panel saw, impact driver, random orbital sander, narrow crown stapler, framing nailer.</a:t>
            </a:r>
          </a:p>
          <a:p xmlns:a="http://schemas.openxmlformats.org/drawingml/2006/main">
            <a:r>
              <a:t>Painting - brushes &amp; rollers.</a:t>
            </a:r>
          </a:p>
          <a:p xmlns:a="http://schemas.openxmlformats.org/drawingml/2006/main">
            <a:r>
              <a:t>Every power and pneumatic tool requires passing its safety orientation first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Cleared for you - or not yet?</a:t>
            </a:r>
          </a:p>
          <a:p xmlns:a="http://schemas.openxmlformats.org/drawingml/2006/main">
            <a:r>
              <a:t>Which of these are you cleared to use at your grade level (after passing each tool’s safety orientation)?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of these are you cleared to use at your grade level (after passing each tool’s safety orientation)?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Compound miter saw: Yours after its safety orientation, with supervision.</a:t>
            </a:r>
          </a:p>
          <a:p xmlns:a="http://schemas.openxmlformats.org/drawingml/2006/main">
            <a:r>
              <a:t>Random orbital sander: Yours after its safety orientation, with supervision.</a:t>
            </a:r>
          </a:p>
          <a:p xmlns:a="http://schemas.openxmlformats.org/drawingml/2006/main">
            <a:r>
              <a:t>Framing nailer: Pneumatic tools are in - after the orientation.</a:t>
            </a:r>
          </a:p>
          <a:p xmlns:a="http://schemas.openxmlformats.org/drawingml/2006/main">
            <a:r>
              <a:t>Table saw: Stationary machines start in Grade 10.</a:t>
            </a:r>
          </a:p>
          <a:p xmlns:a="http://schemas.openxmlformats.org/drawingml/2006/main">
            <a:r>
              <a:t>Band saw: Stationary machines start in Grade 10.</a:t>
            </a:r>
          </a:p>
          <a:p xmlns:a="http://schemas.openxmlformats.org/drawingml/2006/main">
            <a:r>
              <a:t>Palm router: Stationary machines start in Grade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Compound miter saw: Yours after its safety orientation, with supervision.</a:t>
            </a:r>
          </a:p>
          <a:p xmlns:a="http://schemas.openxmlformats.org/drawingml/2006/main">
            <a:r>
              <a:t>Random orbital sander: Yours after its safety orientation, with supervision.</a:t>
            </a:r>
          </a:p>
          <a:p xmlns:a="http://schemas.openxmlformats.org/drawingml/2006/main">
            <a:r>
              <a:t>Framing nailer: Pneumatic tools are in - after the orientation.</a:t>
            </a:r>
          </a:p>
          <a:p xmlns:a="http://schemas.openxmlformats.org/drawingml/2006/main">
            <a:r>
              <a:t>Table saw: Stationary machines start in Grade 10.</a:t>
            </a:r>
          </a:p>
          <a:p xmlns:a="http://schemas.openxmlformats.org/drawingml/2006/main">
            <a:r>
              <a:t>Band saw: Stationary machines start in Grade 10.</a:t>
            </a:r>
          </a:p>
          <a:p xmlns:a="http://schemas.openxmlformats.org/drawingml/2006/main">
            <a:r>
              <a:t>Palm router: Stationary machines start in Grade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Measuring &amp; layout tools</a:t>
            </a:r>
          </a:p>
          <a:p xmlns:a="http://schemas.openxmlformats.org/drawingml/2006/main">
            <a:r>
              <a:t>Even “safe” tools have rules:</a:t>
            </a:r>
          </a:p>
          <a:p xmlns:a="http://schemas.openxmlformats.org/drawingml/2006/main">
            <a:r>
              <a:t>Tape measure - control the blade on the way back in; a spring-loaded steel edge returning at full speed can cut. Watch the hook edge on long pulls.</a:t>
            </a:r>
          </a:p>
          <a:p xmlns:a="http://schemas.openxmlformats.org/drawingml/2006/main">
            <a:r>
              <a:t>Marking &amp; layout tools - carry pointed tools (awls, compasses, pencils) tip-down , and never walk with them in a pocket point-up.</a:t>
            </a:r>
          </a:p>
          <a:p xmlns:a="http://schemas.openxmlformats.org/drawingml/2006/main">
            <a:r>
              <a:t>Every tool goes back to its rack when you set it down - a bench you can’t see the surface of is a bench hiding a blade.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Utility knife</a:t>
            </a:r>
          </a:p>
          <a:p xmlns:a="http://schemas.openxmlformats.org/drawingml/2006/main">
            <a:r>
              <a:t>The tool you’ll use most, and the one that sends the most people to the first-aid kit:</a:t>
            </a:r>
          </a:p>
          <a:p xmlns:a="http://schemas.openxmlformats.org/drawingml/2006/main">
            <a:r>
              <a:t>• A sharp blade is safer than a dull one - it needs less force, so it slips less. Swap dull blades.</a:t>
            </a:r>
          </a:p>
          <a:p xmlns:a="http://schemas.openxmlformats.org/drawingml/2006/main">
            <a:r>
              <a:t>• Cut away from your body - and away from the hand bracing the work. Ask: “if this slips, where does the blade finish?”</a:t>
            </a:r>
          </a:p>
          <a:p xmlns:a="http://schemas.openxmlformats.org/drawingml/2006/main">
            <a:r>
              <a:t>• Cut on a mat or scrap , never on the bare table or your knee.</a:t>
            </a:r>
          </a:p>
          <a:p xmlns:a="http://schemas.openxmlformats.org/drawingml/2006/main">
            <a:r>
              <a:t>• Retract the blade the second you stop cutting. No exceptions.</a:t>
            </a:r>
          </a:p>
          <a:p xmlns:a="http://schemas.openxmlformats.org/drawingml/2006/main">
            <a:r>
              <a:t>• Pass it handle-first , blade retracted. Used snap-off blades go in the taped sharps container, never loose in the trash.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Change a utility-knife blade - in order</a:t>
            </a:r>
          </a:p>
          <a:p xmlns:a="http://schemas.openxmlformats.org/drawingml/2006/main">
            <a:r>
              <a:t>Put a safe blade change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Hammer, screwdrivers &amp; hand saw</a:t>
            </a:r>
          </a:p>
          <a:p xmlns:a="http://schemas.openxmlformats.org/drawingml/2006/main">
            <a:r>
              <a:t>Hammer - check the head is tight before swinging; clear your swing arc (people and your other hand); start nails with a light tap, fingers gone before the real swing.</a:t>
            </a:r>
          </a:p>
          <a:p xmlns:a="http://schemas.openxmlformats.org/drawingml/2006/main">
            <a:r>
              <a:t>Screwdrivers - use the right size tip so it doesn’t cam out; never drive toward your palm or hold the work in your hand; a screwdriver is not a chisel or a pry bar - tips snap and hands slip.</a:t>
            </a:r>
          </a:p>
          <a:p xmlns:a="http://schemas.openxmlformats.org/drawingml/2006/main">
            <a:r>
              <a:t>Hand saw - start the kerf with short, light strokes; keep your free hand clear of the cut line; support the off-cut so it doesn’t tear free at the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Squares &amp; layout at the bench</a:t>
            </a:r>
          </a:p>
          <a:p xmlns:a="http://schemas.openxmlformats.org/drawingml/2006/main">
            <a:r>
              <a:t>Layout tools earn their keep in Stagecraft:</a:t>
            </a:r>
          </a:p>
          <a:p xmlns:a="http://schemas.openxmlformats.org/drawingml/2006/main">
            <a:r>
              <a:t>Speed square - your crosscut guide: hold it firm with your thumb up on its face, and run the saw along the edge. Fingers stay on top of the square, never on the blade side.</a:t>
            </a:r>
          </a:p>
          <a:p xmlns:a="http://schemas.openxmlformats.org/drawingml/2006/main">
            <a:r>
              <a:t>Framing square - for sheet layout and checking corners; two people hold it for long lines.</a:t>
            </a:r>
          </a:p>
          <a:p xmlns:a="http://schemas.openxmlformats.org/drawingml/2006/main">
            <a:r>
              <a:t>Mark the waste side of every line with an X - half the “wrong cuts” in a shop are right cuts on the wrong side.</a:t>
            </a:r>
          </a:p>
          <a:p xmlns:a="http://schemas.openxmlformats.org/drawingml/2006/main">
            <a:r>
              <a:t>A sharp pencil line beats a fat one; for fine work, a knife line beats both (utility-knife rules apply).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Hand-tool habits</a:t>
            </a:r>
          </a:p>
          <a:p xmlns:a="http://schemas.openxmlformats.org/drawingml/2006/main">
            <a:r>
              <a:t>Sort each habit: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Make a hand-saw cut - in order</a:t>
            </a:r>
          </a:p>
          <a:p xmlns:a="http://schemas.openxmlformats.org/drawingml/2006/main">
            <a:r>
              <a:t>Put a clean, safe hand-saw cut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Put a safe blade change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Needles, pins &amp; hand sewing</a:t>
            </a:r>
          </a:p>
          <a:p xmlns:a="http://schemas.openxmlformats.org/drawingml/2006/main">
            <a:r>
              <a:t>Small tools, real rules:</a:t>
            </a:r>
          </a:p>
          <a:p xmlns:a="http://schemas.openxmlformats.org/drawingml/2006/main">
            <a:r>
              <a:t>Count your needles and pins out - and back in. A lost pin ends up in a costume, a couch, or a foot.</a:t>
            </a:r>
          </a:p>
          <a:p xmlns:a="http://schemas.openxmlformats.org/drawingml/2006/main">
            <a:r>
              <a:t>Pins live in a pincushion or magnetic tray - never in your lips, never in your clothes.</a:t>
            </a:r>
          </a:p>
          <a:p xmlns:a="http://schemas.openxmlformats.org/drawingml/2006/main">
            <a:r>
              <a:t>Broken needles and bent pins get taped and binned , not tossed loose.</a:t>
            </a:r>
          </a:p>
          <a:p xmlns:a="http://schemas.openxmlformats.org/drawingml/2006/main">
            <a:r>
              <a:t>Anything sharp gets passed handle-first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Scissors &amp; pattern tools</a:t>
            </a:r>
          </a:p>
          <a:p xmlns:a="http://schemas.openxmlformats.org/drawingml/2006/main">
            <a:r>
              <a:t>Fabric shears are seriously sharp - that’s the point.</a:t>
            </a:r>
          </a:p>
          <a:p xmlns:a="http://schemas.openxmlformats.org/drawingml/2006/main">
            <a:r>
              <a:t>• Carry them closed, point-down . Never run - it’s a cliché because it’s true.</a:t>
            </a:r>
          </a:p>
          <a:p xmlns:a="http://schemas.openxmlformats.org/drawingml/2006/main">
            <a:r>
              <a:t>• Pass them handle-first .</a:t>
            </a:r>
          </a:p>
          <a:p xmlns:a="http://schemas.openxmlformats.org/drawingml/2006/main">
            <a:r>
              <a:t>• Cut on the table , fabric flat, free hand behind the blades - not in the air toward yourself.</a:t>
            </a:r>
          </a:p>
          <a:p xmlns:a="http://schemas.openxmlformats.org/drawingml/2006/main">
            <a:r>
              <a:t>• Fabric shears cut fabric only : paper and cardboard dull them into tools that slip.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Papier-mâché &amp; armatures</a:t>
            </a:r>
          </a:p>
          <a:p xmlns:a="http://schemas.openxmlformats.org/drawingml/2006/main">
            <a:r>
              <a:t>Props building has its own sharp ends:</a:t>
            </a:r>
          </a:p>
          <a:p xmlns:a="http://schemas.openxmlformats.org/drawingml/2006/main">
            <a:r>
              <a:t>Cut armature wire with wire cutters, never scissors - scissors get ruined, and ruined tools slip.</a:t>
            </a:r>
          </a:p>
          <a:p xmlns:a="http://schemas.openxmlformats.org/drawingml/2006/main">
            <a:r>
              <a:t>Every cut wire end gets bent back or taped immediately. Armature wires stick out at exactly eye height on a crowded work table.</a:t>
            </a:r>
          </a:p>
          <a:p xmlns:a="http://schemas.openxmlformats.org/drawingml/2006/main">
            <a:r>
              <a:t>Paste makes floors slick - wipe drips when they happen, not at cleanup.</a:t>
            </a:r>
          </a:p>
          <a:p xmlns:a="http://schemas.openxmlformats.org/drawingml/2006/main">
            <a:r>
              <a:t>Cover cuts on your hands before pasting, and wash up after - paste and sealers aren’t hand lotion.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ends</a:t>
            </a:r>
          </a:p>
          <a:p xmlns:a="http://schemas.openxmlformats.org/drawingml/2006/main">
            <a:r>
              <a:t>You just clipped an armature wire and the cut end sticks out at face height over the work table. What happens right 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 just clipped an armature wire and the cut end sticks out at face height over the work table. What happens right 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ends at eye height don’t wait for cleanup time - they get bent back or capped the moment they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Wire ends at eye height don’t wait for cleanup time - they get bent back or capped the moment they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Rules that never change</a:t>
            </a:r>
          </a:p>
          <a:p xmlns:a="http://schemas.openxmlformats.org/drawingml/2006/main">
            <a:r>
              <a:t>For every power and pneumatic tool, at every grade level:</a:t>
            </a:r>
          </a:p>
          <a:p xmlns:a="http://schemas.openxmlformats.org/drawingml/2006/main">
            <a:r>
              <a:t>• Guards stay on and working. A tool with a faulty guard doesn’t get used - it gets reported.</a:t>
            </a:r>
          </a:p>
          <a:p xmlns:a="http://schemas.openxmlformats.org/drawingml/2006/main">
            <a:r>
              <a:t>• PPE first - safety glasses always; hearing and dust protection as the task demands.</a:t>
            </a:r>
          </a:p>
          <a:p xmlns:a="http://schemas.openxmlformats.org/drawingml/2006/main">
            <a:r>
              <a:t>• Correct body position - balanced stance, hands clear of the cut line, never reaching across a blade.</a:t>
            </a:r>
          </a:p>
          <a:p xmlns:a="http://schemas.openxmlformats.org/drawingml/2006/main">
            <a:r>
              <a:t>• Disconnect power or air before adjusting - blade changes, depth settings, or clearing jams happen only on a dead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Your path: orientation → supervision → independence</a:t>
            </a:r>
          </a:p>
          <a:p xmlns:a="http://schemas.openxmlformats.org/drawingml/2006/main">
            <a:r>
              <a:t>Qualification is a ladder, and every tool has its own rung:</a:t>
            </a:r>
          </a:p>
          <a:p xmlns:a="http://schemas.openxmlformats.org/drawingml/2006/main">
            <a:r>
              <a:t>1⃣ Safety orientation (Grade 8) - you pass an orientation for each tool, then perform fundamental operations under direct supervision : straight cuts, crosscuts, driving fasteners, sanding flat stock.</a:t>
            </a:r>
          </a:p>
          <a:p xmlns:a="http://schemas.openxmlformats.org/drawingml/2006/main">
            <a:r>
              <a:t>2⃣ General supervision (Grade 9) - you set up and operate each tool with the teacher in the shop, not at your elbow, producing accurate cuts and secure assemblies.</a:t>
            </a:r>
          </a:p>
          <a:p xmlns:a="http://schemas.openxmlformats.org/drawingml/2006/main">
            <a:r>
              <a:t>3⃣ Independent qualification (Grade 10+) - you pass an independent-use qualification per tool, handle routine adjustments yourself, and help train peers.</a:t>
            </a:r>
          </a:p>
          <a:p xmlns:a="http://schemas.openxmlformats.org/drawingml/2006/main">
            <a:r>
              <a:t>Grade level alone never qualifies you - passing the orientation or qualification for that specific tool does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Cords, hoses &amp; your workspace</a:t>
            </a:r>
          </a:p>
          <a:p xmlns:a="http://schemas.openxmlformats.org/drawingml/2006/main">
            <a:r>
              <a:t>The cable end of tool safety:</a:t>
            </a:r>
          </a:p>
          <a:p xmlns:a="http://schemas.openxmlformats.org/drawingml/2006/main">
            <a:r>
              <a:t>The cord or hose stays behind the tool, never in the cut path - check before every cut, not after.</a:t>
            </a:r>
          </a:p>
          <a:p xmlns:a="http://schemas.openxmlformats.org/drawingml/2006/main">
            <a:r>
              <a:t>Never carry a tool by its cord , and unplug by gripping the plug , not yanking the cable.</a:t>
            </a:r>
          </a:p>
          <a:p xmlns:a="http://schemas.openxmlformats.org/drawingml/2006/main">
            <a:r>
              <a:t>Disconnecting an air hose: shut off the air and bleed the pressure first , and keep hold of the coupling - a charged hose whips.</a:t>
            </a:r>
          </a:p>
          <a:p xmlns:a="http://schemas.openxmlformats.org/drawingml/2006/main">
            <a:r>
              <a:t>Cords and hoses route along walls and out of walkways , same as the shop rule you already know.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Clamp it, support it</a:t>
            </a:r>
          </a:p>
          <a:p xmlns:a="http://schemas.openxmlformats.org/drawingml/2006/main">
            <a:r>
              <a:t>Most “tool accidents” are really workholding accidents :</a:t>
            </a:r>
          </a:p>
          <a:p xmlns:a="http://schemas.openxmlformats.org/drawingml/2006/main">
            <a:r>
              <a:t>A clamp beats your strongest grip - and it never flinches.</a:t>
            </a:r>
          </a:p>
          <a:p xmlns:a="http://schemas.openxmlformats.org/drawingml/2006/main">
            <a:r>
              <a:t>Long stock gets outfeed support - a sawhorse, a stand, or a partner on a callout.</a:t>
            </a:r>
          </a:p>
          <a:p xmlns:a="http://schemas.openxmlformats.org/drawingml/2006/main">
            <a:r>
              <a:t>The cut line hangs clear of the bench - cutting into the table pinches the blade and ruins both.</a:t>
            </a:r>
          </a:p>
          <a:p xmlns:a="http://schemas.openxmlformats.org/drawingml/2006/main">
            <a:r>
              <a:t>Never cut work resting on your knee or held in the air.</a:t>
            </a:r>
          </a:p>
          <a:p xmlns:a="http://schemas.openxmlformats.org/drawingml/2006/main">
            <a:r>
              <a:t>Know what’s under and behind the cut before you start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up a cut - in order</a:t>
            </a:r>
          </a:p>
          <a:p xmlns:a="http://schemas.openxmlformats.org/drawingml/2006/main">
            <a:r>
              <a:t>Put the steps of a safe power-tool cut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Pneumatic power: the air rules</a:t>
            </a:r>
          </a:p>
          <a:p xmlns:a="http://schemas.openxmlformats.org/drawingml/2006/main">
            <a:r>
              <a:t>The stapler and nailer run on compressed air, which adds rules of their own:</a:t>
            </a:r>
          </a:p>
          <a:p xmlns:a="http://schemas.openxmlformats.org/drawingml/2006/main">
            <a:r>
              <a:t>• Treat every air tool as loaded. Finger off the trigger until the nose is on the work.</a:t>
            </a:r>
          </a:p>
          <a:p xmlns:a="http://schemas.openxmlformats.org/drawingml/2006/main">
            <a:r>
              <a:t>• Never point one at anyone - including yourself. Ever. Even “empty.”</a:t>
            </a:r>
          </a:p>
          <a:p xmlns:a="http://schemas.openxmlformats.org/drawingml/2006/main">
            <a:r>
              <a:t>• Disconnect the air line before clearing a jam, adjusting, or handing it over.</a:t>
            </a:r>
          </a:p>
          <a:p xmlns:a="http://schemas.openxmlformats.org/drawingml/2006/main">
            <a:r>
              <a:t>• Use the tool’s correct air pressure - too high blows fasteners through the work; too low jams and double-fires.</a:t>
            </a:r>
          </a:p>
          <a:p xmlns:a="http://schemas.openxmlformats.org/drawingml/2006/main">
            <a:r>
              <a:t>• Hoses get routed out of walkways , like every 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Jammed nailer</a:t>
            </a:r>
          </a:p>
          <a:p xmlns:a="http://schemas.openxmlformats.org/drawingml/2006/main">
            <a:r>
              <a:t>The framing nailer jams mid-wall. Before you touch the jam, you…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Cord in the lane</a:t>
            </a:r>
          </a:p>
          <a:p xmlns:a="http://schemas.openxmlformats.org/drawingml/2006/main">
            <a:r>
              <a:t>Mid-setup, you notice the jigsaw’s own cord crossing under the line you’re about to cut. You…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Put the steps of a safe power-tool cut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Jigsaw</a:t>
            </a:r>
          </a:p>
          <a:p xmlns:a="http://schemas.openxmlformats.org/drawingml/2006/main">
            <a:r>
              <a:t>The curve-cutter. Its specifics:</a:t>
            </a:r>
          </a:p>
          <a:p xmlns:a="http://schemas.openxmlformats.org/drawingml/2006/main">
            <a:r>
              <a:t>• Clamp your stock - small pieces walk with the blade and take fingers along.</a:t>
            </a:r>
          </a:p>
          <a:p xmlns:a="http://schemas.openxmlformats.org/drawingml/2006/main">
            <a:r>
              <a:t>• Base plate flat on the work before you pull the trigger.</a:t>
            </a:r>
          </a:p>
          <a:p xmlns:a="http://schemas.openxmlformats.org/drawingml/2006/main">
            <a:r>
              <a:t>• Know what’s under the cut - the blade sticks out below the stock. Nothing under the line: not the bench edge, not the cord, not your hand.</a:t>
            </a:r>
          </a:p>
          <a:p xmlns:a="http://schemas.openxmlformats.org/drawingml/2006/main">
            <a:r>
              <a:t>• Let the blade stop before lifting the saw out of the cut.</a:t>
            </a:r>
          </a:p>
          <a:p xmlns:a="http://schemas.openxmlformats.org/drawingml/2006/main">
            <a:r>
              <a:t>• Forcing the cut bends and snaps blades - let the blade do the work . Unplug to change blades.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Jigsaw - blades, curves &amp; cutouts</a:t>
            </a:r>
          </a:p>
          <a:p xmlns:a="http://schemas.openxmlformats.org/drawingml/2006/main">
            <a:r>
              <a:t>Getting the cut you want, safely:</a:t>
            </a:r>
          </a:p>
          <a:p xmlns:a="http://schemas.openxmlformats.org/drawingml/2006/main">
            <a:r>
              <a:t>Match the blade to the material - wood, metal, and scroll blades are different animals; the wrong one burns, wanders, and snaps.</a:t>
            </a:r>
          </a:p>
          <a:p xmlns:a="http://schemas.openxmlformats.org/drawingml/2006/main">
            <a:r>
              <a:t>Tight curves want narrow blades - and really tight curves want relief cuts first, so the blade never binds.</a:t>
            </a:r>
          </a:p>
          <a:p xmlns:a="http://schemas.openxmlformats.org/drawingml/2006/main">
            <a:r>
              <a:t>Interior cutouts start from a drilled starter hole , never from tipping the saw into the surface.</a:t>
            </a:r>
          </a:p>
          <a:p xmlns:a="http://schemas.openxmlformats.org/drawingml/2006/main">
            <a:r>
              <a:t>A blade that starts wandering off your line is worn out - swap it (unplugged) instead of steering harder.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Compound miter saw</a:t>
            </a:r>
          </a:p>
          <a:p xmlns:a="http://schemas.openxmlformats.org/drawingml/2006/main">
            <a:r>
              <a:t>The crosscut machine. Its specifics:</a:t>
            </a:r>
          </a:p>
          <a:p xmlns:a="http://schemas.openxmlformats.org/drawingml/2006/main">
            <a:r>
              <a:t>• Stock tight against the fence - always. A gap lets the blade grab and slam the stock.</a:t>
            </a:r>
          </a:p>
          <a:p xmlns:a="http://schemas.openxmlformats.org/drawingml/2006/main">
            <a:r>
              <a:t>• Hands outside the no-hand zone (at least 6 inches from the blade path). Never cross your arms - left hand holding the right side of the blade is how people meet the blade.</a:t>
            </a:r>
          </a:p>
          <a:p xmlns:a="http://schemas.openxmlformats.org/drawingml/2006/main">
            <a:r>
              <a:t>• Full speed before the cut - let it spin up, then bring it down smoothly.</a:t>
            </a:r>
          </a:p>
          <a:p xmlns:a="http://schemas.openxmlformats.org/drawingml/2006/main">
            <a:r>
              <a:t>• After the cut, keep the blade down until it stops - a spinning blade coming up can grab the off-cut and throw it.</a:t>
            </a:r>
          </a:p>
          <a:p xmlns:a="http://schemas.openxmlformats.org/drawingml/2006/main">
            <a:r>
              <a:t>• Support long stock on both ends; never balance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Miter saw - angles &amp; short stock</a:t>
            </a:r>
          </a:p>
          <a:p xmlns:a="http://schemas.openxmlformats.org/drawingml/2006/main">
            <a:r>
              <a:t>The setups that catch people:</a:t>
            </a:r>
          </a:p>
          <a:p xmlns:a="http://schemas.openxmlformats.org/drawingml/2006/main">
            <a:r>
              <a:t>Set and lock the angle , then test on scrap - an unlocked table creeps mid-cut.</a:t>
            </a:r>
          </a:p>
          <a:p xmlns:a="http://schemas.openxmlformats.org/drawingml/2006/main">
            <a:r>
              <a:t>Long stock gets a stand or a partner (on a callout) at the far end - a see-sawing board pinches the blade.</a:t>
            </a:r>
          </a:p>
          <a:p xmlns:a="http://schemas.openxmlformats.org/drawingml/2006/main">
            <a:r>
              <a:t>Anything too short to hold outside the no-hand zone gets clamped - or cut from a longer board so your hand never gets close.</a:t>
            </a:r>
          </a:p>
          <a:p xmlns:a="http://schemas.openxmlformats.org/drawingml/2006/main">
            <a:r>
              <a:t>If a cut would put your fingers inside the zone, that cut doesn’t happen that way. There is always another 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Miter saw check</a:t>
            </a:r>
          </a:p>
          <a:p xmlns:a="http://schemas.openxmlformats.org/drawingml/2006/main">
            <a:r>
              <a:t>You just finished a cut on the miter saw. When do you raise the blade?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short piece</a:t>
            </a:r>
          </a:p>
          <a:p xmlns:a="http://schemas.openxmlformats.org/drawingml/2006/main">
            <a:r>
              <a:t>You need a 3-inch block. Holding it for the miter cut would put your fingers inside the no-hand zone. You…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saw</a:t>
            </a:r>
          </a:p>
          <a:p xmlns:a="http://schemas.openxmlformats.org/drawingml/2006/main">
            <a:r>
              <a:t>The sheet-goods saw. Its specifics:</a:t>
            </a:r>
          </a:p>
          <a:p xmlns:a="http://schemas.openxmlformats.org/drawingml/2006/main">
            <a:r>
              <a:t>• Seat the sheet fully on the rollers/rails before cutting - a cocked sheet binds the blade.</a:t>
            </a:r>
          </a:p>
          <a:p xmlns:a="http://schemas.openxmlformats.org/drawingml/2006/main">
            <a:r>
              <a:t>• Both hands on the carriage handle. Never steady the sheet with a hand near the cut line.</a:t>
            </a:r>
          </a:p>
          <a:p xmlns:a="http://schemas.openxmlformats.org/drawingml/2006/main">
            <a:r>
              <a:t>• Let the carriage return home before touching anything.</a:t>
            </a:r>
          </a:p>
          <a:p xmlns:a="http://schemas.openxmlformats.org/drawingml/2006/main">
            <a:r>
              <a:t>• Mind the off-cut - full sheets are heavy, and freed panels pinch fingers and toes. Get help catching big pieces.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Panel saw sheet cut - in order</a:t>
            </a:r>
          </a:p>
          <a:p xmlns:a="http://schemas.openxmlformats.org/drawingml/2006/main">
            <a:r>
              <a:t>Put a full-sheet cut on the panel saw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Rip vs crosscut - know your cut</a:t>
            </a:r>
          </a:p>
          <a:p xmlns:a="http://schemas.openxmlformats.org/drawingml/2006/main">
            <a:r>
              <a:t>Two words you’ll hear every day in the shop:</a:t>
            </a:r>
          </a:p>
          <a:p xmlns:a="http://schemas.openxmlformats.org/drawingml/2006/main">
            <a:r>
              <a:t>A crosscut goes across the grain - cutting a 2×4 to length. That’s the miter saw’s job.</a:t>
            </a:r>
          </a:p>
          <a:p xmlns:a="http://schemas.openxmlformats.org/drawingml/2006/main">
            <a:r>
              <a:t>A rip cut runs along the grain or the length of a sheet. At your grade, sheet rips happen on the panel saw .</a:t>
            </a:r>
          </a:p>
          <a:p xmlns:a="http://schemas.openxmlformats.org/drawingml/2006/main">
            <a:r>
              <a:t>The table saw - the shop’s main rip machine - waits for Grade 10 and its own orientation.</a:t>
            </a:r>
          </a:p>
          <a:p xmlns:a="http://schemas.openxmlformats.org/drawingml/2006/main">
            <a:r>
              <a:t>Naming the cut tells you the tool; the tool tells you the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Which saw for the job?</a:t>
            </a:r>
          </a:p>
          <a:p xmlns:a="http://schemas.openxmlformats.org/drawingml/2006/main">
            <a:r>
              <a:t>Choosing the right saw is a safety skill - the wrong tool fights you. Match each cut to its saw: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Spot what’s wrong: the cutting station</a:t>
            </a:r>
          </a:p>
          <a:p xmlns:a="http://schemas.openxmlformats.org/drawingml/2006/main">
            <a:r>
              <a:t>Walk the saw stations and tap the 4 problems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Impact driver</a:t>
            </a:r>
          </a:p>
          <a:p xmlns:a="http://schemas.openxmlformats.org/drawingml/2006/main">
            <a:r>
              <a:t>Small tool, huge torque. Its specifics:</a:t>
            </a:r>
          </a:p>
          <a:p xmlns:a="http://schemas.openxmlformats.org/drawingml/2006/main">
            <a:r>
              <a:t>• Seat the bit fully in the screw head before pulling the trigger - a half-seated bit cams out and skates.</a:t>
            </a:r>
          </a:p>
          <a:p xmlns:a="http://schemas.openxmlformats.org/drawingml/2006/main">
            <a:r>
              <a:t>• Hand off the fastener line. When the bit slips, it goes exactly where your hand was going to be.</a:t>
            </a:r>
          </a:p>
          <a:p xmlns:a="http://schemas.openxmlformats.org/drawingml/2006/main">
            <a:r>
              <a:t>• Start slow to set the threads, then run it home.</a:t>
            </a:r>
          </a:p>
          <a:p xmlns:a="http://schemas.openxmlformats.org/drawingml/2006/main">
            <a:r>
              <a:t>• Brace small work - the driver will happily spin the workpiece instead of the screw.</a:t>
            </a:r>
          </a:p>
          <a:p xmlns:a="http://schemas.openxmlformats.org/drawingml/2006/main">
            <a:r>
              <a:t>• Eye protection: screw heads snap and bits shatter.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Bits &amp; torque</a:t>
            </a:r>
          </a:p>
          <a:p xmlns:a="http://schemas.openxmlformats.org/drawingml/2006/main">
            <a:r>
              <a:t>The details that separate clean driving from stripped screws:</a:t>
            </a:r>
          </a:p>
          <a:p xmlns:a="http://schemas.openxmlformats.org/drawingml/2006/main">
            <a:r>
              <a:t>Right bit, right size - a PH2 in a PH3 screw strips both. Check before you drive.</a:t>
            </a:r>
          </a:p>
          <a:p xmlns:a="http://schemas.openxmlformats.org/drawingml/2006/main">
            <a:r>
              <a:t>Worn bits get binned , not babied - a rounded bit cams out no matter how hard you push.</a:t>
            </a:r>
          </a:p>
          <a:p xmlns:a="http://schemas.openxmlformats.org/drawingml/2006/main">
            <a:r>
              <a:t>Impact drivers hammer - that rattle is the mechanism working, and it’s loud : hearing protection when the driving runs long.</a:t>
            </a:r>
          </a:p>
          <a:p xmlns:a="http://schemas.openxmlformats.org/drawingml/2006/main">
            <a:r>
              <a:t>Small screws snap under full impact - ease off as the head seats.</a:t>
            </a:r>
          </a:p>
          <a:p xmlns:a="http://schemas.openxmlformats.org/drawingml/2006/main">
            <a:r>
              <a:t>Pilot holes near edges stop the split before it 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Random orbital sander</a:t>
            </a:r>
          </a:p>
          <a:p xmlns:a="http://schemas.openxmlformats.org/drawingml/2006/main">
            <a:r>
              <a:t>The dust machine. Its specifics:</a:t>
            </a:r>
          </a:p>
          <a:p xmlns:a="http://schemas.openxmlformats.org/drawingml/2006/main">
            <a:r>
              <a:t>• Dust protection on, dust collection attached - fine dust is the hazard you can’t see hurting you.</a:t>
            </a:r>
          </a:p>
          <a:p xmlns:a="http://schemas.openxmlformats.org/drawingml/2006/main">
            <a:r>
              <a:t>• Don’t press. The tool’s weight is enough; leaning on it burns the paper, scorches the stock, and stalls the pad.</a:t>
            </a:r>
          </a:p>
          <a:p xmlns:a="http://schemas.openxmlformats.org/drawingml/2006/main">
            <a:r>
              <a:t>• Let the pad stop before you set it down - a live sander walks off the bench.</a:t>
            </a:r>
          </a:p>
          <a:p xmlns:a="http://schemas.openxmlformats.org/drawingml/2006/main">
            <a:r>
              <a:t>• Secure small pieces ; the sander is strong enough to launch them.</a:t>
            </a:r>
          </a:p>
          <a:p xmlns:a="http://schemas.openxmlformats.org/drawingml/2006/main">
            <a:r>
              <a:t>• Keep the cord behind the tool , never under the pad.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Grits &amp; technique</a:t>
            </a:r>
          </a:p>
          <a:p xmlns:a="http://schemas.openxmlformats.org/drawingml/2006/main">
            <a:r>
              <a:t>Sanding well is sanding safely - fighting the tool is what causes slips:</a:t>
            </a:r>
          </a:p>
          <a:p xmlns:a="http://schemas.openxmlformats.org/drawingml/2006/main">
            <a:r>
              <a:t>Work the grit ladder: 80 → 120 → 220 . Skipping grits means pressing harder for less result.</a:t>
            </a:r>
          </a:p>
          <a:p xmlns:a="http://schemas.openxmlformats.org/drawingml/2006/main">
            <a:r>
              <a:t>Keep the pad flat and moving - parking it in one spot digs a dish you’ll sand an hour to fix.</a:t>
            </a:r>
          </a:p>
          <a:p xmlns:a="http://schemas.openxmlformats.org/drawingml/2006/main">
            <a:r>
              <a:t>Edges round over in seconds - ease up when you get near them.</a:t>
            </a:r>
          </a:p>
          <a:p xmlns:a="http://schemas.openxmlformats.org/drawingml/2006/main">
            <a:r>
              <a:t>Let the paper do the work: if you’re pressing, the paper’s done - change it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Stapler &amp; framing nailer</a:t>
            </a:r>
          </a:p>
          <a:p xmlns:a="http://schemas.openxmlformats.org/drawingml/2006/main">
            <a:r>
              <a:t>You learned the air rules in Power Tool Basics - here are the gun-specific ones:</a:t>
            </a:r>
          </a:p>
          <a:p xmlns:a="http://schemas.openxmlformats.org/drawingml/2006/main">
            <a:r>
              <a:t>• The contact safety tip on the nose is what stops accidental fires. It is never held down, taped, or bypassed . Never.</a:t>
            </a:r>
          </a:p>
          <a:p xmlns:a="http://schemas.openxmlformats.org/drawingml/2006/main">
            <a:r>
              <a:t>• Sequential fire : nose on the work first, then the trigger.</a:t>
            </a:r>
          </a:p>
          <a:p xmlns:a="http://schemas.openxmlformats.org/drawingml/2006/main">
            <a:r>
              <a:t>• Hands at least a hand-span from the fire line. Staples and nails follow the grain and deflect off knots - they can exit the wood sideways .</a:t>
            </a:r>
          </a:p>
          <a:p xmlns:a="http://schemas.openxmlformats.org/drawingml/2006/main">
            <a:r>
              <a:t>• The framing nailer recoils - grip it, expect it.</a:t>
            </a:r>
          </a:p>
          <a:p xmlns:a="http://schemas.openxmlformats.org/drawingml/2006/main">
            <a:r>
              <a:t>• Carry with your finger off the trigger ; disconnect air to clear jams or hand it 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Nailer check</a:t>
            </a:r>
          </a:p>
          <a:p xmlns:a="http://schemas.openxmlformats.org/drawingml/2006/main">
            <a:r>
              <a:t>Your palm is bracing a stud about 2 inches from where you’re about to shoot a nail. Fire?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Driver &amp; sander habits</a:t>
            </a:r>
          </a:p>
          <a:p xmlns:a="http://schemas.openxmlformats.org/drawingml/2006/main">
            <a:r>
              <a:t>Sort each habit: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Ladders &amp; working at height</a:t>
            </a:r>
          </a:p>
          <a:p xmlns:a="http://schemas.openxmlformats.org/drawingml/2006/main">
            <a:r>
              <a:t>Know the ladder and working-at-height rules and be able to state them:</a:t>
            </a:r>
          </a:p>
          <a:p xmlns:a="http://schemas.openxmlformats.org/drawingml/2006/main">
            <a:r>
              <a:t>• A ladder is set on stable ground and steadied - never climbed alone in the shop.</a:t>
            </a:r>
          </a:p>
          <a:p xmlns:a="http://schemas.openxmlformats.org/drawingml/2006/main">
            <a:r>
              <a:t>• Keep three points of contact and never overreach; climb down and move the ladder instead.</a:t>
            </a:r>
          </a:p>
          <a:p xmlns:a="http://schemas.openxmlformats.org/drawingml/2006/main">
            <a:r>
              <a:t>• Nothing is carried up that can’t be carried safely; nothing gets dropped, ever.</a:t>
            </a:r>
          </a:p>
          <a:p xmlns:a="http://schemas.openxmlformats.org/drawingml/2006/main">
            <a:r>
              <a:t>Anyone working below wears the hazard in mind: if work is happening overhead, stay clear or call it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hardware: C-clamp, wrench &amp; safety cable</a:t>
            </a:r>
          </a:p>
          <a:p xmlns:a="http://schemas.openxmlformats.org/drawingml/2006/main">
            <a:r>
              <a:t>Your first lighting tools are hardware - and hardware has rules:</a:t>
            </a:r>
          </a:p>
          <a:p xmlns:a="http://schemas.openxmlformats.org/drawingml/2006/main">
            <a:r>
              <a:t>The wrench fits the bolt snugly - an adjustable wrench gets set tight; a loose fit rounds the bolt and skins knuckles.</a:t>
            </a:r>
          </a:p>
          <a:p xmlns:a="http://schemas.openxmlformats.org/drawingml/2006/main">
            <a:r>
              <a:t>Tighten the C-clamp snug, not gorilla-tight - over-torquing cracks clamps and pipes.</a:t>
            </a:r>
          </a:p>
          <a:p xmlns:a="http://schemas.openxmlformats.org/drawingml/2006/main">
            <a:r>
              <a:t>At height, the wrench is tethered or in a closed pocket - a dropped wrench from the grid is a missile with your name on the incident report.</a:t>
            </a:r>
          </a:p>
          <a:p xmlns:a="http://schemas.openxmlformats.org/drawingml/2006/main">
            <a:r>
              <a:t>The safety cable goes through the fixture’s yoke and around the pipe , clipped back on itself - so it catches the fixture even if the whole clamp lets 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Power, plugs &amp; equipment care</a:t>
            </a:r>
          </a:p>
          <a:p xmlns:a="http://schemas.openxmlformats.org/drawingml/2006/main">
            <a:r>
              <a:t>The rules for anything with a plug - consoles, playback, monitors, practicals:</a:t>
            </a:r>
          </a:p>
          <a:p xmlns:a="http://schemas.openxmlformats.org/drawingml/2006/main">
            <a:r>
              <a:t>Dry hands only on switches, plugs, and equipment - and never use electrical equipment near water or wet floors. Moisture conducts.</a:t>
            </a:r>
          </a:p>
          <a:p xmlns:a="http://schemas.openxmlformats.org/drawingml/2006/main">
            <a:r>
              <a:t>Before moving any equipment, disconnect and clear its cables. A dangling cord is a trip line and a broken connector.</a:t>
            </a:r>
          </a:p>
          <a:p xmlns:a="http://schemas.openxmlformats.org/drawingml/2006/main">
            <a:r>
              <a:t>Never defeat grounding - no forcing a three-prong plug into a two-prong outlet, ever. That third pin is what keeps a fault from going through you.</a:t>
            </a:r>
          </a:p>
          <a:p xmlns:a="http://schemas.openxmlformats.org/drawingml/2006/main">
            <a:r>
              <a:t>Connect gear only to the power type marked on it ; route cords where they can’t be walked on or pinched .</a:t>
            </a:r>
          </a:p>
          <a:p xmlns:a="http://schemas.openxmlformats.org/drawingml/2006/main">
            <a:r>
              <a:t>Give equipment ventilation - racks and amps cook when boxed in - and keep liquids and stray objects out of the openings.</a:t>
            </a:r>
          </a:p>
          <a:p xmlns:a="http://schemas.openxmlformats.org/drawingml/2006/main">
            <a:r>
              <a:t>Don’t service beyond the manual. Anything deeper goes to qualified personnel.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Gels, gobos &amp; hot fronts</a:t>
            </a:r>
          </a:p>
          <a:p xmlns:a="http://schemas.openxmlformats.org/drawingml/2006/main">
            <a:r>
              <a:t>Handling the pretty parts safely:</a:t>
            </a:r>
          </a:p>
          <a:p xmlns:a="http://schemas.openxmlformats.org/drawingml/2006/main">
            <a:r>
              <a:t>Gels ride in gel frames - a loose gel stuffed in a fixture melts, smokes, and stinks up a performance.</a:t>
            </a:r>
          </a:p>
          <a:p xmlns:a="http://schemas.openxmlformats.org/drawingml/2006/main">
            <a:r>
              <a:t>Gobos are thin sharp steel - handle by the rim, like a razor-edged coin.</a:t>
            </a:r>
          </a:p>
          <a:p xmlns:a="http://schemas.openxmlformats.org/drawingml/2006/main">
            <a:r>
              <a:t>Warn everyone before switching an instrument on - nobody should be staring into a light that doesn’t announce itself.</a:t>
            </a:r>
          </a:p>
          <a:p xmlns:a="http://schemas.openxmlformats.org/drawingml/2006/main">
            <a:r>
              <a:t>Assume any instrument is extremely hot - even switched off. The front end (barrel, gel frame, shutters) holds burn heat long after the cue.</a:t>
            </a:r>
          </a:p>
          <a:p xmlns:a="http://schemas.openxmlformats.org/drawingml/2006/main">
            <a:r>
              <a:t>Keep instruments and flammable items apart - soft goods, paper, and scenery cook against a hot fixture.</a:t>
            </a:r>
          </a:p>
          <a:p xmlns:a="http://schemas.openxmlformats.org/drawingml/2006/main">
            <a:r>
              <a:t>Ask before touching any hung fixture - you don’t know how long it’s been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Cable care &amp; over-under</a:t>
            </a:r>
          </a:p>
          <a:p xmlns:a="http://schemas.openxmlformats.org/drawingml/2006/main">
            <a:r>
              <a:t>Cable is equipment, not rope:</a:t>
            </a:r>
          </a:p>
          <a:p xmlns:a="http://schemas.openxmlformats.org/drawingml/2006/main">
            <a:r>
              <a:t>Coil over-under so it pays out flat without kinks - a kinked cable is a damaged cable waiting to happen.</a:t>
            </a:r>
          </a:p>
          <a:p xmlns:a="http://schemas.openxmlformats.org/drawingml/2006/main">
            <a:r>
              <a:t>Out of walkways , always - tape it down or reroute it.</a:t>
            </a:r>
          </a:p>
          <a:p xmlns:a="http://schemas.openxmlformats.org/drawingml/2006/main">
            <a:r>
              <a:t>Never yank a connector out by its cable - grip the connector itself.</a:t>
            </a:r>
          </a:p>
          <a:p xmlns:a="http://schemas.openxmlformats.org/drawingml/2006/main">
            <a:r>
              <a:t>Never pinch cable in doorways or run it over sharp edges .</a:t>
            </a:r>
          </a:p>
          <a:p xmlns:a="http://schemas.openxmlformats.org/drawingml/2006/main">
            <a:r>
              <a:t>Wet floors and cable don’t mix - dry first, then run power.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Hang a fixture - in order</a:t>
            </a:r>
          </a:p>
          <a:p xmlns:a="http://schemas.openxmlformats.org/drawingml/2006/main">
            <a:r>
              <a:t>Put the steps of hanging a fixture in order. Tap the first step, then the next…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Inspect before you use</a:t>
            </a:r>
          </a:p>
          <a:p xmlns:a="http://schemas.openxmlformats.org/drawingml/2006/main">
            <a:r>
              <a:t>You now work safely at height and around circuits with general supervision . That comes with a duty: inspect cables and fixtures before use - cracked connectors, frayed jacket, loose clamp, missing safety cable.</a:t>
            </a:r>
          </a:p>
          <a:p xmlns:a="http://schemas.openxmlformats.org/drawingml/2006/main">
            <a:r>
              <a:t>And when you find a fault, report it without prompting . A damaged cable that goes back in the bin unfixed is a trap for the next person.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Lock-out / tag-out</a:t>
            </a:r>
          </a:p>
          <a:p xmlns:a="http://schemas.openxmlformats.org/drawingml/2006/main">
            <a:r>
              <a:t>When equipment is unsafe, it comes out of service - visibly :</a:t>
            </a:r>
          </a:p>
          <a:p xmlns:a="http://schemas.openxmlformats.org/drawingml/2006/main">
            <a:r>
              <a:t>A tag (or lock) on a tool, cable, or machine means: dead until the instructor clears it . You don’t use it, you don’t “just test it,” and you never remove the tag.</a:t>
            </a:r>
          </a:p>
          <a:p xmlns:a="http://schemas.openxmlformats.org/drawingml/2006/main">
            <a:r>
              <a:t>That’s the student half of lock-out/tag-out - the industry system that keeps someone from powering up gear another person is working on.</a:t>
            </a:r>
          </a:p>
          <a:p xmlns:a="http://schemas.openxmlformats.org/drawingml/2006/main">
            <a:r>
              <a:t>The other half: your instructor inspects equipment weekly and documents it. Your pre-use inspection is the daily layer on top of that.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Hot focus</a:t>
            </a:r>
          </a:p>
          <a:p xmlns:a="http://schemas.openxmlformats.org/drawingml/2006/main">
            <a:r>
              <a:t>Refocusing fixtures that have been running is normal electrics work - done the right way:</a:t>
            </a:r>
          </a:p>
          <a:p xmlns:a="http://schemas.openxmlformats.org/drawingml/2006/main">
            <a:r>
              <a:t>Gloves for a hot fixture - or kill the channel and let it cool. A Source Four that’s been on all rehearsal blisters skin.</a:t>
            </a:r>
          </a:p>
          <a:p xmlns:a="http://schemas.openxmlformats.org/drawingml/2006/main">
            <a:r>
              <a:t>Loosen the right bolt - know your pan bolt from your tilt bolt so the unit moves where you expect instead of swinging free.</a:t>
            </a:r>
          </a:p>
          <a:p xmlns:a="http://schemas.openxmlformats.org/drawingml/2006/main">
            <a:r>
              <a:t>Wrench tethered or pocketed , same as every trip up the ladder.</a:t>
            </a:r>
          </a:p>
          <a:p xmlns:a="http://schemas.openxmlformats.org/drawingml/2006/main">
            <a:r>
              <a:t>Call your moves: “going into channel 12” - so the board op doesn’t light you up mid-grab.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essential rules on this overview, then use the full source notes below as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your hearing</a:t>
            </a:r>
          </a:p>
          <a:p xmlns:a="http://schemas.openxmlformats.org/drawingml/2006/main">
            <a:r>
              <a:t>Sound level is measured as SPL (sound pressure level). Loud sound damages the tiny hair cells in your inner ear - and that damage is cumulative and permanent . It never heals, it only adds up.</a:t>
            </a:r>
          </a:p>
          <a:p xmlns:a="http://schemas.openxmlformats.org/drawingml/2006/main">
            <a:r>
              <a:t>So: wear hearing protection around loud tools and loud playback, keep your distance from speakers at show level, and treat ringing ears as a warning you already went too far.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Ringing ears</a:t>
            </a:r>
          </a:p>
          <a:p xmlns:a="http://schemas.openxmlformats.org/drawingml/2006/main">
            <a:r>
              <a:t>After a loud work session, your ears are ringing. What does that mean?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Headsets &amp; comms</a:t>
            </a:r>
          </a:p>
          <a:p xmlns:a="http://schemas.openxmlformats.org/drawingml/2006/main">
            <a:r>
              <a:t>The “no earbuds in the shop” rule has a show-business nuance:</a:t>
            </a:r>
          </a:p>
          <a:p xmlns:a="http://schemas.openxmlformats.org/drawingml/2006/main">
            <a:r>
              <a:t>Personal earbuds and headphones never belong in the work environment - they mask callouts, warnings, and the sound of trouble.</a:t>
            </a:r>
          </a:p>
          <a:p xmlns:a="http://schemas.openxmlformats.org/drawingml/2006/main">
            <a:r>
              <a:t>Production intercom is the exception - it exists so the crew can hear each other . Keep one ear open around moving scenery, keep chatter short and clean, and never let a joke on comms bury a “heads up.”</a:t>
            </a:r>
          </a:p>
          <a:p xmlns:a="http://schemas.openxmlformats.org/drawingml/2006/main">
            <a:r>
              <a:t>If you can’t hear the room, you’re not safe in the 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Fog, haze &amp; atmospherics</a:t>
            </a:r>
          </a:p>
          <a:p xmlns:a="http://schemas.openxmlformats.org/drawingml/2006/main">
            <a:r>
              <a:t>Atmosphere looks like magic and behaves like a chemical plus a slip hazard:</a:t>
            </a:r>
          </a:p>
          <a:p xmlns:a="http://schemas.openxmlformats.org/drawingml/2006/main">
            <a:r>
              <a:t>Use only approved fluids in fog and haze machines - the fluid’s SDS lives in the binder like every other chemical.</a:t>
            </a:r>
          </a:p>
          <a:p xmlns:a="http://schemas.openxmlformats.org/drawingml/2006/main">
            <a:r>
              <a:t>Heavy fog is a respiratory consideration - ventilation matters, and anyone with asthma should say so before the effect runs.</a:t>
            </a:r>
          </a:p>
          <a:p xmlns:a="http://schemas.openxmlformats.org/drawingml/2006/main">
            <a:r>
              <a:t>Fluid residue makes decks slick - watch the floor near the machine and mop drips.</a:t>
            </a:r>
          </a:p>
          <a:p xmlns:a="http://schemas.openxmlformats.org/drawingml/2006/main">
            <a:r>
              <a:t>Fog and haze can trip smoke alarms - effects run only with the instructor, coordinated with the venue.</a:t>
            </a:r>
          </a:p>
          <a:p xmlns:a="http://schemas.openxmlformats.org/drawingml/2006/main">
            <a:r>
              <a:t>The machine’s output and nozzle get hot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Handling &amp; rigging speakers</a:t>
            </a:r>
          </a:p>
          <a:p xmlns:a="http://schemas.openxmlformats.org/drawingml/2006/main">
            <a:r>
              <a:t>Speakers are heavy, awkward, and often end up over people’s heads.</a:t>
            </a:r>
          </a:p>
          <a:p xmlns:a="http://schemas.openxmlformats.org/drawingml/2006/main">
            <a:r>
              <a:t>• Lift and move them with help - protect your back and the cabinet.</a:t>
            </a:r>
          </a:p>
          <a:p xmlns:a="http://schemas.openxmlformats.org/drawingml/2006/main">
            <a:r>
              <a:t>• Anything flown or mounted overhead uses rated hardware and rigging points , secured so it cannot fall.</a:t>
            </a:r>
          </a:p>
          <a:p xmlns:a="http://schemas.openxmlformats.org/drawingml/2006/main">
            <a:r>
              <a:t>• Never stack or perch a speaker where a bump or a cable snag could bring it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Speakers: do - or never?</a:t>
            </a:r>
          </a:p>
          <a:p xmlns:a="http://schemas.openxmlformats.org/drawingml/2006/main">
            <a:r>
              <a:t>Sort each speaker move: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A task is going to fill the air with fine dust. Which PPE does that call for?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Dust protection is required whenever a task puts fine dust in the air; safety glasses and hearing protection guard against different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Dust protection is required whenever a task puts fine dust in the air; safety glasses and hearing protection guard against different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You discover a fire in the scene shop. What do you do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location and the nature of the fire, to the nearest adult - and never a panic shout in a crowded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location and the nature of the fire, to the nearest adult - and never a panic shout in a crowded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commit before advancing.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Before using any power or pneumatic tool for the first time, you must…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power and pneumatic tool requires passing its own safety orientation before you use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and ask one student to explain the rule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power and pneumatic tool requires passing its own safety orientation before you use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written certification from physical qualification. Students must still earn permission on each specific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/Users/harrisonlange/Documents/GitHub/Scenic-Construction-App/safety/index.html - SDSCPA-authored Safety Lab curriculum</a:t>
            </a:r>
          </a:p>
          <a:p xmlns:a="http://schemas.openxmlformats.org/drawingml/2006/main">
            <a:r>
              <a:t>- /Users/harrisonlange/Documents/GitHub/Scenic-Construction-App/SDSCPA_BRAND_GUIDE.md - SDSCPA visual identity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06d6ad2e94a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794419bc18428f" /><Relationship Type="http://schemas.openxmlformats.org/officeDocument/2006/relationships/slideLayout" Target="/ppt/slideLayouts/slideLayout1.xml" Id="Ra4b64bce18fc48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b64bce18fc48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23d6ef78e460b" /><Relationship Type="http://schemas.openxmlformats.org/officeDocument/2006/relationships/notesSlide" Target="/ppt/notesSlides/notesSlide1.xml" Id="Rb696ede3a7cc43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5edb33e9d4481" /><Relationship Type="http://schemas.openxmlformats.org/officeDocument/2006/relationships/notesSlide" Target="/ppt/notesSlides/notesSlide2.xml" Id="R5a409ddef8d949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35dbe4a2d40ec" /><Relationship Type="http://schemas.openxmlformats.org/officeDocument/2006/relationships/notesSlide" Target="/ppt/notesSlides/notesSlide3.xml" Id="R0110ff86f44e4b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15d97c7ab4b3c" /><Relationship Type="http://schemas.openxmlformats.org/officeDocument/2006/relationships/notesSlide" Target="/ppt/notesSlides/notesSlide4.xml" Id="R17d1f33626af41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bc2c6987e42b4" /><Relationship Type="http://schemas.openxmlformats.org/officeDocument/2006/relationships/notesSlide" Target="/ppt/notesSlides/notesSlide5.xml" Id="R71a32b9b02b641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c120089134532" /><Relationship Type="http://schemas.openxmlformats.org/officeDocument/2006/relationships/notesSlide" Target="/ppt/notesSlides/notesSlide6.xml" Id="R6ba4643f0889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0fc4644f743f5" /><Relationship Type="http://schemas.openxmlformats.org/officeDocument/2006/relationships/notesSlide" Target="/ppt/notesSlides/notesSlide7.xml" Id="R16576ec6177144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74fa94bc5463f" /><Relationship Type="http://schemas.openxmlformats.org/officeDocument/2006/relationships/notesSlide" Target="/ppt/notesSlides/notesSlide8.xml" Id="Rfd047969678948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e7eaca8a5407c" /><Relationship Type="http://schemas.openxmlformats.org/officeDocument/2006/relationships/notesSlide" Target="/ppt/notesSlides/notesSlide9.xml" Id="R7ef9ca51dbe84c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ab27a65544afe" /><Relationship Type="http://schemas.openxmlformats.org/officeDocument/2006/relationships/notesSlide" Target="/ppt/notesSlides/notesSlide10.xml" Id="R1c683cadcbf549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58b698474264" /><Relationship Type="http://schemas.openxmlformats.org/officeDocument/2006/relationships/notesSlide" Target="/ppt/notesSlides/notesSlide11.xml" Id="Rc80a52e5f97e42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b76cbb0a24c43" /><Relationship Type="http://schemas.openxmlformats.org/officeDocument/2006/relationships/notesSlide" Target="/ppt/notesSlides/notesSlide12.xml" Id="Rba6e1b61c4564b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f7759534447c4" /><Relationship Type="http://schemas.openxmlformats.org/officeDocument/2006/relationships/notesSlide" Target="/ppt/notesSlides/notesSlide13.xml" Id="R1f8f53288f2849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3208ecf87499a" /><Relationship Type="http://schemas.openxmlformats.org/officeDocument/2006/relationships/notesSlide" Target="/ppt/notesSlides/notesSlide14.xml" Id="Rac996eb9206b43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92457ee17404c" /><Relationship Type="http://schemas.openxmlformats.org/officeDocument/2006/relationships/notesSlide" Target="/ppt/notesSlides/notesSlide15.xml" Id="R77301abf608f46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e00ddaafd4c57" /><Relationship Type="http://schemas.openxmlformats.org/officeDocument/2006/relationships/notesSlide" Target="/ppt/notesSlides/notesSlide16.xml" Id="R72c8fb6e6e4441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9295d54a548dc" /><Relationship Type="http://schemas.openxmlformats.org/officeDocument/2006/relationships/notesSlide" Target="/ppt/notesSlides/notesSlide17.xml" Id="R0b5017a3b43b40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bef74a1324eb3" /><Relationship Type="http://schemas.openxmlformats.org/officeDocument/2006/relationships/notesSlide" Target="/ppt/notesSlides/notesSlide18.xml" Id="R36ab3111e8ba48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ad0161167444f" /><Relationship Type="http://schemas.openxmlformats.org/officeDocument/2006/relationships/notesSlide" Target="/ppt/notesSlides/notesSlide19.xml" Id="Rd97f5efee3844a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0c001d92d490e" /><Relationship Type="http://schemas.openxmlformats.org/officeDocument/2006/relationships/notesSlide" Target="/ppt/notesSlides/notesSlide20.xml" Id="R8122543c06d141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b419e44b24d3a" /><Relationship Type="http://schemas.openxmlformats.org/officeDocument/2006/relationships/notesSlide" Target="/ppt/notesSlides/notesSlide21.xml" Id="R238660f172a3411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856f1197f4f62" /><Relationship Type="http://schemas.openxmlformats.org/officeDocument/2006/relationships/notesSlide" Target="/ppt/notesSlides/notesSlide22.xml" Id="R9354a53736fe49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2c82c4cb0428c" /><Relationship Type="http://schemas.openxmlformats.org/officeDocument/2006/relationships/notesSlide" Target="/ppt/notesSlides/notesSlide23.xml" Id="Raaa78799078b43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42be7fe8740bf" /><Relationship Type="http://schemas.openxmlformats.org/officeDocument/2006/relationships/notesSlide" Target="/ppt/notesSlides/notesSlide24.xml" Id="R2127d70ff0d84f7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c1b1ee0dc4fc1" /><Relationship Type="http://schemas.openxmlformats.org/officeDocument/2006/relationships/notesSlide" Target="/ppt/notesSlides/notesSlide25.xml" Id="Re558bad6c8e949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bfc0fa13d4604" /><Relationship Type="http://schemas.openxmlformats.org/officeDocument/2006/relationships/notesSlide" Target="/ppt/notesSlides/notesSlide26.xml" Id="Rd656ee260584499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919870f084924" /><Relationship Type="http://schemas.openxmlformats.org/officeDocument/2006/relationships/notesSlide" Target="/ppt/notesSlides/notesSlide27.xml" Id="Rb03a60ddc50741e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7498b4fe14704" /><Relationship Type="http://schemas.openxmlformats.org/officeDocument/2006/relationships/notesSlide" Target="/ppt/notesSlides/notesSlide28.xml" Id="R57717e7db4e14fe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41bdf4c8c4c4e" /><Relationship Type="http://schemas.openxmlformats.org/officeDocument/2006/relationships/notesSlide" Target="/ppt/notesSlides/notesSlide29.xml" Id="Rb59b5321f51240b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75b0fa5074d07" /><Relationship Type="http://schemas.openxmlformats.org/officeDocument/2006/relationships/notesSlide" Target="/ppt/notesSlides/notesSlide30.xml" Id="R47710abca72e4cb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b7d6d61144620" /><Relationship Type="http://schemas.openxmlformats.org/officeDocument/2006/relationships/notesSlide" Target="/ppt/notesSlides/notesSlide31.xml" Id="Rb205201f72ce486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023196c6c4d23" /><Relationship Type="http://schemas.openxmlformats.org/officeDocument/2006/relationships/notesSlide" Target="/ppt/notesSlides/notesSlide32.xml" Id="Rf46768c27ab9421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9dccb19bd4e43" /><Relationship Type="http://schemas.openxmlformats.org/officeDocument/2006/relationships/notesSlide" Target="/ppt/notesSlides/notesSlide33.xml" Id="R3daa64858382418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dd703d3eb403b" /><Relationship Type="http://schemas.openxmlformats.org/officeDocument/2006/relationships/notesSlide" Target="/ppt/notesSlides/notesSlide34.xml" Id="R1c539eaa2874452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018a700334a85" /><Relationship Type="http://schemas.openxmlformats.org/officeDocument/2006/relationships/notesSlide" Target="/ppt/notesSlides/notesSlide35.xml" Id="Rd6838d34cd64433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54ad8a73945a7" /><Relationship Type="http://schemas.openxmlformats.org/officeDocument/2006/relationships/notesSlide" Target="/ppt/notesSlides/notesSlide36.xml" Id="Rfdb6c06ff3c44ef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cb60d299f4d3f" /><Relationship Type="http://schemas.openxmlformats.org/officeDocument/2006/relationships/notesSlide" Target="/ppt/notesSlides/notesSlide37.xml" Id="Rcbad27762ec0495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d54571d9d450b" /><Relationship Type="http://schemas.openxmlformats.org/officeDocument/2006/relationships/notesSlide" Target="/ppt/notesSlides/notesSlide38.xml" Id="R9fe6821cc6c545a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dddec7667403b" /><Relationship Type="http://schemas.openxmlformats.org/officeDocument/2006/relationships/notesSlide" Target="/ppt/notesSlides/notesSlide39.xml" Id="Rf23d72267733432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ad678cdb14cf5" /><Relationship Type="http://schemas.openxmlformats.org/officeDocument/2006/relationships/notesSlide" Target="/ppt/notesSlides/notesSlide40.xml" Id="R782fc88dc24c404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be54c8ecb46b5" /><Relationship Type="http://schemas.openxmlformats.org/officeDocument/2006/relationships/notesSlide" Target="/ppt/notesSlides/notesSlide41.xml" Id="R4201e5d603c24a2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b2635f78f4d87" /><Relationship Type="http://schemas.openxmlformats.org/officeDocument/2006/relationships/notesSlide" Target="/ppt/notesSlides/notesSlide42.xml" Id="Rc4aca442e4b643c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ca45c78144807" /><Relationship Type="http://schemas.openxmlformats.org/officeDocument/2006/relationships/notesSlide" Target="/ppt/notesSlides/notesSlide43.xml" Id="R96a3a213c9fe48a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1a7e6609442e1" /><Relationship Type="http://schemas.openxmlformats.org/officeDocument/2006/relationships/notesSlide" Target="/ppt/notesSlides/notesSlide44.xml" Id="R26d6b1564df84f7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87a4f8aa84757" /><Relationship Type="http://schemas.openxmlformats.org/officeDocument/2006/relationships/notesSlide" Target="/ppt/notesSlides/notesSlide45.xml" Id="Rbdff4aca173f4ac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42e36d6354ea5" /><Relationship Type="http://schemas.openxmlformats.org/officeDocument/2006/relationships/notesSlide" Target="/ppt/notesSlides/notesSlide46.xml" Id="Rf33c19ff63d843d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9d2745cc24b25" /><Relationship Type="http://schemas.openxmlformats.org/officeDocument/2006/relationships/notesSlide" Target="/ppt/notesSlides/notesSlide47.xml" Id="R7b043a418a28495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2e3411a8f41e6" /><Relationship Type="http://schemas.openxmlformats.org/officeDocument/2006/relationships/notesSlide" Target="/ppt/notesSlides/notesSlide48.xml" Id="R0eed1dcedf604ef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485f500e643b7" /><Relationship Type="http://schemas.openxmlformats.org/officeDocument/2006/relationships/notesSlide" Target="/ppt/notesSlides/notesSlide49.xml" Id="R000c44297eed449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10d46fb6e4127" /><Relationship Type="http://schemas.openxmlformats.org/officeDocument/2006/relationships/notesSlide" Target="/ppt/notesSlides/notesSlide50.xml" Id="Rc3ce85e153c14a1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e6ee22c9f4c0b" /><Relationship Type="http://schemas.openxmlformats.org/officeDocument/2006/relationships/notesSlide" Target="/ppt/notesSlides/notesSlide51.xml" Id="R80cfa2aa70194b6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789708fbc4037" /><Relationship Type="http://schemas.openxmlformats.org/officeDocument/2006/relationships/notesSlide" Target="/ppt/notesSlides/notesSlide52.xml" Id="Rafafbc9b8cfb4a0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1259b86694f83" /><Relationship Type="http://schemas.openxmlformats.org/officeDocument/2006/relationships/notesSlide" Target="/ppt/notesSlides/notesSlide53.xml" Id="R051098a587b64a8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fd5ddb0e041a3" /><Relationship Type="http://schemas.openxmlformats.org/officeDocument/2006/relationships/notesSlide" Target="/ppt/notesSlides/notesSlide54.xml" Id="Ra8c0ef8ad2884de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59fb9b5084ef6" /><Relationship Type="http://schemas.openxmlformats.org/officeDocument/2006/relationships/notesSlide" Target="/ppt/notesSlides/notesSlide55.xml" Id="R7a47f622187848a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54ce3388846c5" /><Relationship Type="http://schemas.openxmlformats.org/officeDocument/2006/relationships/notesSlide" Target="/ppt/notesSlides/notesSlide56.xml" Id="R83de55611a8c45b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be8e2cb544995" /><Relationship Type="http://schemas.openxmlformats.org/officeDocument/2006/relationships/notesSlide" Target="/ppt/notesSlides/notesSlide57.xml" Id="Ra0bdd082d0e248c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a3065c81a4c67" /><Relationship Type="http://schemas.openxmlformats.org/officeDocument/2006/relationships/notesSlide" Target="/ppt/notesSlides/notesSlide58.xml" Id="R03c105e6f88c48e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7335b31b44abf" /><Relationship Type="http://schemas.openxmlformats.org/officeDocument/2006/relationships/notesSlide" Target="/ppt/notesSlides/notesSlide59.xml" Id="Rfbd483a25661434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16aaa53124a2f" /><Relationship Type="http://schemas.openxmlformats.org/officeDocument/2006/relationships/notesSlide" Target="/ppt/notesSlides/notesSlide60.xml" Id="Rb4fb4b190d8d4f65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f8b91c951420f" /><Relationship Type="http://schemas.openxmlformats.org/officeDocument/2006/relationships/notesSlide" Target="/ppt/notesSlides/notesSlide61.xml" Id="Rabe7a1a2102a49b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32921efab41af" /><Relationship Type="http://schemas.openxmlformats.org/officeDocument/2006/relationships/notesSlide" Target="/ppt/notesSlides/notesSlide62.xml" Id="R4884fd93cb6b442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8ed188ff64a8c" /><Relationship Type="http://schemas.openxmlformats.org/officeDocument/2006/relationships/notesSlide" Target="/ppt/notesSlides/notesSlide63.xml" Id="Rff0dc21965a54db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5d7a8f065446f" /><Relationship Type="http://schemas.openxmlformats.org/officeDocument/2006/relationships/notesSlide" Target="/ppt/notesSlides/notesSlide64.xml" Id="Re7909e86eb16456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c4571c430450e" /><Relationship Type="http://schemas.openxmlformats.org/officeDocument/2006/relationships/notesSlide" Target="/ppt/notesSlides/notesSlide65.xml" Id="R298afa9bff1d4d2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667fd44bf4e5c" /><Relationship Type="http://schemas.openxmlformats.org/officeDocument/2006/relationships/notesSlide" Target="/ppt/notesSlides/notesSlide66.xml" Id="Rd11c68a65c1d4dd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1ce62795425a" /><Relationship Type="http://schemas.openxmlformats.org/officeDocument/2006/relationships/notesSlide" Target="/ppt/notesSlides/notesSlide67.xml" Id="R70590d17ea5f44b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95d3bdb1f4627" /><Relationship Type="http://schemas.openxmlformats.org/officeDocument/2006/relationships/notesSlide" Target="/ppt/notesSlides/notesSlide68.xml" Id="Rd28bf0e8b2f343c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5e639767d4fe7" /><Relationship Type="http://schemas.openxmlformats.org/officeDocument/2006/relationships/notesSlide" Target="/ppt/notesSlides/notesSlide69.xml" Id="Rd8e7a32472b24cf9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91166e3954e1a" /><Relationship Type="http://schemas.openxmlformats.org/officeDocument/2006/relationships/notesSlide" Target="/ppt/notesSlides/notesSlide70.xml" Id="Ra51064f4222245ba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69f2793c24867" /><Relationship Type="http://schemas.openxmlformats.org/officeDocument/2006/relationships/notesSlide" Target="/ppt/notesSlides/notesSlide71.xml" Id="Re0076e5577fb44d1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82ec0d824408d" /><Relationship Type="http://schemas.openxmlformats.org/officeDocument/2006/relationships/notesSlide" Target="/ppt/notesSlides/notesSlide72.xml" Id="R1b0a2626d8014617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10916073f45c3" /><Relationship Type="http://schemas.openxmlformats.org/officeDocument/2006/relationships/notesSlide" Target="/ppt/notesSlides/notesSlide73.xml" Id="R83c8913fd6a64c39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e4b0fa22e4810" /><Relationship Type="http://schemas.openxmlformats.org/officeDocument/2006/relationships/notesSlide" Target="/ppt/notesSlides/notesSlide74.xml" Id="Re16fc9bef85e4520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046d61b654369" /><Relationship Type="http://schemas.openxmlformats.org/officeDocument/2006/relationships/notesSlide" Target="/ppt/notesSlides/notesSlide75.xml" Id="Ra4e9d78be21f4ca5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b2a183c1549b4" /><Relationship Type="http://schemas.openxmlformats.org/officeDocument/2006/relationships/notesSlide" Target="/ppt/notesSlides/notesSlide76.xml" Id="Rc9f6883ebbcc4851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b964b3a704d2a" /><Relationship Type="http://schemas.openxmlformats.org/officeDocument/2006/relationships/notesSlide" Target="/ppt/notesSlides/notesSlide77.xml" Id="R3e36ccd9e11a4c6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1ecfe28ff4531" /><Relationship Type="http://schemas.openxmlformats.org/officeDocument/2006/relationships/notesSlide" Target="/ppt/notesSlides/notesSlide78.xml" Id="Ra0a62ddfa72a4e7d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e5437cfe34eba" /><Relationship Type="http://schemas.openxmlformats.org/officeDocument/2006/relationships/notesSlide" Target="/ppt/notesSlides/notesSlide79.xml" Id="Rc6670c441a304ab5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cece181744188" /><Relationship Type="http://schemas.openxmlformats.org/officeDocument/2006/relationships/notesSlide" Target="/ppt/notesSlides/notesSlide80.xml" Id="R3018ef605e914e42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d94da55fd47ac" /><Relationship Type="http://schemas.openxmlformats.org/officeDocument/2006/relationships/notesSlide" Target="/ppt/notesSlides/notesSlide81.xml" Id="R6b843f592fb84f71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3156b35834d30" /><Relationship Type="http://schemas.openxmlformats.org/officeDocument/2006/relationships/notesSlide" Target="/ppt/notesSlides/notesSlide82.xml" Id="Rd11fa3abcde540b2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29e2024654967" /><Relationship Type="http://schemas.openxmlformats.org/officeDocument/2006/relationships/notesSlide" Target="/ppt/notesSlides/notesSlide83.xml" Id="R92eb15924bc5481d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4399fd68b4896" /><Relationship Type="http://schemas.openxmlformats.org/officeDocument/2006/relationships/notesSlide" Target="/ppt/notesSlides/notesSlide84.xml" Id="R3c9fbb7511314eb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93a1b8844485a" /><Relationship Type="http://schemas.openxmlformats.org/officeDocument/2006/relationships/notesSlide" Target="/ppt/notesSlides/notesSlide85.xml" Id="Rca0f55d77051416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9d297e7dd4b1e" /><Relationship Type="http://schemas.openxmlformats.org/officeDocument/2006/relationships/notesSlide" Target="/ppt/notesSlides/notesSlide86.xml" Id="R902aab365f8a4285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b04023e2149dd" /><Relationship Type="http://schemas.openxmlformats.org/officeDocument/2006/relationships/notesSlide" Target="/ppt/notesSlides/notesSlide87.xml" Id="R5175e6613f4640d4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580acc1d346c6" /><Relationship Type="http://schemas.openxmlformats.org/officeDocument/2006/relationships/notesSlide" Target="/ppt/notesSlides/notesSlide88.xml" Id="R9cbb220f13144d58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fec1a1fc44e5e" /><Relationship Type="http://schemas.openxmlformats.org/officeDocument/2006/relationships/notesSlide" Target="/ppt/notesSlides/notesSlide89.xml" Id="Rcde32da3ce014947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9fa058cf4d38" /><Relationship Type="http://schemas.openxmlformats.org/officeDocument/2006/relationships/notesSlide" Target="/ppt/notesSlides/notesSlide90.xml" Id="R5c9d481e9bcb462f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b30c1609241fc" /><Relationship Type="http://schemas.openxmlformats.org/officeDocument/2006/relationships/notesSlide" Target="/ppt/notesSlides/notesSlide91.xml" Id="Rca6d23d1cc264e05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27036059c4cf4" /><Relationship Type="http://schemas.openxmlformats.org/officeDocument/2006/relationships/notesSlide" Target="/ppt/notesSlides/notesSlide92.xml" Id="Rac8827fbc20f4dc1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7e7af96e34b4c" /><Relationship Type="http://schemas.openxmlformats.org/officeDocument/2006/relationships/notesSlide" Target="/ppt/notesSlides/notesSlide93.xml" Id="R1dd522029255421e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1cd12e3eb45de" /><Relationship Type="http://schemas.openxmlformats.org/officeDocument/2006/relationships/notesSlide" Target="/ppt/notesSlides/notesSlide94.xml" Id="Re8f91add23164757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f8237706b4019" /><Relationship Type="http://schemas.openxmlformats.org/officeDocument/2006/relationships/notesSlide" Target="/ppt/notesSlides/notesSlide95.xml" Id="R2ef83b943aec4338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5fdb79b3b4ee8" /><Relationship Type="http://schemas.openxmlformats.org/officeDocument/2006/relationships/notesSlide" Target="/ppt/notesSlides/notesSlide96.xml" Id="R6eb094c822cf4efe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498e788484fba" /><Relationship Type="http://schemas.openxmlformats.org/officeDocument/2006/relationships/notesSlide" Target="/ppt/notesSlides/notesSlide97.xml" Id="Re715a4aa09e448ce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be644a9694900" /><Relationship Type="http://schemas.openxmlformats.org/officeDocument/2006/relationships/notesSlide" Target="/ppt/notesSlides/notesSlide98.xml" Id="R5b4c2e73009f4beb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9a55a043e400f" /><Relationship Type="http://schemas.openxmlformats.org/officeDocument/2006/relationships/notesSlide" Target="/ppt/notesSlides/notesSlide99.xml" Id="Rc7deff5685134d3d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cbd071fd248ae" /><Relationship Type="http://schemas.openxmlformats.org/officeDocument/2006/relationships/notesSlide" Target="/ppt/notesSlides/notesSlide100.xml" Id="R0ad0ebc8f33549fb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52a4c35b240b2" /><Relationship Type="http://schemas.openxmlformats.org/officeDocument/2006/relationships/notesSlide" Target="/ppt/notesSlides/notesSlide101.xml" Id="R84e18bc015c84634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65d2ede2d4b0b" /><Relationship Type="http://schemas.openxmlformats.org/officeDocument/2006/relationships/notesSlide" Target="/ppt/notesSlides/notesSlide102.xml" Id="R6d0c4be4ce86438b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6ae5fcd0a413f" /><Relationship Type="http://schemas.openxmlformats.org/officeDocument/2006/relationships/notesSlide" Target="/ppt/notesSlides/notesSlide103.xml" Id="Re1d0a334879b491f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adb46b0ae4665" /><Relationship Type="http://schemas.openxmlformats.org/officeDocument/2006/relationships/notesSlide" Target="/ppt/notesSlides/notesSlide104.xml" Id="R38edb63a10054642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6d64ce0b44c1e" /><Relationship Type="http://schemas.openxmlformats.org/officeDocument/2006/relationships/notesSlide" Target="/ppt/notesSlides/notesSlide105.xml" Id="R0b9252214ea942be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aa064227e4652" /><Relationship Type="http://schemas.openxmlformats.org/officeDocument/2006/relationships/notesSlide" Target="/ppt/notesSlides/notesSlide106.xml" Id="R4b801d0be9fb4086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a4c8551b144bb" /><Relationship Type="http://schemas.openxmlformats.org/officeDocument/2006/relationships/notesSlide" Target="/ppt/notesSlides/notesSlide107.xml" Id="R6f3d95a26cc944be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ee808a09f4f07" /><Relationship Type="http://schemas.openxmlformats.org/officeDocument/2006/relationships/notesSlide" Target="/ppt/notesSlides/notesSlide108.xml" Id="R1eb86c51c62b4da4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d123769dc48bc" /><Relationship Type="http://schemas.openxmlformats.org/officeDocument/2006/relationships/notesSlide" Target="/ppt/notesSlides/notesSlide109.xml" Id="R3ab12170f315473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5122d19284477" /><Relationship Type="http://schemas.openxmlformats.org/officeDocument/2006/relationships/notesSlide" Target="/ppt/notesSlides/notesSlide110.xml" Id="Rf636487bb7b549f9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ab10b38844b96" /><Relationship Type="http://schemas.openxmlformats.org/officeDocument/2006/relationships/notesSlide" Target="/ppt/notesSlides/notesSlide111.xml" Id="R101be99981454088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85fd4d55a4881" /><Relationship Type="http://schemas.openxmlformats.org/officeDocument/2006/relationships/notesSlide" Target="/ppt/notesSlides/notesSlide112.xml" Id="R4d86995631f84005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f9f192f0c4dd8" /><Relationship Type="http://schemas.openxmlformats.org/officeDocument/2006/relationships/notesSlide" Target="/ppt/notesSlides/notesSlide113.xml" Id="R89c282b8dc094c70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8c3d100074178" /><Relationship Type="http://schemas.openxmlformats.org/officeDocument/2006/relationships/notesSlide" Target="/ppt/notesSlides/notesSlide114.xml" Id="Re881ec7955f84c5e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aa4a8add149a0" /><Relationship Type="http://schemas.openxmlformats.org/officeDocument/2006/relationships/notesSlide" Target="/ppt/notesSlides/notesSlide115.xml" Id="R3ad16a3e4e6e411a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3217694a7443e" /><Relationship Type="http://schemas.openxmlformats.org/officeDocument/2006/relationships/notesSlide" Target="/ppt/notesSlides/notesSlide116.xml" Id="R53c4b0ffc3ae4aeb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96dcf39d64835" /><Relationship Type="http://schemas.openxmlformats.org/officeDocument/2006/relationships/notesSlide" Target="/ppt/notesSlides/notesSlide117.xml" Id="R9b10b607a3604373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d2d49376d40ca" /><Relationship Type="http://schemas.openxmlformats.org/officeDocument/2006/relationships/notesSlide" Target="/ppt/notesSlides/notesSlide118.xml" Id="R66f47e437a24401d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ccd520da04bf0" /><Relationship Type="http://schemas.openxmlformats.org/officeDocument/2006/relationships/notesSlide" Target="/ppt/notesSlides/notesSlide119.xml" Id="R5e84ac3ed5a64935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ec29d33a8457f" /><Relationship Type="http://schemas.openxmlformats.org/officeDocument/2006/relationships/notesSlide" Target="/ppt/notesSlides/notesSlide120.xml" Id="R249b5e5fb4de4ee8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392aca86d4abc" /><Relationship Type="http://schemas.openxmlformats.org/officeDocument/2006/relationships/notesSlide" Target="/ppt/notesSlides/notesSlide121.xml" Id="R300fe05b4a884b8d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4b7f80dfb4d88" /><Relationship Type="http://schemas.openxmlformats.org/officeDocument/2006/relationships/notesSlide" Target="/ppt/notesSlides/notesSlide122.xml" Id="R6456624760da4d1e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753a92afb4736" /><Relationship Type="http://schemas.openxmlformats.org/officeDocument/2006/relationships/notesSlide" Target="/ppt/notesSlides/notesSlide123.xml" Id="Rac460e9b58194c95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2f0afaa35414a" /><Relationship Type="http://schemas.openxmlformats.org/officeDocument/2006/relationships/notesSlide" Target="/ppt/notesSlides/notesSlide124.xml" Id="R74ab517fdf0b4c0b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da6ad847141b1" /><Relationship Type="http://schemas.openxmlformats.org/officeDocument/2006/relationships/notesSlide" Target="/ppt/notesSlides/notesSlide125.xml" Id="R69f689f3f5d147e5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465e78b464488" /><Relationship Type="http://schemas.openxmlformats.org/officeDocument/2006/relationships/notesSlide" Target="/ppt/notesSlides/notesSlide126.xml" Id="Rffcb984bbe8047cb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e97afaade472c" /><Relationship Type="http://schemas.openxmlformats.org/officeDocument/2006/relationships/notesSlide" Target="/ppt/notesSlides/notesSlide127.xml" Id="Rcbf02c8083f84460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cbf0934a24df1" /><Relationship Type="http://schemas.openxmlformats.org/officeDocument/2006/relationships/notesSlide" Target="/ppt/notesSlides/notesSlide128.xml" Id="Raab5e88a8f1a4345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2b6cf4ce7453d" /><Relationship Type="http://schemas.openxmlformats.org/officeDocument/2006/relationships/notesSlide" Target="/ppt/notesSlides/notesSlide129.xml" Id="R2714a6b85f2946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5DB78C4A-87F7-4A2D-9182-4E89EEC2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1442438-E997-4123-9662-36FC6277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8815021-D26B-40A3-A135-F6760FD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2AF6B6A1-01E9-469A-8FF5-68161A1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5BB05C9-DC98-4917-9FC7-CF270C92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17B56EA-3CF5-4932-9727-629E0A46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5AD6D9A-D97A-4B32-9768-BCA11071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D113FE8C-F368-43CF-ADA7-A2636E1B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29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390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390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390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390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390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390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DF3ACB69-36DF-4E58-BDDB-DC8E6E88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</a:t>
            </a:r>
          </a:p>
        </p:txBody>
      </p:sp>
      <p:sp>
        <p:nvSpPr>
          <p:cNvPr id="10" name="deck-title">
            <a:extLst xmlns:a="http://schemas.openxmlformats.org/drawingml/2006/main">
              <a:ext uri="{FF2B5EF4-FFF2-40B4-BE49-F238E27FC236}">
                <a16:creationId xmlns:a16="http://schemas.microsoft.com/office/drawing/2014/main" id="{796AB63C-CE8F-4A21-83BB-819D94A0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762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4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Theatre Safety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4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Classroom Lab</a:t>
            </a:r>
          </a:p>
        </p:txBody>
      </p:sp>
      <p:sp>
        <p:nvSpPr>
          <p:cNvPr id="11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3527231A-DD41-4979-95C1-12FC79D0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Grade 10 → Grade 9 → Grade 8</a:t>
            </a:r>
          </a:p>
        </p:txBody>
      </p:sp>
      <p:sp>
        <p:nvSpPr>
          <p:cNvPr id="12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40413131-672D-4DC3-AF61-A87480B8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Teach the rules. Ask the room. Reveal the answer. Certify safe practice.</a:t>
            </a:r>
          </a:p>
        </p:txBody>
      </p:sp>
      <p:sp>
        <p:nvSpPr>
          <p:cNvPr id="1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A3A7DD1-D65F-4E2B-88B3-91A6E4A7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162050"/>
            <a:ext cx="114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tle-mark">
            <a:extLst xmlns:a="http://schemas.openxmlformats.org/drawingml/2006/main">
              <a:ext uri="{FF2B5EF4-FFF2-40B4-BE49-F238E27FC236}">
                <a16:creationId xmlns:a16="http://schemas.microsoft.com/office/drawing/2014/main" id="{D5AA9DB6-2974-4084-97D6-3FDB3A7F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574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5" name="title-mark-label">
            <a:extLst xmlns:a="http://schemas.openxmlformats.org/drawingml/2006/main">
              <a:ext uri="{FF2B5EF4-FFF2-40B4-BE49-F238E27FC236}">
                <a16:creationId xmlns:a16="http://schemas.microsoft.com/office/drawing/2014/main" id="{5A8C50D5-F360-47DD-B29D-2A42BC54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16" name="rainbow-1">
            <a:extLst xmlns:a="http://schemas.openxmlformats.org/drawingml/2006/main">
              <a:ext uri="{FF2B5EF4-FFF2-40B4-BE49-F238E27FC236}">
                <a16:creationId xmlns:a16="http://schemas.microsoft.com/office/drawing/2014/main" id="{CEE21216-3762-459D-9784-D48F31A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inbow-2">
            <a:extLst xmlns:a="http://schemas.openxmlformats.org/drawingml/2006/main">
              <a:ext uri="{FF2B5EF4-FFF2-40B4-BE49-F238E27FC236}">
                <a16:creationId xmlns:a16="http://schemas.microsoft.com/office/drawing/2014/main" id="{E14093A4-75CD-45C6-A5D5-A22180FF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inbow-3">
            <a:extLst xmlns:a="http://schemas.openxmlformats.org/drawingml/2006/main">
              <a:ext uri="{FF2B5EF4-FFF2-40B4-BE49-F238E27FC236}">
                <a16:creationId xmlns:a16="http://schemas.microsoft.com/office/drawing/2014/main" id="{016FE15E-E57A-4408-AB72-6421B2A0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inbow-4">
            <a:extLst xmlns:a="http://schemas.openxmlformats.org/drawingml/2006/main">
              <a:ext uri="{FF2B5EF4-FFF2-40B4-BE49-F238E27FC236}">
                <a16:creationId xmlns:a16="http://schemas.microsoft.com/office/drawing/2014/main" id="{43513BEE-6938-42CD-9DC3-76EB1558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inbow-5">
            <a:extLst xmlns:a="http://schemas.openxmlformats.org/drawingml/2006/main">
              <a:ext uri="{FF2B5EF4-FFF2-40B4-BE49-F238E27FC236}">
                <a16:creationId xmlns:a16="http://schemas.microsoft.com/office/drawing/2014/main" id="{C665AA0B-3360-4958-B124-35FB91CE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inbow-6">
            <a:extLst xmlns:a="http://schemas.openxmlformats.org/drawingml/2006/main">
              <a:ext uri="{FF2B5EF4-FFF2-40B4-BE49-F238E27FC236}">
                <a16:creationId xmlns:a16="http://schemas.microsoft.com/office/drawing/2014/main" id="{E7DD1B34-CDFB-46FB-BCEC-583D6199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ainbow-7">
            <a:extLst xmlns:a="http://schemas.openxmlformats.org/drawingml/2006/main">
              <a:ext uri="{FF2B5EF4-FFF2-40B4-BE49-F238E27FC236}">
                <a16:creationId xmlns:a16="http://schemas.microsoft.com/office/drawing/2014/main" id="{8EAD0ECA-F70D-4675-A943-7A5A4D3D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ECEBEE-5ECB-4D82-8FA5-E2561E50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CLASSROOM DECK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C224798-2DDE-4B63-8919-7C528FC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45464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inbow-1">
            <a:extLst xmlns:a="http://schemas.openxmlformats.org/drawingml/2006/main">
              <a:ext uri="{FF2B5EF4-FFF2-40B4-BE49-F238E27FC236}">
                <a16:creationId xmlns:a16="http://schemas.microsoft.com/office/drawing/2014/main" id="{AF2F32B5-D86D-4951-8807-1AD81458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8E85793-13D5-4C09-9452-9A3DB9CF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6444F21-259A-4AE1-88A9-F7DE7A62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091CB73-CBC5-4B1C-9CCE-00B4357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96A839F-8E94-4733-85CD-7CA3EE1F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69B12D4-7AC0-42F4-A0F7-0C1ED14F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415C9B5C-FA4B-4D8B-9A74-B2A17F25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2A13DB68-5E41-4FB3-8137-D90879DA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F5872DD8-E466-4127-B778-BA08FDB8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BF0F1AF-D4DF-4677-97DB-76CD46E3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5D849EDD-CAF1-4B48-8B3E-4667B5CC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EEFB6C60-A13A-4EAA-9DD8-0A557B20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DF79961F-8C0E-4D07-9D2B-286E78D1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692D59A-FBF9-4BBB-BD83-08928956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3777CF6E-4240-4069-9E90-472B8818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C443D35-76D9-4671-85EA-E3C5738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D941B01-2695-4697-9770-2A31573D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HOW TO USE THIS DECK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74371A2-E90F-4E01-914C-79F57CF7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how-title">
            <a:extLst xmlns:a="http://schemas.openxmlformats.org/drawingml/2006/main">
              <a:ext uri="{FF2B5EF4-FFF2-40B4-BE49-F238E27FC236}">
                <a16:creationId xmlns:a16="http://schemas.microsoft.com/office/drawing/2014/main" id="{145B2108-6A36-4380-9EA8-6FDFAB7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Pause before every reveal</a:t>
            </a:r>
          </a:p>
        </p:txBody>
      </p:sp>
      <p:sp>
        <p:nvSpPr>
          <p:cNvPr id="20" name="how-subtitle">
            <a:extLst xmlns:a="http://schemas.openxmlformats.org/drawingml/2006/main">
              <a:ext uri="{FF2B5EF4-FFF2-40B4-BE49-F238E27FC236}">
                <a16:creationId xmlns:a16="http://schemas.microsoft.com/office/drawing/2014/main" id="{6BEB4D32-AAC7-4DA7-9A77-470E94DD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A9ADB4"/>
                </a:solidFill>
                <a:latin typeface="Arial"/>
                <a:ea typeface="Arial"/>
                <a:cs typeface="Arial"/>
              </a:rPr>
              <a:t>The question slide always comes first. Advance only after students commit to an answer.</a:t>
            </a:r>
          </a:p>
        </p:txBody>
      </p:sp>
      <p:sp>
        <p:nvSpPr>
          <p:cNvPr id="21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20F63E4-06A4-494C-9B23-1DE5F8AF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step-heading-1">
            <a:extLst xmlns:a="http://schemas.openxmlformats.org/drawingml/2006/main">
              <a:ext uri="{FF2B5EF4-FFF2-40B4-BE49-F238E27FC236}">
                <a16:creationId xmlns:a16="http://schemas.microsoft.com/office/drawing/2014/main" id="{A1C13813-57C3-4D3F-8DA7-7ED37373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0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2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587093DC-0435-4061-BBE6-6B49F8A3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90775"/>
            <a:ext cx="785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A9ADB4"/>
                </a:solidFill>
                <a:latin typeface="Arial"/>
                <a:ea typeface="Arial"/>
                <a:cs typeface="Arial"/>
              </a:rPr>
              <a:t>Read the prompt aloud and give students quiet think time.</a:t>
            </a:r>
          </a:p>
        </p:txBody>
      </p:sp>
      <p:sp>
        <p:nvSpPr>
          <p:cNvPr id="2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2F93E25F-24EB-47F2-BBED-43C1FA35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5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907A957-58A5-4BFC-98BC-D2841646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step-heading-2">
            <a:extLst xmlns:a="http://schemas.openxmlformats.org/drawingml/2006/main">
              <a:ext uri="{FF2B5EF4-FFF2-40B4-BE49-F238E27FC236}">
                <a16:creationId xmlns:a16="http://schemas.microsoft.com/office/drawing/2014/main" id="{24EA26EE-3903-479D-83A1-F70B8418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2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CA8F3C1-B1E8-4D28-A803-E09DE04A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86125"/>
            <a:ext cx="785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A9ADB4"/>
                </a:solidFill>
                <a:latin typeface="Arial"/>
                <a:ea typeface="Arial"/>
                <a:cs typeface="Arial"/>
              </a:rPr>
              <a:t>Take a hand vote, cold-call, or ask partners to agree on one response.</a:t>
            </a:r>
          </a:p>
        </p:txBody>
      </p:sp>
      <p:sp>
        <p:nvSpPr>
          <p:cNvPr id="28" name="step-line-2">
            <a:extLst xmlns:a="http://schemas.openxmlformats.org/drawingml/2006/main">
              <a:ext uri="{FF2B5EF4-FFF2-40B4-BE49-F238E27FC236}">
                <a16:creationId xmlns:a16="http://schemas.microsoft.com/office/drawing/2014/main" id="{C8C65BE0-9AA7-4F2F-B02C-8C580C7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9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5BC2089-C927-4D42-911C-E9407A3D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step-heading-3">
            <a:extLst xmlns:a="http://schemas.openxmlformats.org/drawingml/2006/main">
              <a:ext uri="{FF2B5EF4-FFF2-40B4-BE49-F238E27FC236}">
                <a16:creationId xmlns:a16="http://schemas.microsoft.com/office/drawing/2014/main" id="{3CFC5F81-CEE1-42FB-9631-B447789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3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77BBBF2B-5633-418F-A321-3F026F4F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81475"/>
            <a:ext cx="785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A9ADB4"/>
                </a:solidFill>
                <a:latin typeface="Arial"/>
                <a:ea typeface="Arial"/>
                <a:cs typeface="Arial"/>
              </a:rPr>
              <a:t>Advance one slide. Compare the answer with the class reasoning.</a:t>
            </a:r>
          </a:p>
        </p:txBody>
      </p:sp>
      <p:sp>
        <p:nvSpPr>
          <p:cNvPr id="32" name="step-line-3">
            <a:extLst xmlns:a="http://schemas.openxmlformats.org/drawingml/2006/main">
              <a:ext uri="{FF2B5EF4-FFF2-40B4-BE49-F238E27FC236}">
                <a16:creationId xmlns:a16="http://schemas.microsoft.com/office/drawing/2014/main" id="{93C590B8-2632-4295-AB36-0483786F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3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4A52B726-A7DE-404F-BD68-E47E3058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step-heading-4">
            <a:extLst xmlns:a="http://schemas.openxmlformats.org/drawingml/2006/main">
              <a:ext uri="{FF2B5EF4-FFF2-40B4-BE49-F238E27FC236}">
                <a16:creationId xmlns:a16="http://schemas.microsoft.com/office/drawing/2014/main" id="{370743B7-65D0-45E1-84C5-D7BFD198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863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35" name="step-body-4">
            <a:extLst xmlns:a="http://schemas.openxmlformats.org/drawingml/2006/main">
              <a:ext uri="{FF2B5EF4-FFF2-40B4-BE49-F238E27FC236}">
                <a16:creationId xmlns:a16="http://schemas.microsoft.com/office/drawing/2014/main" id="{00F7ECC5-5D7D-45C3-9915-10BC258A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76825"/>
            <a:ext cx="785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A9ADB4"/>
                </a:solidFill>
                <a:latin typeface="Arial"/>
                <a:ea typeface="Arial"/>
                <a:cs typeface="Arial"/>
              </a:rPr>
              <a:t>Connect the rule to the actual shop, tool, or rehearsal situation.</a:t>
            </a:r>
          </a:p>
        </p:txBody>
      </p:sp>
      <p:sp>
        <p:nvSpPr>
          <p:cNvPr id="36" name="step-line-4">
            <a:extLst xmlns:a="http://schemas.openxmlformats.org/drawingml/2006/main">
              <a:ext uri="{FF2B5EF4-FFF2-40B4-BE49-F238E27FC236}">
                <a16:creationId xmlns:a16="http://schemas.microsoft.com/office/drawing/2014/main" id="{80A8B0A7-2150-403D-A2DB-E7D0918B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19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3137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inbow-1">
            <a:extLst xmlns:a="http://schemas.openxmlformats.org/drawingml/2006/main">
              <a:ext uri="{FF2B5EF4-FFF2-40B4-BE49-F238E27FC236}">
                <a16:creationId xmlns:a16="http://schemas.microsoft.com/office/drawing/2014/main" id="{BCFD4B5E-78A0-40A5-BF11-54BC803A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2071B7B-EA06-4A48-A6AE-D72FA18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694E3D24-734C-49FE-B405-757C178C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BC081FC-967E-4411-856D-C130C9BA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CCD7E5B-82B5-4727-A8B5-47E06FC7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10F7560E-AA83-4F4C-9A35-0D9E6630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B5CB2CB6-AF6F-4CAB-A9BB-E2F7EC35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ade-eyebrow">
            <a:extLst xmlns:a="http://schemas.openxmlformats.org/drawingml/2006/main">
              <a:ext uri="{FF2B5EF4-FFF2-40B4-BE49-F238E27FC236}">
                <a16:creationId xmlns:a16="http://schemas.microsoft.com/office/drawing/2014/main" id="{D8DF3748-06DD-4051-AA32-1A16573F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THEATRE SAFETY CERTIFICATION</a:t>
            </a:r>
          </a:p>
        </p:txBody>
      </p:sp>
      <p:sp>
        <p:nvSpPr>
          <p:cNvPr id="9" name="grade-title">
            <a:extLst xmlns:a="http://schemas.openxmlformats.org/drawingml/2006/main">
              <a:ext uri="{FF2B5EF4-FFF2-40B4-BE49-F238E27FC236}">
                <a16:creationId xmlns:a16="http://schemas.microsoft.com/office/drawing/2014/main" id="{A78C82EA-5468-4039-BF79-D48F06AF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GRADE 10</a:t>
            </a:r>
          </a:p>
        </p:txBody>
      </p:sp>
      <p:sp>
        <p:nvSpPr>
          <p:cNvPr id="10" name="grade-claim">
            <a:extLst xmlns:a="http://schemas.openxmlformats.org/drawingml/2006/main">
              <a:ext uri="{FF2B5EF4-FFF2-40B4-BE49-F238E27FC236}">
                <a16:creationId xmlns:a16="http://schemas.microsoft.com/office/drawing/2014/main" id="{00BA2298-8A68-4AB3-8EF7-88589B56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Independent-use qualification begins with disciplined judgment.</a:t>
            </a:r>
          </a:p>
        </p:txBody>
      </p:sp>
      <p:sp>
        <p:nvSpPr>
          <p:cNvPr id="11" name="grade-stats">
            <a:extLst xmlns:a="http://schemas.openxmlformats.org/drawingml/2006/main">
              <a:ext uri="{FF2B5EF4-FFF2-40B4-BE49-F238E27FC236}">
                <a16:creationId xmlns:a16="http://schemas.microsoft.com/office/drawing/2014/main" id="{32E1E7D6-C326-4B93-B03F-FE74FC5A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ADB4"/>
                </a:solidFill>
                <a:latin typeface="Arial"/>
                <a:ea typeface="Arial"/>
                <a:cs typeface="Arial"/>
              </a:rPr>
              <a:t>13 MODULES  ·  85 TRAINING SECTIONS  ·  24 CLASSROOM CHECKS</a:t>
            </a:r>
          </a:p>
        </p:txBody>
      </p:sp>
      <p:sp>
        <p:nvSpPr>
          <p:cNvPr id="12" name="grade-accent">
            <a:extLst xmlns:a="http://schemas.openxmlformats.org/drawingml/2006/main">
              <a:ext uri="{FF2B5EF4-FFF2-40B4-BE49-F238E27FC236}">
                <a16:creationId xmlns:a16="http://schemas.microsoft.com/office/drawing/2014/main" id="{D299EA8F-8C93-4E35-BB3E-C8C3FCF7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06680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1">
            <a:extLst xmlns:a="http://schemas.openxmlformats.org/drawingml/2006/main">
              <a:ext uri="{FF2B5EF4-FFF2-40B4-BE49-F238E27FC236}">
                <a16:creationId xmlns:a16="http://schemas.microsoft.com/office/drawing/2014/main" id="{2A962D99-E747-4C93-80E4-A7E99C72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2">
            <a:extLst xmlns:a="http://schemas.openxmlformats.org/drawingml/2006/main">
              <a:ext uri="{FF2B5EF4-FFF2-40B4-BE49-F238E27FC236}">
                <a16:creationId xmlns:a16="http://schemas.microsoft.com/office/drawing/2014/main" id="{E789882F-2F46-4C23-A9E8-12D40CB5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3">
            <a:extLst xmlns:a="http://schemas.openxmlformats.org/drawingml/2006/main">
              <a:ext uri="{FF2B5EF4-FFF2-40B4-BE49-F238E27FC236}">
                <a16:creationId xmlns:a16="http://schemas.microsoft.com/office/drawing/2014/main" id="{2175636F-3684-44AF-BBD0-BA7E09E7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4">
            <a:extLst xmlns:a="http://schemas.openxmlformats.org/drawingml/2006/main">
              <a:ext uri="{FF2B5EF4-FFF2-40B4-BE49-F238E27FC236}">
                <a16:creationId xmlns:a16="http://schemas.microsoft.com/office/drawing/2014/main" id="{CA7D9DA9-B63F-40CD-9F81-92F9CBA2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inbow-5">
            <a:extLst xmlns:a="http://schemas.openxmlformats.org/drawingml/2006/main">
              <a:ext uri="{FF2B5EF4-FFF2-40B4-BE49-F238E27FC236}">
                <a16:creationId xmlns:a16="http://schemas.microsoft.com/office/drawing/2014/main" id="{1738A6D8-4AC3-4391-8836-76D0D90F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inbow-6">
            <a:extLst xmlns:a="http://schemas.openxmlformats.org/drawingml/2006/main">
              <a:ext uri="{FF2B5EF4-FFF2-40B4-BE49-F238E27FC236}">
                <a16:creationId xmlns:a16="http://schemas.microsoft.com/office/drawing/2014/main" id="{67451E13-76D2-4B27-AD41-5300C600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inbow-7">
            <a:extLst xmlns:a="http://schemas.openxmlformats.org/drawingml/2006/main">
              <a:ext uri="{FF2B5EF4-FFF2-40B4-BE49-F238E27FC236}">
                <a16:creationId xmlns:a16="http://schemas.microsoft.com/office/drawing/2014/main" id="{4BB62A62-8BE7-4F40-9BD4-77B72904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248D496-EFFD-4DA2-B3F1-AEED80BD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B92F7C0-910D-41FE-8157-1635F207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17455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636B543D-0DDF-4383-9245-FE968C8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A64AC17-6AA1-4B08-A26B-F96A44FA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7C009E3-B073-445C-8344-50D4ED03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2BC93E28-73BE-4985-856D-5475A91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9059668C-BA08-4333-A4B1-6972EFDF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3B2E43EA-39EC-475E-A3D5-E871D658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3E55793-988C-4770-98EA-B80594DD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E16272A7-F4E3-4595-B7AB-6B194233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75A71C0B-C323-48E0-B67C-A0310C8F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65C57F35-7F33-42BF-8DEF-30BBFD35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82A1D91E-D45A-4658-906C-A3174B57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6FD12B8-90CC-495D-BA32-4B331C11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7303AE8-675C-48DC-BB62-626B3430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D40661C5-D4F3-4AED-86A0-05C0DF7C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6D12225C-6922-4776-B452-C0489ACF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6C5E6C1-2146-4C90-A87F-F69CC952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30F90AD-2A64-45F3-85E5-02F302E9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01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152BD6-4983-47C9-BD60-CA80A550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40E14DA0-F85B-499B-9B5A-2E30BE16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01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3B70FF1D-29BF-4FDF-9191-8013AFD5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2C898C5D-5B7E-4D3E-B9EC-1C4D245E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Dress code, hazards, PPE, lifting, housekeeping, emergencies, and safety culture.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1DFB515B-05E0-463E-839C-8716AAEB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407EFA7B-26C4-466F-88A8-AAE98F66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8828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Welcome to certification week: </a:t>
            </a:r>
            <a:r>
              <a:rPr sz="1725">
                <a:solidFill>
                  <a:srgbClr val="A9ADB4"/>
                </a:solidFill>
              </a:rPr>
              <a:t>This week you earn your shop certification - proof that you know every rule and every tool you’re responsible for at your grade level, including…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Dress for the shop: </a:t>
            </a:r>
            <a:r>
              <a:rPr sz="1725">
                <a:solidFill>
                  <a:srgbClr val="A9ADB4"/>
                </a:solidFill>
              </a:rPr>
              <a:t>Shop safety starts before you touch a tool - with what you’re wearing: Closed-toe shoes, every shop day.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Emergencies &amp; injuries: </a:t>
            </a:r>
            <a:r>
              <a:rPr sz="1725">
                <a:solidFill>
                  <a:srgbClr val="A9ADB4"/>
                </a:solidFill>
              </a:rPr>
              <a:t>Know these before you touch a single tool: If anyone yells “STOP” or “HOLD” , all work stops instantly - no questions, hands off, tools down.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Dust - the slow hazard: </a:t>
            </a:r>
            <a:r>
              <a:rPr sz="1725">
                <a:solidFill>
                  <a:srgbClr val="A9ADB4"/>
                </a:solidFill>
              </a:rPr>
              <a:t>The hazard you can’t feel hurting you: Fine wood dust harms lungs over years , not minutes - which is why nobody takes it seriously until it’s late.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Model safe work - independently: </a:t>
            </a:r>
            <a:r>
              <a:rPr sz="1725">
                <a:solidFill>
                  <a:srgbClr val="A9ADB4"/>
                </a:solidFill>
              </a:rPr>
              <a:t>At your level, safety isn’t something done to you - it’s something you model 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FD0F55AC-B4AF-436C-B927-AF5E5F1C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13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937293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ainbow-1">
            <a:extLst xmlns:a="http://schemas.openxmlformats.org/drawingml/2006/main">
              <a:ext uri="{FF2B5EF4-FFF2-40B4-BE49-F238E27FC236}">
                <a16:creationId xmlns:a16="http://schemas.microsoft.com/office/drawing/2014/main" id="{62FFD70F-079B-4D82-BD3B-B8C11798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D6A3939-1B47-4D8F-BF01-9E27D228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848DF42-70DC-448E-B4BC-CF6386E8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94C06A85-EE14-48D8-A7DE-413824CA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9393868D-7988-45B2-B2B6-8FB9D932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FEB6AA1-800A-46F9-A744-4BDCEF2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39340C7-CA3B-4B7C-BDC8-030CE87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A84DCDFC-D29C-4646-B840-FDEBC80E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847D51A7-AFC5-4FAB-93D7-9630887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D507DDB-D098-467F-BAD5-90608211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74DF1E4-2E2B-4639-BA74-50EC094E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853EC7A4-9015-4B4A-8F5A-EC96B47E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627CCCC-7E50-4821-A348-E7CFD66B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F44ED8C4-EE5C-40F8-98A4-FADC507C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F71626B1-B4AD-4BAC-85E2-018A30E0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A82518C0-3CD5-4B25-82C6-E5DEC34D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8C96E0-006D-48F2-A2A4-9822CA58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509A03F-256E-47AA-BD68-B9C41C4E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642EDB99-C7C7-4B33-BC93-DE56C899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6B02CCE-D72E-4C2F-9B70-9D957635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the hazards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868EABAD-BC98-4457-A25D-0F21F790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03A394AE-C42F-4860-9553-15CA59E8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Time to use that skill. Look around this shop and tap everything that’s a hazard - there are 5 .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C106854A-B06B-4BC0-A127-0C43F41F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88B2A6A1-B401-4C78-AA25-B31EF1F5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Which items are hazards?</a:t>
            </a:r>
          </a:p>
        </p:txBody>
      </p:sp>
      <p:sp>
        <p:nvSpPr>
          <p:cNvPr id="25" name="question-items-1">
            <a:extLst xmlns:a="http://schemas.openxmlformats.org/drawingml/2006/main">
              <a:ext uri="{FF2B5EF4-FFF2-40B4-BE49-F238E27FC236}">
                <a16:creationId xmlns:a16="http://schemas.microsoft.com/office/drawing/2014/main" id="{4B45EB2B-FDA1-4CC6-A1CE-AF8C414F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Extension cord run across the walkway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Hand saw left blade-up on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Boxes stacked in front of the exit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Open drink next to the work area</a:t>
            </a:r>
          </a:p>
        </p:txBody>
      </p:sp>
      <p:sp>
        <p:nvSpPr>
          <p:cNvPr id="26" name="question-items-2">
            <a:extLst xmlns:a="http://schemas.openxmlformats.org/drawingml/2006/main">
              <a:ext uri="{FF2B5EF4-FFF2-40B4-BE49-F238E27FC236}">
                <a16:creationId xmlns:a16="http://schemas.microsoft.com/office/drawing/2014/main" id="{FE7EA8A2-5FDD-48B9-BC54-7734E29E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Board with a nail sticking 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Safety glasses on the PPE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Fire extinguisher on its wall hook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Swept floor, broom racked</a:t>
            </a:r>
          </a:p>
        </p:txBody>
      </p:sp>
    </p:spTree>
    <p:extLst>
      <p:ext uri="{BB962C8B-B14F-4D97-AF65-F5344CB8AC3E}">
        <p14:creationId xmlns:p14="http://schemas.microsoft.com/office/powerpoint/2010/main" val="1955017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107A577A-87BE-4C0E-86B2-E5326CB3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DAF3F104-BF40-466E-B5EC-3E4243C8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A61A8CF-F6C8-4A7A-BA10-EBD62219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57B8A35-559D-45CE-9F12-FBAC25AC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EA842567-3D05-4D2B-8188-416FF24C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B3DFF61-F859-46B3-BD8E-59F0FDEF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AFBF84D-9ED6-4049-9986-CD0C4BAB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30B31A78-2609-4373-93F7-F0F9EAED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9F2597ED-02B3-4FA1-BA1A-58D6D6F9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645E00F8-9BE5-49A1-A993-76F23135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51B39EB-387E-4931-8A23-8F0C5DE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1C19ED08-7866-4619-AAE4-A8AF9A5A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F30456E7-2023-4744-9CC0-5744F24C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ECE3262-3741-4156-8D4B-D722CC4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B3FE876D-2513-4D6E-80C4-F19AF968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440CAD9-0A3A-4869-A70B-74CCC5B7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4396F2C-456B-455B-98EE-97E2C172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27C22D-D3E8-45FD-8BFA-17525259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74E49357-33BC-499C-B515-A16AC43F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69C7494A-50BB-4EF5-A12F-74F93923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the hazards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99AB3D81-5FD7-41CF-8D31-1015FCEC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66A557D9-8608-48B8-B441-B580C951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E4C8542E-84E8-4454-9620-67A3C3DC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HAZARDS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C7A012F7-8ECC-41B3-9E25-A8C3F68D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Extension cord run across the walkway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Hand saw left blade-up on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Boxes stacked in front of the exit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Open drink next to the work area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Board with a nail sticking out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3E3C142B-2963-4477-BEB8-C0C1AA49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C371DE9B-E358-49E0-8E0E-BAFBAC22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SAFE / CORRECT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E2DADDFA-D636-4893-85DC-4992B4B0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Safety glasses on the PPE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Fire extinguisher on its wall hook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Swept floor, broom racked</a:t>
            </a:r>
          </a:p>
        </p:txBody>
      </p:sp>
    </p:spTree>
    <p:extLst>
      <p:ext uri="{BB962C8B-B14F-4D97-AF65-F5344CB8AC3E}">
        <p14:creationId xmlns:p14="http://schemas.microsoft.com/office/powerpoint/2010/main" val="819577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336000AC-5812-4973-915C-7F7F0CB8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0FFBFD68-926E-4828-858D-9715B69E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912210A-E501-4AAF-9589-89E6B5D5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3F71283F-6AC0-48A0-8DC4-C64FB261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D2A9F57-EBCB-4333-B4EE-D6C47A4C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AFE41BF3-256D-4B05-B93B-6DF9F99B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6894AAB-2E73-401B-B104-70993777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3A97CC2F-B9DE-4BB5-8DA2-161A02FD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7A805577-45CB-4B32-A0BC-CB2272DD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F980DD84-1008-434F-97F3-40EF1789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FD32B5A-7F88-435D-A13D-AFF7407E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4E937A3-AACD-49AD-BA84-97C23150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A55F60F-3D00-4641-BFFB-3CB2C108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F7BD5EF-1D3B-443C-A610-ADC76D1B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38102D12-256A-4654-98A8-2F1EDEE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00567324-32A3-47BB-B851-25B6255B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13D5591-5D2F-4F58-A4D9-D006478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7B61A4-E56E-4A8D-9291-C45BCD23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ADC8DD7E-43E4-40E4-B41F-24843845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7F0D381-F643-4D89-87FB-4F39CD24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Pre-use check: good to go, or report it?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81DE19D2-150A-4C18-9B5B-69207592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1D032119-0744-4219-B5E5-87826327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Before using any tool you do a pre-use safety check - and anything unsafe gets reported , even if it isn’t yours. Sort each finding: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77D44BCE-A553-492A-83C8-BA23FCAE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FAF018D5-5FE7-41BF-BE45-AF39E11E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Sort each item into:  Good to go  /   Report it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910D6FA3-DB7B-4D4E-B715-F9805DB1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12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Guard snaps back over the blade smoothly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Cord jacket is cracked near the plug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Blade is burning the wood and cutting slowly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Work area clear, stock supported on both sides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Someone left a puddle of paint by the bench</a:t>
            </a:r>
          </a:p>
        </p:txBody>
      </p:sp>
    </p:spTree>
    <p:extLst>
      <p:ext uri="{BB962C8B-B14F-4D97-AF65-F5344CB8AC3E}">
        <p14:creationId xmlns:p14="http://schemas.microsoft.com/office/powerpoint/2010/main" val="1561044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39204807-C3C6-4BC8-86B2-7EE40072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828C91D-C044-4FE0-81CD-BC9335AC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FB74C65-D007-4F65-A959-BB46F648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DE418BE7-9E58-49A6-B0A7-5EE620E9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A61C9A53-28A3-4168-A80E-8F54C616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53E45ED5-6984-40B3-8EC5-CD4FADB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E217B320-7D26-4607-A3F2-65359EE6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B198551D-E842-4881-B01F-CEE0130A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7C136E9-0660-4B41-B8B7-7DCDB328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43A0430A-780F-4D05-8ED1-4DE1F69E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49C2794E-9A90-41F2-B6C6-D4100703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BC7CB98D-26A0-4DFE-A5BC-6B853AEB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36BD376-472F-4C13-B11F-DCBA2346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7E5401E3-52BC-4A5B-88C2-40BC7E95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861FF915-2FBC-4700-93C7-EC212E2D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03F386A-A246-4DDE-8C5C-675F65C3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2983B50-253A-4BF1-8AA9-B72A7B02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CF343C7-2E78-4FF5-AEDF-0D969F06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90005835-2D2A-4010-B892-ABCD0CA0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88176821-68EB-4C84-9EEA-6FC6924C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Pre-use check: good to go, or report it?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DFF1EAF6-1B12-4497-8DC6-F6F7DD0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3D842B7D-1BBA-4BF3-BC8D-6304046B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178626BB-9238-4011-B251-06C39661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Good to go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7AEEC857-D2BA-41C8-B177-87B48AE5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Guard snaps back over the blade smoothly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Work area clear, stock supported on both sides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8E58F962-A394-44E1-90F0-957805F1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726EC8E7-AC3B-42E3-9985-7C0DD31B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Report it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88D82D0F-02F0-4B76-87CF-D448216C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Cord jacket is cracked near the plug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Blade is burning the wood and cutting slowly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Someone left a puddle of paint by the bench</a:t>
            </a:r>
          </a:p>
        </p:txBody>
      </p:sp>
    </p:spTree>
    <p:extLst>
      <p:ext uri="{BB962C8B-B14F-4D97-AF65-F5344CB8AC3E}">
        <p14:creationId xmlns:p14="http://schemas.microsoft.com/office/powerpoint/2010/main" val="15266282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8046D318-1FA1-4C19-86AD-DAD40EA8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12182F6-2709-4404-A33E-893C318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12A6F652-EF0D-48CF-9502-7BF21AA7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DDFE8DBF-26C2-44A4-94F2-A3CEFABF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F1444F47-5397-47DF-A1DF-BB4A7B9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898709B2-1884-4EBD-A28C-C2A9DD5C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030A790-6239-4A54-B0D3-39956767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6D6EC55-2439-4AAF-8A24-B8194B1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489A72C-4E52-4CFA-BAE3-638E6F7D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66C8268B-340D-4FC7-9993-EC7205C2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635EA8F-B37C-4454-8F86-B651FDE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01544DDE-0246-478E-A72A-0F64C9E6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8ABB7D7-8D11-4793-9209-4CE8B806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DEA23E6-B49B-488A-BF3E-8039F9CE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5801B03A-D091-43B3-8FB4-9438A132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5123E7D7-856F-45B5-B478-C12E597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4EE4A0B-3F84-4E44-9F70-BAC65CD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02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CD55C30-83CA-4A94-AB93-C745ACEF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45C1B6CD-B837-4494-8B80-798F2F23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02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CFCE245E-FCB3-46C4-966C-110D9D9E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BB20932C-5FAE-4334-B669-85CF3089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Alarms, exits, extinguisher classes, reporting a fire, and flammable storage.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3946BD25-4BDD-4372-AFC0-BD424C7E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34707FC0-066F-47F4-AA98-6360F744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Alarms, drills &amp; exits: </a:t>
            </a:r>
            <a:r>
              <a:rPr sz="1725">
                <a:solidFill>
                  <a:srgbClr val="A9ADB4"/>
                </a:solidFill>
              </a:rPr>
              <a:t>Fire safety starts before there’s ever a fire: Know the fire bell/alarm and the fire-drill procedure for the shop and the theatre.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Reporting a fire: </a:t>
            </a:r>
            <a:r>
              <a:rPr sz="1725">
                <a:solidFill>
                  <a:srgbClr val="A9ADB4"/>
                </a:solidFill>
              </a:rPr>
              <a:t>If you discover a fire: Immediately notify the closest adult with the exact location and the nature of the fire (what’s burning).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Fire classes &amp; extinguishers: </a:t>
            </a:r>
            <a:r>
              <a:rPr sz="1725">
                <a:solidFill>
                  <a:srgbClr val="A9ADB4"/>
                </a:solidFill>
              </a:rPr>
              <a:t>Extinguishers match the fire - the wrong one can make it worse: Class A - wood, paper, cloth.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Flammables, rags &amp; finishes: </a:t>
            </a:r>
            <a:r>
              <a:rPr sz="1725">
                <a:solidFill>
                  <a:srgbClr val="A9ADB4"/>
                </a:solidFill>
              </a:rPr>
              <a:t>The scene shop makes its own fire hazards: Rags soaked with finish, stain, or solvent go in a covered metal container - oily rags in a pile can…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2FDD1F6B-CEF9-4976-967C-3D735355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6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5052510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A99D1147-54D2-472C-95F9-961F08F8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00B5A120-8A97-4276-83F5-1E70BC01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87E27C6-81B0-4145-A882-7DE19EE2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9AFC4419-F560-4595-BB31-D0CFBD66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0904D651-0BA9-4F34-B343-8C6F777B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1FE7C96-B235-4C8B-8572-41F48CFA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69C17A2A-2112-4889-9E43-BE1CF509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983A7CAD-A45F-4B21-9192-DCAAFD9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3236F0CB-7793-4D77-992A-6BAA375D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7828D19C-9B53-436E-95B1-304559B1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21213C1-05C7-46BE-8679-8DDEB065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EDBAE381-DA01-41A9-AB9C-0A236754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2B317C9-5BCD-48B6-9836-3CF9D4D1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279D079-1940-45A3-9031-2715AC67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D386ACDA-A39D-4BCE-9379-85AF99B3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2EDD9A5-BC72-453F-91E3-A55BB9CC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299A79C-A8EE-44DD-99B8-E88E0EA4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5E5E423-6AE2-41F8-AE08-4B03D186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263DB26A-7347-4CA1-9E71-2AC53E14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BA8066D-BCE7-42FC-A517-6EDD3D61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Pick the extinguisher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9D01667A-896E-4531-BCC2-B359241E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8BEF2A80-7F1D-42B8-99E6-F005BC83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Match the fire to the response: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56FB145-F044-4927-9525-83E34DF2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0E9855F7-7E27-43FC-B9B6-ADD134EA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Sort each item into:  Water works (Class A)  /   CO₂ / dry powder only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427C0757-2A2D-4399-B4A8-021434D2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Scrap lumber and paper burning in the bin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 dimmer rack sparking and smoking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Spilled paint thinner catches fire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Muslin scraps smoldering in the paint corner</a:t>
            </a:r>
          </a:p>
        </p:txBody>
      </p:sp>
    </p:spTree>
    <p:extLst>
      <p:ext uri="{BB962C8B-B14F-4D97-AF65-F5344CB8AC3E}">
        <p14:creationId xmlns:p14="http://schemas.microsoft.com/office/powerpoint/2010/main" val="19805862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830A8AEA-FCFA-4982-9312-DCD79D93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E29963C2-BFAB-46B2-A8C6-EBCF6E98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F5A9353-FF62-4EB7-ABD9-CDE0790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1A9601B2-B359-4FFF-8321-89EEFF44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5A68C4D4-EA0D-4B63-B80A-76F9D7DD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7E199A6-AB96-4ECA-9BB3-77A59503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12524F55-0300-4F2A-86B7-E3364B88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A93B270-E962-4BB5-85F2-6DE9F42C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4FD73529-F903-425A-B2BB-F7D7B98C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D781878D-059B-45C2-86E3-7B9C6855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381A578-8E96-4954-9BB3-FFC09B38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656ABA90-8656-4D45-AE99-C7862619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3A1772E6-EA88-41C9-B58D-DD8B7DFD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2E122F9-1DD6-4A5A-BB09-DE146A1E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9E063C9-3A00-47FE-9846-CBFCB452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7245B5D-CD61-48D9-B587-7A04CECF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8DBC2A1-AE49-4420-A847-1434A56D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B274B7D-EA0B-4570-B0A5-11369B94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9DAFEB8A-01FF-4140-AE26-2DFBF064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9C6869C6-0065-4A33-B001-11B34D6F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Pick the extinguisher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65D78022-7C1B-482F-B1CC-C40EFB19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8FED4602-8AD1-4381-8813-102730EA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33B38D97-F2B7-491F-8A46-185A7660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Water works (Class A)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06D4613C-7310-47F7-94EC-A2E94138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Scrap lumber and paper burning in the bin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Muslin scraps smoldering in the paint corner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5701CB76-96DF-441E-81C4-4E560CA1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119D47A1-EE55-4450-8A7E-79F06410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CO₂ / dry powder only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70AD5AC6-35ED-4D91-9DC9-5A99127C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A dimmer rack sparking and smoking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Spilled paint thinner catches fire</a:t>
            </a:r>
          </a:p>
        </p:txBody>
      </p:sp>
    </p:spTree>
    <p:extLst>
      <p:ext uri="{BB962C8B-B14F-4D97-AF65-F5344CB8AC3E}">
        <p14:creationId xmlns:p14="http://schemas.microsoft.com/office/powerpoint/2010/main" val="2012991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EBEDFE57-FD85-4712-A40C-A2BA874C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8CE0883-6E89-4AD6-B05C-EE182EBC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689F80A0-EF29-4121-BFFD-ED67136D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52D023AB-2D63-4494-B852-62659D6C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5C3DCB05-97A5-4E34-9634-1A785A04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DDB2B212-1091-4484-B5F9-00BAB4C2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4BCBCCF1-8743-468C-A4BF-FF35E7F7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8B022487-81F1-4BE1-BB87-36D2F77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1EA8B77-EF70-441E-B29A-3D8661E7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5354DFC-DBD8-421E-AD11-995EA0E4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568EF5C-288D-4E85-8B23-C6349E7D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57475856-3C06-4118-8A31-DF599C3B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E20BA2D6-E46D-44A3-8A52-B68A9DE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EDAA9FF2-A08E-4FE9-8D45-39CC13C0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34BBCFF8-AC52-445F-B4A5-087EF872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1B6EFE14-834A-4EAB-8A8F-7F2F5E4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4B4739-4498-4508-BF64-A306D849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75C8D48-2D5F-4537-9677-D584E557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606035C5-69A7-4F09-A878-DD213A7E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B5DB6EB-0AAD-4962-8E38-64FF3C3C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spot smoke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6C6D4F13-B5EB-4C2F-862F-64A2F34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652707C0-C3CE-42E9-BFAB-E67A79A6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10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smell smoke and find a small fire behind the scene shop. What do you do first?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12CF0C41-A8A8-49E0-8C92-CC0D3BEE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466311A0-9E72-456E-AFE2-AD10F9BE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4545A0E2-41AF-4D0E-8C93-719E2B18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Shout “Fire!” so everyone hears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Notify the closest adult with the exact location and what’s burning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Find a bucket of water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Investigate how it started</a:t>
            </a:r>
          </a:p>
        </p:txBody>
      </p:sp>
    </p:spTree>
    <p:extLst>
      <p:ext uri="{BB962C8B-B14F-4D97-AF65-F5344CB8AC3E}">
        <p14:creationId xmlns:p14="http://schemas.microsoft.com/office/powerpoint/2010/main" val="3484314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172FDA62-FE68-4977-8304-87B330D5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E4E06E7C-C9F0-4B02-811D-A8657BAE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9D33C61-4F2C-4A1F-914E-B0D3B7A5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28BBD4E8-C46E-48AA-89DA-DB3290A6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4E88033C-D51A-47A4-8DA6-3A0598C5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1BD6E2BB-6E9C-43B4-929C-40ECF4DE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702FE01-54C2-4346-A992-1B55A04B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C24CF31-8FDA-469B-B912-C3776D0D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14DC458-E7AB-4669-ABB2-42B6598D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1E48E34B-68B9-4133-B30D-1BEDBE18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82D43DED-F6A2-43A7-972F-CFA2B0D2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78E34CEA-00AB-4EDC-BD4B-078380E9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2A266A5E-167A-4278-AA1D-5151E284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728EF891-82C0-4E49-858A-7411C6EE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6C7E7A99-D29D-4E0C-8A7B-48C1B8D3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8AA5E5FA-3EA7-45B9-8FB7-995B5660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B16F738-4504-4E62-8FCE-CBCE7F3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F80ECE-8F12-40E9-AC4C-1FFB32B5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9EB6029A-6E1B-440F-8E8C-C2D76EE9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5FC8D530-EFED-46FB-8F6C-A88EF4D2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spot smoke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586F4273-0462-4E90-AC99-785C01B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85DC58FB-4077-4EE8-AE92-E8A3754E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33F41582-D2E9-4670-A423-0F28872F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13E6DA8B-80F1-4A3E-A93D-8E4B8060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Notify the closest adult with the exact location and what’s burning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AC2A5406-CE38-445A-A048-0998A8E3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Exact location and the nature of the fire, to the nearest adult, immediately - and never a panic shout.</a:t>
            </a:r>
          </a:p>
        </p:txBody>
      </p:sp>
    </p:spTree>
    <p:extLst>
      <p:ext uri="{BB962C8B-B14F-4D97-AF65-F5344CB8AC3E}">
        <p14:creationId xmlns:p14="http://schemas.microsoft.com/office/powerpoint/2010/main" val="20010301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910CE142-9EB7-4CB8-830C-196C2C32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992F8522-0DB4-4EC5-A0D9-356A72BA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BD72490-53C9-4E3B-BECB-64011C01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39E2DB14-C887-48CB-9E3F-849A0C4B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BD747B7B-4E89-44F5-B76E-0D759C1A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8DBDE2B-3F69-492D-A90D-EE648033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7D2AE9C-1814-412C-8409-0460CBF4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E592BEB0-F609-4EEF-A67D-BD9924C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E0B0C086-49FF-4076-B8BD-6BD8FB5B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49A44125-E9C2-419B-AC8C-5C070019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0033125F-61DD-48EB-B155-076A765E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E648FC6-5F6D-4750-AED4-3DE90B4E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352333FF-2873-4C8B-8887-E4B00B56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FAE85C37-016F-485C-9293-CE48A3DF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B93BEBB-F46C-4D50-8DDB-025623A3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79F5947-072E-4874-AC23-8A22CFFE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1F48B30-D5FC-41A2-A766-6322FE1D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03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6D75E4F-CFC1-452A-B7B6-B2E2CAB3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0A6A605D-AAFF-4B39-A846-5550E5E7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03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0E63472A-A180-42E1-B95B-B609514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2AB9ABC1-C8F7-44A9-B83D-AABF5A07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What’s new for you this year - and everything you carry forward.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605D7700-8B69-4DDA-AD1F-2E4A07EC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59C73822-4DCC-464D-8546-567D54E0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Grade 10 - Tech 3-4: </a:t>
            </a:r>
            <a:r>
              <a:rPr sz="1725">
                <a:solidFill>
                  <a:srgbClr val="A9ADB4"/>
                </a:solidFill>
              </a:rPr>
              <a:t>All Grade 8-9 hand and power/pneumatic tools move to independent-use level (after qualification), and you add: Stationary machines (safety orientation…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B11645A4-FAF4-4F37-BABF-070FA7B8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2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6821376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ainbow-1">
            <a:extLst xmlns:a="http://schemas.openxmlformats.org/drawingml/2006/main">
              <a:ext uri="{FF2B5EF4-FFF2-40B4-BE49-F238E27FC236}">
                <a16:creationId xmlns:a16="http://schemas.microsoft.com/office/drawing/2014/main" id="{257A6A0C-CA47-4460-A351-FC43FC7E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576FA31-5493-4A59-BEB0-08B2499F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9FBABED9-4E94-4734-AE87-C00D6605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D3F0915-5737-4FA4-86BF-D827A6F5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542870D-72B8-43C9-BA92-66C89DA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38497DD-DF97-4E5C-B514-1BB5782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83FC205-9B0E-450E-B921-A6455E54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D39C750-2366-4E2D-9C86-03B70A53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7C31095A-DEA2-433B-A6E9-0A577824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19982FD-6CFC-432A-B19D-C8F6C4D9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FA52080-C4B3-4744-8148-1FF297A8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CFCA50F-2BB1-4B0F-8E6E-45169FCC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264FF48-79D1-4E3A-A7F6-AF0FAFFC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308E42F-4472-4E8B-AA35-D6EB5EA5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B391F09D-B195-48A8-B767-D581182C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8EC4DC1-AA83-4787-9BBB-7C2C221F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BD36C03-36A5-47B5-89FC-D52A63B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265FF61-03B2-4F9B-A59B-4089261B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4DEF0A58-7EAF-42E3-84FD-3B052CAC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473615-EF3F-49EC-AF83-DE7DE2F2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Qualified - or new this year?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222E7D64-4874-44C6-8DBC-F04C00CD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E1563679-4C07-4437-903C-43A8E991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Sort your tools: which do you qualify to use independently , and which are new and need a fresh safety orientation with direct supervision?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4AD33E45-84BA-4033-988C-E61F42A5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1B02807C-F590-4574-9901-23BBBB2C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Sort each item into:  Independent (after qualification)  /   New - orientation first</a:t>
            </a:r>
          </a:p>
        </p:txBody>
      </p:sp>
      <p:sp>
        <p:nvSpPr>
          <p:cNvPr id="25" name="question-items-1">
            <a:extLst xmlns:a="http://schemas.openxmlformats.org/drawingml/2006/main">
              <a:ext uri="{FF2B5EF4-FFF2-40B4-BE49-F238E27FC236}">
                <a16:creationId xmlns:a16="http://schemas.microsoft.com/office/drawing/2014/main" id="{F4C84A8E-5A82-430B-8951-C395D47C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Jigsaw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Impact driver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Framing nailer</a:t>
            </a:r>
          </a:p>
        </p:txBody>
      </p:sp>
      <p:sp>
        <p:nvSpPr>
          <p:cNvPr id="26" name="question-items-2">
            <a:extLst xmlns:a="http://schemas.openxmlformats.org/drawingml/2006/main">
              <a:ext uri="{FF2B5EF4-FFF2-40B4-BE49-F238E27FC236}">
                <a16:creationId xmlns:a16="http://schemas.microsoft.com/office/drawing/2014/main" id="{FFE18A83-8303-49FB-8935-1049C557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Table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Palm 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Band saw</a:t>
            </a:r>
          </a:p>
        </p:txBody>
      </p:sp>
    </p:spTree>
    <p:extLst>
      <p:ext uri="{BB962C8B-B14F-4D97-AF65-F5344CB8AC3E}">
        <p14:creationId xmlns:p14="http://schemas.microsoft.com/office/powerpoint/2010/main" val="10622295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7641E1BC-8D21-42B7-9257-3866E6F6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5BBF55E-1137-4D77-92EF-79DA81CC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168D85CF-D6E0-4FED-8786-F7D53F1C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61FF255C-BBD2-44EE-A1AD-663E51E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9390D7E2-C9C3-4B91-98B2-4E1245D2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8D3A10CE-E251-4681-ADF2-4F431701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7E690A7F-14F0-4E97-A054-8515EFE8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E6C548A-B367-4F14-8A61-E9A3CD74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1DF4D77C-2D9E-4E07-AC42-01D2CA43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06B0DD7F-5B8D-47B8-B8B5-A7C5CC88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6A8E272-E406-4079-9A67-A84D248D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0B8A5C3-1EB0-41E1-BF0A-CD432F11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2C403D5-B2E7-42B6-806D-EA68DEDC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E9471751-D6BF-4B44-BB75-F7CE76AF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B063631-52FA-4335-96C0-D396374C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D39DC47-C3FE-4084-9AD3-BF545010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6615814-63AA-4C8C-BDC1-40E4F6B9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DD16B1B-A63E-456C-8CC1-EB1F23AB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EEF9A470-A62A-4CA6-8516-2E8D3200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EC37BF39-9AD0-4D07-98E9-E0987C20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Qualified - or new this year?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F8C5CC44-32C3-4142-AB2A-184A43B6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834FDAAE-F299-4297-9432-EABF13F1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575F02A5-10BB-4055-8605-28D640FB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Independent (after qualification)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82D9FEBD-ED16-4885-A95C-83235D27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Jigsaw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Impact driver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Framing nailer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376AEE72-22FC-456A-B7FB-892FB345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4B86F063-8B41-4C59-9B39-EF36FE14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New - orientation first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B515E7D4-E0F5-4096-BF24-2F61C2F9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Table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Palm 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Band saw</a:t>
            </a:r>
          </a:p>
        </p:txBody>
      </p:sp>
    </p:spTree>
    <p:extLst>
      <p:ext uri="{BB962C8B-B14F-4D97-AF65-F5344CB8AC3E}">
        <p14:creationId xmlns:p14="http://schemas.microsoft.com/office/powerpoint/2010/main" val="9816324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5E0FDD65-C47E-4944-AFA8-CEED916B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63E9C24-8F01-4F94-A295-EEAC6588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BEF137B-9646-4424-AA10-C1EC63B0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396E0FF-D990-49FE-A712-9351096A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9E4BAC64-BB28-4301-8B46-F30C9186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ECCFE745-AF14-4C3C-AC0F-4957E50C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813F9F33-A1E1-455A-95C2-FAF4EF0B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C07C3393-2818-46E7-AC21-5E2C4A51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5F0EB2F-FCE4-4E93-805B-8ED29A3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B5006B76-DC42-4C6D-8A9E-8C9618F5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815AABAC-FBAB-4F44-92B0-6E929BDB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2B4B4F2C-130D-4687-BF96-CD3F00D3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FD7658B2-B5AA-42B0-8BC5-71D652F7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11298A5-3178-4F41-9CB7-ADB2318C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3D95E056-AF88-4A91-9D60-8570E6CF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789D333-6325-4819-9C3C-E0B3AB71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62BA4F-7D70-48E9-B52C-1161D369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04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192BCFA-44C9-4143-BC9B-2BD36EE0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DC5B530A-BD13-4E3B-81D1-1E287ACC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04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7FE8A916-CCFC-41AB-9EBC-21772437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90BA9DF7-414A-44DD-B0C1-ABED0BB9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Tape measure, utility knife, squares, hammer, screwdrivers, hand saw - the tools everything else is built on.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32A8752E-FC6E-4C68-B849-3E817CBA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305EE099-30F3-45C8-936C-3AA6BAA6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Measuring &amp; layout tools: </a:t>
            </a:r>
            <a:r>
              <a:rPr sz="1725">
                <a:solidFill>
                  <a:srgbClr val="A9ADB4"/>
                </a:solidFill>
              </a:rPr>
              <a:t>Even “safe” tools have rules: Tape measure - control the blade on the way back in; a spring-loaded steel edge returning at full speed can cut.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Utility knife: </a:t>
            </a:r>
            <a:r>
              <a:rPr sz="1725">
                <a:solidFill>
                  <a:srgbClr val="A9ADB4"/>
                </a:solidFill>
              </a:rPr>
              <a:t>The tool you’ll use most, and the one that sends the most people to the first-aid kit: • A sharp blade is safer than a dull one - it needs less force, so…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Hammer, screwdrivers &amp; hand saw: </a:t>
            </a:r>
            <a:r>
              <a:rPr sz="1725">
                <a:solidFill>
                  <a:srgbClr val="A9ADB4"/>
                </a:solidFill>
              </a:rPr>
              <a:t>Hammer - check the head is tight before swinging; clear your swing arc (people and your other hand); start nails with a light tap, fingers gone before…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5096D07C-F4D2-4346-8592-FDE3BFA8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3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2329681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A5515140-E444-4CC6-97E6-F4A32872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5B54A10-EDCF-41B0-865A-4ED1ADC3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D77FB85-FBA9-451D-A1E0-30444693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09CD848C-D40F-451E-917C-83E2F019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0561A125-2189-45C4-A48C-B36C3397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C2CF570F-48F2-43EF-9512-8D75019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9B07CB7-F826-4D58-A86A-D95401FE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ACA1672-582C-45DC-9FBE-B0E911F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341E1738-7E5F-4F12-B1B5-89755CFB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ED396C5-ADD2-4F59-83EA-35CB807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3275F3B-C706-481E-9083-A63B462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EC76B28E-4723-4112-BCE0-6AC110DA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A138BDB-D8E3-47E8-9190-21634A0A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BDF12558-8F29-4FDC-A7F2-93981BE4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CAC2495-16E9-42E0-854B-3AEE004C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5875CFD4-D3A7-4CEA-A5CE-08560431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5FC4CF3-DE19-48ED-BDD2-B37321DB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05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B3B1441-8FAB-4E6E-8B71-2D00F012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0F25C688-A7FE-4045-B48A-EC998730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05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9CC5D94E-1D73-4164-83C5-D22E1EA1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9BE58F47-FB0F-4CD6-935F-741C9DF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Needles, pins, shears, papier-mâché &amp; armatures, the sewing machine, and the hot-wire foam knife.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B44BB023-BB40-4FB9-879B-4375045A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777A453B-AF83-49DC-836A-7C345F09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Needles, pins &amp; hand sewing: </a:t>
            </a:r>
            <a:r>
              <a:rPr sz="1725">
                <a:solidFill>
                  <a:srgbClr val="A9ADB4"/>
                </a:solidFill>
              </a:rPr>
              <a:t>Small tools, real rules: Count your needles and pins out - and back in.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Scissors &amp; pattern tools: </a:t>
            </a:r>
            <a:r>
              <a:rPr sz="1725">
                <a:solidFill>
                  <a:srgbClr val="A9ADB4"/>
                </a:solidFill>
              </a:rPr>
              <a:t>Fabric shears are seriously sharp - that’s the point.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Papier-mâché &amp; armatures: </a:t>
            </a:r>
            <a:r>
              <a:rPr sz="1725">
                <a:solidFill>
                  <a:srgbClr val="A9ADB4"/>
                </a:solidFill>
              </a:rPr>
              <a:t>Props building has its own sharp ends: Cut armature wire with wire cutters, never scissors - scissors get ruined, and ruined tools slip.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Sewing machine: </a:t>
            </a:r>
            <a:r>
              <a:rPr sz="1725">
                <a:solidFill>
                  <a:srgbClr val="A9ADB4"/>
                </a:solidFill>
              </a:rPr>
              <a:t>The machine drives a needle up and down faster than you can react - respect the zone around it: • Fingers stay a needle-width away - guide fabric from…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Hot-wire foam knife: </a:t>
            </a:r>
            <a:r>
              <a:rPr sz="1725">
                <a:solidFill>
                  <a:srgbClr val="A9ADB4"/>
                </a:solidFill>
              </a:rPr>
              <a:t>It doesn’t look dangerous - it’s a wire.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49B37638-4B34-4F04-AD9A-FF66C0C9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8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20493479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69FA5D18-4445-4C1E-AE90-864FC9AA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9109AE8-F3DC-47BC-884D-4A18D0C2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F65E8212-609D-46FD-B3F2-722E5296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1DA1E75E-D36E-40EB-9B2B-044EB987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9B3C538-6CE6-4D12-9692-D1E9F598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9A49D75-8ACE-4C90-A7E2-D01B93D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DD0AFAA2-07BA-4D91-B71B-842DF027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5EC006E-7CA9-4C4D-9352-37FF11F9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DB6F782A-D27B-461F-BBCD-D82DF4AF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6E67F8D-792E-4C23-8669-AD01CC73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C959665-6A8C-4718-BDAE-EDEE2CC9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F1A9548-55EE-4BC3-9458-753BB75A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8E0B1EC8-9A12-4E30-AAB3-5FFC8857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76B84681-3673-4123-82C1-D6AEE1B5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1B11F66-70A7-450E-923B-E005065E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48E168F-4695-44B9-A3ED-7ACC0BA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ADCADB6-A692-43E9-834A-9E66DD5D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F867DE-70FD-41B3-94CE-ACC51416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B511464B-BC33-4865-A93B-BB0CB561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6D442B-4C83-4ABA-91B3-AA1E70A1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Wire ends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0808A21C-8F24-47EA-931A-4F48CF3F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8C18446E-406F-4209-B22C-C2D75212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just clipped an armature wire and the cut end sticks out at face height over the work table. What happens right now?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6B079769-05E4-4116-9658-5067A6CD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AC352D12-E1BA-4E0D-8989-E131A824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4C775088-61A6-4B7C-8BE4-4BD7D305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Finish the layer first, then deal with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Bend it back or tape it immediately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Point it out to the people nearby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Move your own face away from it</a:t>
            </a:r>
          </a:p>
        </p:txBody>
      </p:sp>
    </p:spTree>
    <p:extLst>
      <p:ext uri="{BB962C8B-B14F-4D97-AF65-F5344CB8AC3E}">
        <p14:creationId xmlns:p14="http://schemas.microsoft.com/office/powerpoint/2010/main" val="12014531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37ACE33D-F442-4B1B-A602-83BD82FC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B1A111F-CA56-4090-AF8B-EEC76F5F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196D6265-49BC-4818-8160-40BC3666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C04A21E-0229-4F96-9130-FC76560D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6E0C809-3B03-47D0-8AA9-24831AC1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8E75ED13-9AE8-4FA4-A20C-F7D302B4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0B98EDC2-2995-4A28-8F6B-C1A51F23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ECA7B37C-1985-4884-BA42-C43B0441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763AFC9-1252-412F-B129-0E2BA9CD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A3834DC-43CD-42E5-9762-B3C87EB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81E786ED-6ADA-43D5-BCFC-A02B4ADA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7474691-D7CC-41CA-9C42-32745068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252BB0D9-83B9-4212-B27E-B4988216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F7350B36-4131-4DC7-9E91-43F5BC4B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9F35263-6478-4A3C-866A-F76D8DF0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1BC3ABE-BBBC-4B80-8A81-15CB5879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1DF0EFC-958B-47F0-82FC-C64C05EA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78AC5B-6C5B-48F6-92E2-6414300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D142CC64-19A7-4F16-B181-143D6E4A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1DC8309E-5B6D-49D2-BDEF-AE189705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Wire ends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802503E8-0979-4C8B-9430-328AB94D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6A80FEC8-D709-4FE1-94E0-42E1E5A7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A6F696BD-9FEE-4749-B80A-B16A563E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5935AFC6-8299-44D0-AB9A-20DBE82B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Bend it back or tape it immediately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F74E9C22-D99D-4803-8244-F4D2D017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Wire ends at eye height don’t wait for cleanup time - they get bent back or capped the moment they exist.</a:t>
            </a:r>
          </a:p>
        </p:txBody>
      </p:sp>
    </p:spTree>
    <p:extLst>
      <p:ext uri="{BB962C8B-B14F-4D97-AF65-F5344CB8AC3E}">
        <p14:creationId xmlns:p14="http://schemas.microsoft.com/office/powerpoint/2010/main" val="8769904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9C067CEF-E85A-47CE-A29A-E44E0729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C6CA60BF-A443-4351-BB45-CFD46F73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0108A49B-103A-4350-BA7D-9D2F8E61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BDA5F11-7F91-47E0-9A74-8CDD0E16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8982F24-9679-45C5-B69C-E5DF84B9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A8AD50C-1C9D-4064-8B8D-07B8B1B4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B6674074-E6F6-4E8F-9090-6FEF8A92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67529C1-11EC-443B-9B38-95C28ED3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7001C4C-61DA-42A8-A29C-F9EFE261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A51023E5-C1E5-449E-92F3-20F1189D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42D654AC-F249-4281-90E1-7DD9C9BD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2A6CFFB-539E-4924-A17A-BE3CE74F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96522BA-F9CE-4CA7-B5BC-3A329F30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523FEBB8-D178-4E95-8D69-5389F261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40801BA6-449D-4E2A-869C-C7847ED3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005D0BC5-0EDB-49EA-A503-083E3571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00E174-1F28-4FD9-8205-D7624BBD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ADFB489-2232-42DC-B826-C0154F8F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503F3C05-FAFD-419A-AB04-62483EC5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53F5150-168A-4ADA-9785-07F18E31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Sewing machine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5EBA3036-B4DA-4377-ABA1-85DA7A64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13446499-971E-496E-A8E2-BAB4EF5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The needle on your machine is bent and needs changing. First move?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38A4D4C-F71B-49AB-8004-BDB24AF8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5D592471-28FD-4C38-8C69-A06CFC1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ED51000F-A38A-4889-8E59-5FFFAB67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Change it quickly while the machine idles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Power off or unplug the machine before touching the needle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Turn the handwheel with your finger near the needle to check it 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Speed the pedal to snap the needle out</a:t>
            </a:r>
          </a:p>
        </p:txBody>
      </p:sp>
    </p:spTree>
    <p:extLst>
      <p:ext uri="{BB962C8B-B14F-4D97-AF65-F5344CB8AC3E}">
        <p14:creationId xmlns:p14="http://schemas.microsoft.com/office/powerpoint/2010/main" val="330603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BDB353CA-6CF0-4D0D-A482-04779FA6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10085016-4EA5-476B-8E66-6191ED78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804476C3-491C-4D7A-BDF9-3795E02A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0CD0CA80-6142-4E48-9806-AB202802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1095463-4AB6-4C14-9AA5-D38F7F5C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D4910CD-2DE1-4BCE-8BB6-A20E7F75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8185D89-752E-4666-89D5-34A4D1D2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FFED800-95ED-4DAF-BAF5-E56B6FB6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F690C183-4980-49EE-8CAA-BE7EBC79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CD40241-0168-4845-A329-0BAB99D2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E876DAA-B135-48FA-B02F-8ABC7EF9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E5204538-D45A-45F0-9211-78D3F270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5B20B8D6-7F41-4A35-A14D-1C0E5A3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BBD0387-5D4F-47C7-8E8C-A0FD53C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67F7F136-E2A3-49B0-B89B-212DA8DF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016EBB03-9955-43F6-AF56-E33B130D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8205BE7-66BD-46B5-B2E2-651B6B28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B0DBFBF-4840-4AF2-B37A-F2007A10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59040AA3-B679-4B35-913F-27C17A3A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8D9041AC-46AE-49DD-B737-6D51D991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Sewing machine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8274474F-3183-4258-A127-8048A191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DD193ECA-4777-4F37-A3C9-B4CFCF3B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38E8589C-E173-4888-82F6-B49AC3D1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E91180F1-F646-4B91-B717-11A78E7B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Power off or unplug the machine before touching the needle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03D42F4E-35F6-4C5F-A584-208638CA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A pedal bump with your fingers at the needle is exactly how sewing-machine injuries happen - kill the power first.</a:t>
            </a:r>
          </a:p>
        </p:txBody>
      </p:sp>
    </p:spTree>
    <p:extLst>
      <p:ext uri="{BB962C8B-B14F-4D97-AF65-F5344CB8AC3E}">
        <p14:creationId xmlns:p14="http://schemas.microsoft.com/office/powerpoint/2010/main" val="19662828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BF86260D-B1A5-41D5-B011-1F9DB269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E5F03617-984A-4C49-B70E-7395C6F5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8F2A84C-DF9C-4E25-84CC-B7FC0842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9091DF44-8295-4FD0-B59D-80C60A71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01690BBA-44AF-4C5B-B92D-1F8B98A3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023A220-92B1-441D-B949-687130A2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82006347-B63E-45AA-BDE9-5B8DC030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B698006-312A-431A-9000-23376F63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DB4AF8A8-5C62-4420-81F3-DEDCA312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8A86FD5-AE59-4A02-A6FB-2242D143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279A2A50-F265-467C-84BF-25570E39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1240271-024D-43EE-90C7-CE09957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5CBD5A4C-B2A7-4B86-BA0D-A64C2D03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0218F20-B4D0-4E00-95FC-3F433566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8EE2113C-4FA4-4E4C-B1AF-BEAF655F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5013BC60-332E-4C5E-80B0-8020331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BF60A22-CBD7-494F-87E1-40267E6D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06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64770EE-9826-470E-A89E-9D24C83E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BB9CCD32-C6F9-4B72-8A09-3AFEE92E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06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37FCF45A-583C-489F-90D8-A6FBCE09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3490F194-AE6D-4D0D-8199-EC3CE44C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The rules that cover every power and pneumatic tool, and your path to qualification.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F394FDDB-02D1-4726-A507-4C515145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1A9E2A7E-7FA9-4400-A6DC-D929E028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Rules that never change: </a:t>
            </a:r>
            <a:r>
              <a:rPr sz="1725">
                <a:solidFill>
                  <a:srgbClr val="A9ADB4"/>
                </a:solidFill>
              </a:rPr>
              <a:t>For every power and pneumatic tool, at every grade level: • Guards stay on and working.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Your path: orientation → supervision → independence: </a:t>
            </a:r>
            <a:r>
              <a:rPr sz="1725">
                <a:solidFill>
                  <a:srgbClr val="A9ADB4"/>
                </a:solidFill>
              </a:rPr>
              <a:t>Qualification is a ladder, and every tool has its own rung: 1⃣ Safety orientation (Grade 8) - you pass an orientation for each tool, then perform…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Cords, hoses &amp; your workspace: </a:t>
            </a:r>
            <a:r>
              <a:rPr sz="1725">
                <a:solidFill>
                  <a:srgbClr val="A9ADB4"/>
                </a:solidFill>
              </a:rPr>
              <a:t>The cable end of tool safety: The cord or hose stays behind the tool, never in the cut path - check before every cut, not after.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Clamp it, support it: </a:t>
            </a:r>
            <a:r>
              <a:rPr sz="1725">
                <a:solidFill>
                  <a:srgbClr val="A9ADB4"/>
                </a:solidFill>
              </a:rPr>
              <a:t>Most “tool accidents” are really workholding accidents : A clamp beats your strongest grip - and it never flinches.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Pneumatic power: the air rules: </a:t>
            </a:r>
            <a:r>
              <a:rPr sz="1725">
                <a:solidFill>
                  <a:srgbClr val="A9ADB4"/>
                </a:solidFill>
              </a:rPr>
              <a:t>The stapler and nailer run on compressed air, which adds rules of their own: • Treat every air tool as loaded.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836867EF-B5F6-48A9-9AF1-BC0FDB53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7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7102261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C85B4B3B-B2C0-4D28-954B-2BEA760B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EE007FF-6287-4268-8152-6947321A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0B114927-ED3F-4D0C-95E2-76E25F49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ED12E11-15DE-418E-BDA0-64829ED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A695612C-3A38-4A5C-9B50-A67DFE5D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CD6D076-DEE6-4512-BD48-EBFF2C27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1A3A883D-CFF7-4BC9-900C-ADAD9602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0F2D6AAB-9CD2-4461-A0B9-33C3BF3A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78B2417D-7982-49E7-B797-0519318F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717A7F2-B119-4CC6-9C4B-CE9066DC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3CC7AA08-8A96-4C9C-A4EB-B52E83AA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2EF6CCE6-F9F4-401C-A05D-989B8E82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E6087FE8-5BDD-488B-A608-E57C3826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1811CD6A-7962-4BF4-AFB3-CC5D47E8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505F5EA5-A696-4833-8BC6-560DAC47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54343A41-2E55-42DB-9655-9D697356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4C9877-A914-4154-B90E-221636D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B72DB04-96EE-4ABD-9D07-799B8308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0C8E5246-8E68-461F-8468-BB8F5455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BCC3342-FF21-4266-B7B1-72553D0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Blade change - in order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9E8BCE06-FF19-4690-A05C-5F32F722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5705A10E-F2E0-4F8F-A073-CF6CA6D0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You’re qualified for routine adjustments now. Put a safe blade change in order. Tap the first step, then the next…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ED79978-8708-47B4-B6D3-3CE59135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4B917F31-58EF-41FC-8824-24BE08D0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Put the steps in the safest order.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280A6DCF-4A36-4AC5-A954-22090A1A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12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Make a test cut on scrap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Reconnect the power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Check the blade is tight and the guard moves freely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Swap in the new blade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Disconnect the power</a:t>
            </a:r>
          </a:p>
        </p:txBody>
      </p:sp>
    </p:spTree>
    <p:extLst>
      <p:ext uri="{BB962C8B-B14F-4D97-AF65-F5344CB8AC3E}">
        <p14:creationId xmlns:p14="http://schemas.microsoft.com/office/powerpoint/2010/main" val="6174394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64CC644E-E830-4E1F-8A7E-FDC81F85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9AB7E5C0-E659-4FF5-A56D-278BA412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85A4CD3-63CD-45BC-B970-859BDD8A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E9169FE-2F83-437A-9D85-DED29448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53BFD670-8BDF-42BB-A96A-BD8FE76D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E2D9B90-AE2E-4365-B6E5-79909A6B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A665358C-74F1-49C3-8097-7FBE84F5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57FF535-8B22-4CAB-A004-207B9187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BB025AC5-C673-4651-87CC-BB427407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D167D38-A126-445C-AF2A-2575B147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BE8BC30A-4985-4B1F-BC8B-4B386D59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C31C9BB-1B14-46C4-A5FF-B0280B4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0C17971-10C6-48E5-8BF9-F2E3C3EF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D88FB49-4B33-4480-ABBC-A234BFBF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D9AC087-A056-4280-BDD1-4DB3321C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CA99B5C-4F17-4397-A0C6-66CC3416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116878-CB6B-4472-8E10-8978E968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C063ADA-A8A8-4931-A238-A27164C8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590BCB4E-4177-4145-B435-800A394F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56A34A0B-C60B-40FB-AFDB-E80B317D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Blade change - in order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8C74A2FA-2818-4D41-8CF5-491FBAB7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224927F3-B7ED-4BAF-83D8-51037550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37ED3EBC-0174-43D3-8C2A-5F2F96FC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ORDER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AB5519E6-CF93-470C-BDBB-F66ED202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1. Disconnect the power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2. Swap in the new blade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3. Check the blade is tight and the guard moves freely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4. Reconnect the power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5. Make a test cut on scrap</a:t>
            </a:r>
          </a:p>
        </p:txBody>
      </p:sp>
    </p:spTree>
    <p:extLst>
      <p:ext uri="{BB962C8B-B14F-4D97-AF65-F5344CB8AC3E}">
        <p14:creationId xmlns:p14="http://schemas.microsoft.com/office/powerpoint/2010/main" val="2078927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88A277FA-859C-4EC1-A6E7-3886A9F7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D174A884-F874-4B6D-83A6-B905321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F5EE51A-50F3-4DC7-8ACB-CD754E6E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2C900A87-976C-4D76-B779-C7BB091E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B8193A9-AF09-4309-B65C-36804DEA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B145B1F-903E-43C2-9C68-E76A19E9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B2527904-F7EE-491A-92BE-E5D7169A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2F85BD62-BF74-42B9-8C4F-8A151F74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B3039A8F-7F25-4659-966B-12FC148C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C6D9B602-445A-4489-81E9-155973C1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D849CE7-036E-4F77-BB1F-EE7A0D03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B14622B-C9BE-4756-A0D0-666F1FF2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3089977-DBB4-4351-86C4-D8427054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0204F9C-B118-4695-9DC0-200B9B51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4834B5EE-2E82-45BD-B3D7-DAFBE6D2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CE7F130-6C00-4583-8762-149669C0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8D8784-787F-4356-8B9D-4192982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07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885A188-6D05-4E75-8B5F-6C5CBC0B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7C28492D-4E07-4AEC-B914-7090AA4D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07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35874111-9A1E-441F-A2AA-CE0B22D4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Power Saws: Jigsaw, Miter, Panel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F580C2B6-D1BC-466B-83E1-3554980A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Tool-by-tool specifics for the three saws you qualified on in Stagecraft.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B9E8163A-CBF8-4A1C-AC78-D454D7C0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8AF81DB6-11C9-4A47-9BB1-FEDE0FF9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Jigsaw: </a:t>
            </a:r>
            <a:r>
              <a:rPr sz="1725">
                <a:solidFill>
                  <a:srgbClr val="A9ADB4"/>
                </a:solidFill>
              </a:rPr>
              <a:t>The curve-cutter.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Jigsaw - blades, curves &amp; cutouts: </a:t>
            </a:r>
            <a:r>
              <a:rPr sz="1725">
                <a:solidFill>
                  <a:srgbClr val="A9ADB4"/>
                </a:solidFill>
              </a:rPr>
              <a:t>Getting the cut you want, safely: Match the blade to the material - wood, metal, and scroll blades are different animals; the wrong one burns, wanders,…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Compound miter saw: </a:t>
            </a:r>
            <a:r>
              <a:rPr sz="1725">
                <a:solidFill>
                  <a:srgbClr val="A9ADB4"/>
                </a:solidFill>
              </a:rPr>
              <a:t>The crosscut machine.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Miter saw - angles &amp; short stock: </a:t>
            </a:r>
            <a:r>
              <a:rPr sz="1725">
                <a:solidFill>
                  <a:srgbClr val="A9ADB4"/>
                </a:solidFill>
              </a:rPr>
              <a:t>The setups that catch people: Set and lock the angle , then test on scrap - an unlocked table creeps mid-cut.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Panel saw: </a:t>
            </a:r>
            <a:r>
              <a:rPr sz="1725">
                <a:solidFill>
                  <a:srgbClr val="A9ADB4"/>
                </a:solidFill>
              </a:rPr>
              <a:t>The sheet-goods saw.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776AE8EB-7C0F-4D56-844D-110279F7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6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3288518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ainbow-1">
            <a:extLst xmlns:a="http://schemas.openxmlformats.org/drawingml/2006/main">
              <a:ext uri="{FF2B5EF4-FFF2-40B4-BE49-F238E27FC236}">
                <a16:creationId xmlns:a16="http://schemas.microsoft.com/office/drawing/2014/main" id="{4411BFBF-EA57-4873-A57B-8919B4F4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CF0610A6-E28A-42D4-A64F-D93AC649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D29804B-ACEE-4FA2-B29D-BC361A01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25C349B1-3E49-42BB-A094-01DAE3A7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1D73DC6E-2331-4544-ADFE-8B6A2628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EC0A41C-7277-4074-A998-6084C49D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CB2D9D7-3ABC-4763-90FF-25AC3550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2C3AAFF-9D96-49D1-A61B-47632A29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EE00B9C3-76F7-423B-B04E-854127AC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02247B50-B7BB-49CA-B8E9-442EBB87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7E7A293D-19DB-4FF3-82C2-944A099E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80C60916-B445-4BB4-91D9-A047F27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5F1FE9CA-00DD-484B-BD4A-0CF75DAE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C80CDD5-B42A-4E5B-9E87-362466CB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63806DC-347D-4280-8611-F52C0239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D497AF81-AA00-4C77-9354-76BFC508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606DF61-AB99-4489-A727-0586C2BF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3D2189F-D888-434B-8D96-1F0B8FF1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B5F5F56C-D2C4-4324-A642-059CE041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5F8CF6-0715-422F-BA0B-3289D63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what’s wrong: the cutting station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AEFA639B-0EA2-4B2F-84A1-40E72E37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Saws: Jigsaw, Miter, Panel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15DB6E7D-A0A1-4694-8C0E-CD8628D8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Walk the saw stations and tap the 4 problems .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CACFF24-4771-407E-8C97-4206382E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04CED584-FC8F-41FF-B012-9EFA2DF2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Which items are hazards?</a:t>
            </a:r>
          </a:p>
        </p:txBody>
      </p:sp>
      <p:sp>
        <p:nvSpPr>
          <p:cNvPr id="25" name="question-items-1">
            <a:extLst xmlns:a="http://schemas.openxmlformats.org/drawingml/2006/main">
              <a:ext uri="{FF2B5EF4-FFF2-40B4-BE49-F238E27FC236}">
                <a16:creationId xmlns:a16="http://schemas.microsoft.com/office/drawing/2014/main" id="{064444D6-33D8-46E3-901A-02C0E40E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Small block held by hand for a jigsaw cut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Fingers inside the miter saw’s no-hand zone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Blade change with the saw still plugged 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One hand steadying the sheet near the cut line</a:t>
            </a:r>
          </a:p>
        </p:txBody>
      </p:sp>
      <p:sp>
        <p:nvSpPr>
          <p:cNvPr id="26" name="question-items-2">
            <a:extLst xmlns:a="http://schemas.openxmlformats.org/drawingml/2006/main">
              <a:ext uri="{FF2B5EF4-FFF2-40B4-BE49-F238E27FC236}">
                <a16:creationId xmlns:a16="http://schemas.microsoft.com/office/drawing/2014/main" id="{DE2F570D-7E88-4D53-A294-CBC0B61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Stock clamped tight to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Everyone at the station in safety glasses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Off-cuts cleared between cuts</a:t>
            </a:r>
          </a:p>
        </p:txBody>
      </p:sp>
    </p:spTree>
    <p:extLst>
      <p:ext uri="{BB962C8B-B14F-4D97-AF65-F5344CB8AC3E}">
        <p14:creationId xmlns:p14="http://schemas.microsoft.com/office/powerpoint/2010/main" val="388467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20B6E9D5-B1A6-4D80-8427-32497C46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941A9AF-233F-49AA-A5C1-7CEAFEAC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8B054FB-EC58-47BA-8360-5C0606B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B00AC093-5AD7-4532-B48B-155785D9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396D75D-78EF-4592-8F29-54665F29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E2F71A57-AF08-48BC-872F-5B45C7F4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3C2CCF5A-EDE2-4902-8216-1D999028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63CC18C-38AD-4FAE-8AFE-3B25D66D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0525F6B-2D48-40CA-A77C-7CAB3400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06C9CD3-3CFD-403D-964D-AB4E3883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9FEAB69B-0875-4139-AB1A-AAE408F8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C39F8BB-9B78-499D-8783-B0C95328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583F6D99-A54F-4A85-A08E-E1C63E4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480791FE-E80D-4A51-A8C4-2C53BCF7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4B3F4597-6CF2-4615-9AC8-3EE92DB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0FDDBD95-56BE-450B-AE8B-4197C6BB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EC60ED3-FE4C-4E0B-97BC-F0A8609D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34C2ED7-5393-4D34-A0E3-4ADFB353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C9E84379-0649-4F66-AE10-0EFE3844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906D5B74-1701-4942-9744-C2C35829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what’s wrong: the cutting station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7BCC814B-DA1A-41B0-83B8-56063B0C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Saws: Jigsaw, Miter, Panel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FF47C88D-E0A4-45D0-8ECA-33721D92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F41C0593-70F9-4C63-94D7-63D1F181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HAZARDS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A7632BE7-2646-4188-9508-89FB3603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Small block held by hand for a jigsaw cut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Fingers inside the miter saw’s no-hand zone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Blade change with the saw still plugged 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One hand steadying the sheet near the cut line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6E39BBE6-1FE9-46CC-BECF-9107EEBC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C091A54C-A50C-4974-AB2A-E19A4A08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SAFE / CORRECT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4C2E74B8-138F-45BC-8DF6-876FEA63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Stock clamped tight to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Everyone at the station in safety glasses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Off-cuts cleared between cuts</a:t>
            </a:r>
          </a:p>
        </p:txBody>
      </p:sp>
    </p:spTree>
    <p:extLst>
      <p:ext uri="{BB962C8B-B14F-4D97-AF65-F5344CB8AC3E}">
        <p14:creationId xmlns:p14="http://schemas.microsoft.com/office/powerpoint/2010/main" val="127541266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762B956E-B39F-43D8-A5E4-AA6B5498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77547E68-79A0-4C1D-BEF9-5BDB210C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A1AAF41-1AE7-4820-9FBF-C37AC59E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299525C6-D1E5-4251-ACC0-4460C1EC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ECBA12B-9EDC-41A0-84BA-19232DF6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5D7E866-1A2B-4C32-97B8-CB96A5A3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25A19C0-EAAF-41BF-B833-830273BD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6F74037-24BB-4867-B6A0-5F047E8F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A85955D-1982-4B76-8802-AFC9A90E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B870803-157F-4AC1-AC98-8E293E8C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9689C098-51E3-4DE2-B9D9-3B7051F0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B1911A9-8B74-4458-AD5B-09D6454D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D20BEDE-DEA5-489C-9A0F-99988748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496F3180-91C0-4858-8355-33ABC534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0284F274-1ECD-40F6-85A2-9E6C620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561E84E-BE66-4E63-AE48-E7F3B399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84351D8-92D1-41D7-B814-8818F76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08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7B9C3D-9841-4580-BA99-D8D6A8E8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27FDA8D9-9EC1-4B40-8A5D-0A313B69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08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E9EE98CD-EEB5-404B-8686-12143897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Drivers, Sanders &amp; Nailers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630E5916-5CCD-44D8-A4CB-A7FEBA51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Impact driver, random orbital sander, narrow crown stapler, and framing nailer.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8602550F-13B7-4D0D-A4DA-5E8FB7CD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E131364B-78B7-46C2-8BF7-F8EC990D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Impact driver: </a:t>
            </a:r>
            <a:r>
              <a:rPr sz="1725">
                <a:solidFill>
                  <a:srgbClr val="A9ADB4"/>
                </a:solidFill>
              </a:rPr>
              <a:t>Small tool, huge torque.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Bits &amp; torque: </a:t>
            </a:r>
            <a:r>
              <a:rPr sz="1725">
                <a:solidFill>
                  <a:srgbClr val="A9ADB4"/>
                </a:solidFill>
              </a:rPr>
              <a:t>The details that separate clean driving from stripped screws: Right bit, right size - a PH2 in a PH3 screw strips both.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Random orbital sander: </a:t>
            </a:r>
            <a:r>
              <a:rPr sz="1725">
                <a:solidFill>
                  <a:srgbClr val="A9ADB4"/>
                </a:solidFill>
              </a:rPr>
              <a:t>The dust machine.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Grits &amp; technique: </a:t>
            </a:r>
            <a:r>
              <a:rPr sz="1725">
                <a:solidFill>
                  <a:srgbClr val="A9ADB4"/>
                </a:solidFill>
              </a:rPr>
              <a:t>Sanding well is sanding safely - fighting the tool is what causes slips: Work the grit ladder: 80 → 120 → 220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Stapler &amp; framing nailer: </a:t>
            </a:r>
            <a:r>
              <a:rPr sz="1725">
                <a:solidFill>
                  <a:srgbClr val="A9ADB4"/>
                </a:solidFill>
              </a:rPr>
              <a:t>You learned the air rules in Power Tool Basics - here are the gun-specific ones: • The contact safety tip on the nose is what stops accidental fires.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93BD4C93-EB39-4615-BA91-EEA9974C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5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8002245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5AD36DAE-9C97-460C-8239-B55D360B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E1D0CED-0A85-4DE7-AB44-02A6EACC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B3FDF60B-5721-46FC-B151-B3B2429C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2843DBF-1FC7-4AED-B3C6-5E0E2BC4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4D15F321-BFB3-4B0D-8FF2-5E14083E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C0ADD30C-8DDA-4F5A-A786-3082CA14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373421E7-0267-40E5-BF9C-E7F4D7E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0603E010-8D5C-4CAF-B552-6F7547D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378A412D-025B-4DE0-9A79-67B7751D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2BFB9EF-F4D2-4F1C-81F2-69835FE4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5AF6CA09-26A1-4235-AA0F-A33DEEF8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043F87A1-3260-48DA-821E-094DB870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F7CED7AD-8F30-484B-A6BE-BB612200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5EC5376-0244-46AC-AE06-0A63C026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28B153A-62FC-4C9E-8149-B606B8C9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1816499-2A8C-4DE4-BA38-83A993CB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7912997-4A00-46C8-8658-BE6D145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09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2455AE-6900-489C-A969-CF78D00C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C34121CA-DB60-4E58-B17B-3DA44DE9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09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083E8E24-3F4F-43D7-A24C-81A8F922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Stationary Machines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97F3D5AD-C733-4707-A4B8-E3927582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Table saw, band saw, and palm router - tool-by-tool specifics.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C520B195-D233-469C-A707-8A02640A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898828DF-34AF-4B2A-B083-36335A9F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Table saw - setup: </a:t>
            </a:r>
            <a:r>
              <a:rPr sz="1725">
                <a:solidFill>
                  <a:srgbClr val="A9ADB4"/>
                </a:solidFill>
              </a:rPr>
              <a:t>The most powerful - and least forgiving - machine in the shop.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Kickback &amp; body position: </a:t>
            </a:r>
            <a:r>
              <a:rPr sz="1725">
                <a:solidFill>
                  <a:srgbClr val="A9ADB4"/>
                </a:solidFill>
              </a:rPr>
              <a:t>The table saw’s biggest danger is kickback - the blade grabbing stock and throwing it back at operator speed.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Band saw: </a:t>
            </a:r>
            <a:r>
              <a:rPr sz="1725">
                <a:solidFill>
                  <a:srgbClr val="A9ADB4"/>
                </a:solidFill>
              </a:rPr>
              <a:t>The curve machine for thick stock.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Band saw - resaw &amp; drift: </a:t>
            </a:r>
            <a:r>
              <a:rPr sz="1725">
                <a:solidFill>
                  <a:srgbClr val="A9ADB4"/>
                </a:solidFill>
              </a:rPr>
              <a:t>Resawing - cutting a board through its thickness into thinner boards - is a Tech 3-4 operation with its own setup: A tall fence supports the board on…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Palm router: </a:t>
            </a:r>
            <a:r>
              <a:rPr sz="1725">
                <a:solidFill>
                  <a:srgbClr val="A9ADB4"/>
                </a:solidFill>
              </a:rPr>
              <a:t>Small base, spinning cutter, strong opinions.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36E75B77-3C7D-4648-9DB8-C0CC8BB8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9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61508801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ainbow-1">
            <a:extLst xmlns:a="http://schemas.openxmlformats.org/drawingml/2006/main">
              <a:ext uri="{FF2B5EF4-FFF2-40B4-BE49-F238E27FC236}">
                <a16:creationId xmlns:a16="http://schemas.microsoft.com/office/drawing/2014/main" id="{09EE6888-0B91-49A6-8460-EE34287D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A0AA03D-F02A-4733-8DCE-E6D590E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CE57EDC-C913-4470-814F-BB578A45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6A5203F-417C-4BF4-9701-F7DAE30F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E8061CB-0E15-48AB-955D-B53C4690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883D02E3-C71A-4B31-969E-63E18D88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42D232B8-BC68-46BA-B1DF-5F46E879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134FECD4-1F88-4959-B96F-A1E43593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42DC450-B886-4DFC-9958-511E7EEA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00F5645-6E51-4939-B035-69A200F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86827B13-8A20-4FC0-AB22-9FC9A9A9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1CCE82EF-46BB-4A2E-8B89-5594A9A6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504AF68-FCB0-46B9-AA59-16A3612D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D50FBF65-34CB-4CE1-990E-52D2AEBA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898D3EE2-6A6F-4060-B7DC-19ED1C29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15040D1-36E9-41D2-A759-EE6626AF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6DC90D9-A991-4256-8814-38C8F618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05D81D2-5F30-40D8-B2C2-BAEA7453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DEF612F3-FAF3-4EE7-8385-F3F3BF21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F68C25E-9B2D-4F84-9AB9-82D4764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what’s wrong at the table saw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3F163C2C-DA3A-4EED-99E8-E6E4EB25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Stationary Machines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887C3190-E1FE-4A41-B09D-5EACF4E0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565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A classmate is about to rip a board. Tap the 4 problems before they start the cut.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FECF4786-0EA2-4632-A4B3-856243E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D0E0EAF7-CF09-4550-A602-EDD2D831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Which items are hazards?</a:t>
            </a:r>
          </a:p>
        </p:txBody>
      </p:sp>
      <p:sp>
        <p:nvSpPr>
          <p:cNvPr id="25" name="question-items-1">
            <a:extLst xmlns:a="http://schemas.openxmlformats.org/drawingml/2006/main">
              <a:ext uri="{FF2B5EF4-FFF2-40B4-BE49-F238E27FC236}">
                <a16:creationId xmlns:a16="http://schemas.microsoft.com/office/drawing/2014/main" id="{E92B42AC-1A65-488C-8CD3-493643F8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Blade guard removed, sitting on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Hand pushing stock inches from the blade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Cutting freehand - stock not against the fence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Standing directly behind the stock</a:t>
            </a:r>
          </a:p>
        </p:txBody>
      </p:sp>
      <p:sp>
        <p:nvSpPr>
          <p:cNvPr id="26" name="question-items-2">
            <a:extLst xmlns:a="http://schemas.openxmlformats.org/drawingml/2006/main">
              <a:ext uri="{FF2B5EF4-FFF2-40B4-BE49-F238E27FC236}">
                <a16:creationId xmlns:a16="http://schemas.microsoft.com/office/drawing/2014/main" id="{078EE5C4-4C07-4C60-AF9E-50FF6EC9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Rip fence locked at the cut width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Featherboard clamped to hold the 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Operator wearing safety glasses</a:t>
            </a:r>
          </a:p>
        </p:txBody>
      </p:sp>
    </p:spTree>
    <p:extLst>
      <p:ext uri="{BB962C8B-B14F-4D97-AF65-F5344CB8AC3E}">
        <p14:creationId xmlns:p14="http://schemas.microsoft.com/office/powerpoint/2010/main" val="10058015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837711C1-46C8-4D3B-81B5-2297268E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E81A26DB-2CD0-468B-B0C4-EAF08DF9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FDC5A096-6705-430D-807C-1A8D5D37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33F63708-CC1C-46E0-BC1D-C869D21F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8F9582D-5312-4C36-8596-F2E22A5E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BFBEA90F-BAB4-4CE0-B2D0-2F4E1D3D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A8EB8119-DA0D-4151-A394-67F2DBA9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9D7D110F-FB4B-4DA6-A140-086B9FE9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1423F1AF-9A92-4B15-B637-339C600C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69002EFE-7141-46AD-A7AB-104F95C6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E6F85DE-4AA7-45AD-AAE6-29FB2259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DE9EF47-3555-435C-9EDB-84AFB2E4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C8C2FCDA-F70D-4C28-B8BF-114530BB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39C29CDD-B130-49A7-ACBC-7B28C702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E25F06A-E1F1-46EA-843C-E63B6363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11519FE-C0C1-44FB-AD57-014EDE2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7231C66-7A06-4A89-A3C5-FF8FD883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22E5CE9-AF70-4715-8CFF-4157D976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1CDF93AB-EBCA-4F18-917C-FC87A746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78CBD36D-AC61-4007-B1D3-2F5C8F6A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what’s wrong at the table saw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CEB6B19F-CA1D-4A26-9712-6C37C11A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Stationary Machines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B4803B7C-A080-43AE-A35B-47FB68AC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384843E8-9BDF-4B85-B0D7-31B0991C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HAZARDS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57455529-D803-4C2C-8713-47230170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Blade guard removed, sitting on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Hand pushing stock inches from the blade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Cutting freehand - stock not against the fence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Standing directly behind the stock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71D3CA0B-C325-4CC0-A1B9-ECA6E01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5015E113-C222-4E69-A160-40E4E8E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SAFE / CORRECT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F535A940-EE66-4814-85CF-81F95282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Rip fence locked at the cut width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Featherboard clamped to hold the 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Operator wearing safety glasses</a:t>
            </a:r>
          </a:p>
        </p:txBody>
      </p:sp>
    </p:spTree>
    <p:extLst>
      <p:ext uri="{BB962C8B-B14F-4D97-AF65-F5344CB8AC3E}">
        <p14:creationId xmlns:p14="http://schemas.microsoft.com/office/powerpoint/2010/main" val="18395439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ainbow-1">
            <a:extLst xmlns:a="http://schemas.openxmlformats.org/drawingml/2006/main">
              <a:ext uri="{FF2B5EF4-FFF2-40B4-BE49-F238E27FC236}">
                <a16:creationId xmlns:a16="http://schemas.microsoft.com/office/drawing/2014/main" id="{FB4736EF-60B1-4F6A-979A-9E28662D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D4C1BCC-CBE0-48EF-A9C4-CB51B096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5439592-1A04-4D30-B429-40DCB43F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5491BFAB-ABFA-4B7C-BF30-9833CD0F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5D157FBB-0E9C-4C08-9639-AF60CCF6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C984F5AD-6014-415C-96F7-9D70D94C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9C00904-143F-4775-A3E8-2CD352A3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8C14549B-29D3-47C4-973E-7084D33B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D31BC59A-2C26-42CA-B562-D9E2F8E1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4A7AD41-43A2-4E01-8721-CD11FA47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4518A72-17D7-4E0D-BF13-B234BCB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2C60958-5807-41D6-8154-0AFDD378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0E7B914-8BB1-47C3-84FC-543079B0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DD9E7C4E-6387-48EA-930A-D09626FB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242B9F96-9061-41D5-BCE4-AD66C68A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F6D66FD-026A-43A3-BAAE-DE2EEFC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3CEA2C1-F1CB-4302-A733-B2BBEC4E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695627D-D144-4DAD-9769-968470C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4992D712-3674-4A30-87C0-BF19A586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7EEEFE8-ACCC-4BAD-98DA-8F13F27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Rip cut on the table saw - in order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9BDC1433-6189-4816-AF58-0A4BCC2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Stationary Machines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20176EC1-87E7-4D85-9735-798D4734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Put a safe rip cut in order. Tap the first step, then the next…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71D96F6-643D-4115-8846-653ECC26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E0784959-926B-4795-B4DC-D90168A3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Put the steps in the safest order.</a:t>
            </a:r>
          </a:p>
        </p:txBody>
      </p:sp>
      <p:sp>
        <p:nvSpPr>
          <p:cNvPr id="25" name="question-items-1">
            <a:extLst xmlns:a="http://schemas.openxmlformats.org/drawingml/2006/main">
              <a:ext uri="{FF2B5EF4-FFF2-40B4-BE49-F238E27FC236}">
                <a16:creationId xmlns:a16="http://schemas.microsoft.com/office/drawing/2014/main" id="{B46EF8C4-7F05-4210-8609-79C0F4E2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Let the blade stop before collecting the pieces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Finish the narrow end with a push stick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Feed the stock tight against the fence</a:t>
            </a:r>
          </a:p>
        </p:txBody>
      </p:sp>
      <p:sp>
        <p:nvSpPr>
          <p:cNvPr id="26" name="question-items-2">
            <a:extLst xmlns:a="http://schemas.openxmlformats.org/drawingml/2006/main">
              <a:ext uri="{FF2B5EF4-FFF2-40B4-BE49-F238E27FC236}">
                <a16:creationId xmlns:a16="http://schemas.microsoft.com/office/drawing/2014/main" id="{13D430D6-96A9-4A97-B7F2-BBFE23AD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Check the guard and riving knife are in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Lock the rip fence at the cut width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Set blade height - teeth just above the stock</a:t>
            </a:r>
          </a:p>
        </p:txBody>
      </p:sp>
    </p:spTree>
    <p:extLst>
      <p:ext uri="{BB962C8B-B14F-4D97-AF65-F5344CB8AC3E}">
        <p14:creationId xmlns:p14="http://schemas.microsoft.com/office/powerpoint/2010/main" val="7091174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BFBE6240-DE77-4966-931A-7DD01F84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E6655EF-A130-491E-A0E5-1EBE001E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C2DA59D5-684B-4D78-8D35-953D79D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60FDE0A-5AD9-4495-BBB0-F8F3E131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988F1DA-C2AF-4B21-B6FB-A639891B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05DAC38F-6097-449C-9C4E-45698A77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748FEEB6-45D9-4916-AF57-4575DF6B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0F948273-C610-4D3E-989B-43202F84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7225748-328C-456D-8145-C706134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586AF17-3CE9-4FE7-B8EB-C8F588CA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0B9E515A-C4AA-4F96-8DDB-D0094207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B92C345C-9C1F-4F74-9463-AFE33517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2E96F4F-3D51-4ED3-B08E-29E0B6BF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48A62674-D913-4251-A26C-795721CA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4AB15FE6-8DDD-4E97-BDD8-37A42D57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BFA6B839-ABC6-4BC0-8DAD-4E21D9DB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DA5FD97-C20A-4977-9E79-3908B3C9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FF8920F-7EB0-414A-88DE-B2CEF2F7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B5C78E59-003A-45B5-92CA-F79B0608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40D38F6D-F63D-4830-A9A8-6B623685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Rip cut on the table saw - in order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DED9EE82-2CEB-421E-A79D-37FA6D19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Stationary Machines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45B3EE47-1A4A-41E6-B681-8FF9ECB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EDA255A6-186B-495E-A365-4910905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ORDER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9E437A22-019E-45E2-966C-CCAD1A61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5583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1. Set blade height - teeth just above the 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2. Lock the rip fence at the cut width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3. Check the guard and riving knife are in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4. Feed the stock tight against the fence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5. Finish the narrow end with a push stick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6. Let the blade stop before collecting the pieces</a:t>
            </a:r>
          </a:p>
        </p:txBody>
      </p:sp>
    </p:spTree>
    <p:extLst>
      <p:ext uri="{BB962C8B-B14F-4D97-AF65-F5344CB8AC3E}">
        <p14:creationId xmlns:p14="http://schemas.microsoft.com/office/powerpoint/2010/main" val="5674951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06CAFDA8-74CB-48FD-82E1-30647AE2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9AF1B99-F063-44F4-A757-BDD34563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EE5BFED-20CB-4DF0-8144-863F1231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253F584-14B9-424E-8716-88154A0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B99C077-1256-4387-800F-3B8E3D1E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3C536998-E1B7-4BE7-92D4-24AAB82D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19AE610F-FD12-4FB3-B586-13B76627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B64D12F0-168C-41EC-AFB4-07D8E547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C70ED645-786E-4DAE-B6EE-B197128B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D7818A0-BB39-4F04-900C-A1EACAE8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25D18649-CCF5-4952-99A2-3A4389E4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B37056B0-715D-4243-91BD-A7E7203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284FC3C-B4D7-44DE-87DB-AEF070CB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959B14A-FB3A-4745-96EE-B723EA57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A09CBB1-20CF-48DB-9DDC-735E673F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FA6635D0-2E93-4C78-B9DC-3DE3D6C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FCB77AC-3603-4865-936F-6ED97866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10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C11D34B-DD7B-4CEC-92DC-A68C498B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09CFD5BE-1EAF-4B19-A22B-1C848CF4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10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16A50717-A912-4D7B-AEC4-7B2ABFC6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Props Fabrication Equipment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2C014ACD-7720-43AB-ADD8-2D494F7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3D printer, vacuum former, and casting &amp; molding - heat and chemistry.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63495F6F-9927-4C02-8156-8241124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6E24A410-4775-4EDC-9FD8-E2FC709F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3D printer: </a:t>
            </a:r>
            <a:r>
              <a:rPr sz="1725">
                <a:solidFill>
                  <a:srgbClr val="A9ADB4"/>
                </a:solidFill>
              </a:rPr>
              <a:t>Slow, quiet, and hot: The nozzle runs at 200°C+ and the bed is hot too - hands out of the machine while it prints and right after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Vacuum former: </a:t>
            </a:r>
            <a:r>
              <a:rPr sz="1725">
                <a:solidFill>
                  <a:srgbClr val="A9ADB4"/>
                </a:solidFill>
              </a:rPr>
              <a:t>A heating element hot enough to sag plastic - treat it that way: The heater and every fresh pull are burn-hot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Casting, molding &amp; resin: </a:t>
            </a:r>
            <a:r>
              <a:rPr sz="1725">
                <a:solidFill>
                  <a:srgbClr val="A9ADB4"/>
                </a:solidFill>
              </a:rPr>
              <a:t>The chemistry corner.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69D3B252-85F6-4AF1-85D4-A408FE63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5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69595450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5398FC24-639C-4623-9D18-046444B8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806FD5F-4E8D-43B6-A34F-ED00AF59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FFA41603-2F79-4724-9AED-EA4B4DA5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D4E832F2-DE04-4219-B5E2-C4B43E74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5161E207-11A5-4A18-AAE1-510B9581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76D4AC2-B828-472B-B998-2486217A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7636E334-6127-4899-9AB0-CE59E241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C3253340-D9FD-4F39-8BC9-151E6010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9B07199-C13A-4DFC-8DCD-499930C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EAA094A-C172-4E31-94A0-0BCFFE3F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EACF0D1-8A78-49BD-8871-F12BBE9F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AF5D619-AF24-4268-9B52-3EDC8F95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081D2CB-0E5F-4B96-8453-55B8830C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3C601761-B57C-4133-B3A6-102A5FDF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31E8335-8878-47A5-AE2E-EC22DFAD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9B89045-528E-4310-869B-B05ACEA8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3136410-2A3B-40E8-9664-1F2761BB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3A1441-3B0B-42F7-8DE8-F20648CA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A94B5915-2935-454D-9EEB-54F577E8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90718C8-1907-4FDB-A7BB-D9D6E66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Hot - or safe to touch?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00661FEF-6FAD-405A-B743-BF8B903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Props Fabrication Equipment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C1FDC8D9-7565-4E9F-99CA-CC155ECB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Props equipment punishes the casual grab. Sort each one: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B51FEA4C-7AB3-4454-A853-DB1F827B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D926FC9C-9D1D-4565-922D-BC99601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Sort each item into:  Hot - hands off  /   Safe to touch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D4037BE9-6E2A-4C19-A60D-1905FAFD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12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Printer nozzle right after a print finishes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 vacuum-form pull fresh off the machine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 resin part that cured yesterday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Filament spools on the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The vac former’s heating element</a:t>
            </a:r>
          </a:p>
        </p:txBody>
      </p:sp>
    </p:spTree>
    <p:extLst>
      <p:ext uri="{BB962C8B-B14F-4D97-AF65-F5344CB8AC3E}">
        <p14:creationId xmlns:p14="http://schemas.microsoft.com/office/powerpoint/2010/main" val="136414149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D9217A9B-AA3F-4960-B7B5-C3F5F255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246B22C2-86B0-4EEB-B81D-D20D60FA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1CBA1A1F-D961-4322-A3E1-3D099F71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BA2C7696-5439-4B89-AD93-2BB8760C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98D45FD-7619-4208-8182-C446D574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67EFF86-2DF2-49B8-A1A3-10B905A0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203FA28-A787-4C77-BEA3-630A8C29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C220ED5C-BDAB-4BA5-B021-A447E3DE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154A0ABE-DB90-4413-84A4-30628186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11F94F0-86D0-4233-A431-C64CD9FD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25498D3-4DDA-4532-8885-A3DC6218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9ED9A6A6-657F-4DDC-B569-C530844E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3DD78A7-5D91-42CE-A7FD-4AA0376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E5537056-4680-4C2C-93B1-EBF72299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AB8C580F-C575-44ED-992A-5194C192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3708BE7-0416-4254-A787-0505BBDA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DCC9766-E264-4F50-BDF9-5ECBEEBA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203C7F-0AE7-4FD3-9CDF-8D6454D0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6ED3DCF6-1BC6-44AE-9816-C9123567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65D8C2D0-6FD9-48CF-A7AB-400FBD62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Hot - or safe to touch?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C3603A04-F3E5-4E8B-B379-59CF9537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Props Fabrication Equipment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64925CAD-ACD5-446D-B477-6FD2D7A3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E6F6EA91-AF6F-4264-B606-C158DBDA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Hot - hands off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ABCF0B5A-6026-456E-9979-21A10763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Printer nozzle right after a print finishes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A vacuum-form pull fresh off the machine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The vac former’s heating element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15F3CFBB-FCA3-4559-AAFF-29941E12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94A43375-4B62-48FC-B8AC-7B06F016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Safe to touch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1BA8BDF8-8234-4182-A999-128E76C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A resin part that cured yesterday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Filament spools on the shelf</a:t>
            </a:r>
          </a:p>
        </p:txBody>
      </p:sp>
    </p:spTree>
    <p:extLst>
      <p:ext uri="{BB962C8B-B14F-4D97-AF65-F5344CB8AC3E}">
        <p14:creationId xmlns:p14="http://schemas.microsoft.com/office/powerpoint/2010/main" val="100477709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E48E8A8E-EF02-47E6-A9B8-FC2EC86A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27852F1-2E53-4B40-89C7-462E843B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CAFEFC1E-2942-4112-89F9-06B09CE4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888264A-47AD-4B9E-ADAA-CD9E9417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BA157D1B-07A5-4F92-9AA6-4C1B7EF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5760C162-A456-4C3C-A98C-9303050E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480944EA-3E94-4C94-98BD-88B5BB87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1BF7E220-AAF0-437C-8897-FD4A8D70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0DF6DC9-028A-4977-95AD-C7DB88AA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9B7A3FE9-07CE-4CD2-8011-EBA2DEC2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041364B-4D7E-4E19-8AEA-29001F55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85A7136-8164-4A32-B98C-87E192BC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A89B66C-13C2-46A5-8877-4D5A6E6B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4D83F067-B25F-487E-988E-2353AA93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D0ED12F6-F72D-4D5B-A214-806DA17B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FF3E93BA-8167-4F1A-A083-A8229975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C5C4E4-04FB-487A-8E16-AED4A20F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958B4B4-1A5A-4A42-9D0C-E2E0C815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163F562D-57AA-4703-A5B5-8E4BDFEE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27FA2D0-930B-4B65-9EFF-69FF2DFF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Resin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19DBAC74-245C-44ED-AB9C-149E3923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Props Fabrication Equipment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CF5F15B7-3D71-407A-B639-BB92D7E6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You’re mixing a tiny batch of resin - thirty seconds of work. Gloves are across the room. Skip them?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1B052AC4-63A4-4FC9-84D6-3BA2618C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F99FBBDA-5264-433A-8B96-93F2E8B2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6EB8618F-CB6D-434A-BEB9-FB6A37AB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Yes - it’s a tiny batch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Yes, if you wash your hands right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No - resins sensitize skin, and every exposure counts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Only skip them for clear resin</a:t>
            </a:r>
          </a:p>
        </p:txBody>
      </p:sp>
    </p:spTree>
    <p:extLst>
      <p:ext uri="{BB962C8B-B14F-4D97-AF65-F5344CB8AC3E}">
        <p14:creationId xmlns:p14="http://schemas.microsoft.com/office/powerpoint/2010/main" val="5630401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C649FF6C-C935-4FA3-B22D-AD230DD7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64AC25C-EB78-41C7-B1DC-4F780B08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62C6D90-2AAB-449D-AC42-6DD10BB1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551DFC9F-EBF7-45B1-B293-676C0704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F9AF20D0-D979-4344-BD4C-87DCEAE9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E0B5B5A-8408-402D-BE2E-5CD9E58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2CB5FCC-081F-47F6-B427-E889C927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E7F9ADED-E990-42D5-A691-63881E35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E6C4D7C1-301B-4A99-945D-729DA934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FAD842A3-68C0-4A55-BC33-E1FF8C91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107CF7D-FFC3-4E5E-BAA8-833F18C1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0E576491-9C4A-491E-ACBB-EE371CA5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E1E7279-7785-4DBE-92A8-85AF15B8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15466BCE-47BB-4D54-8EC0-2D37AABD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44942F74-5E37-4630-9DAF-9954B192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038D31AB-1521-4E96-A1C2-D1D42E28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33C4BD-9079-4837-8008-08AD0BFF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A105195-5598-4D7E-BC11-AB6C19E6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228B4D02-4EFD-482B-B926-6F385FBC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DD78DF9D-5D07-40A4-A380-34E23117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Resin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BFB6B355-4629-4AA7-B86B-459C6DD3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Props Fabrication Equipment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AB76EDB9-978E-4F29-A230-415F6E29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879B2883-5AF2-4ADF-8A98-77E51FE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27902471-57D5-423C-B5CE-97D1C365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No - resins sensitize skin, and every exposure counts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566ED5AF-32B5-4061-ABFE-D15EFEEE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Sensitization is cumulative and permanent - the “quick batch” is exactly how it happens. Gloves every time.</a:t>
            </a:r>
          </a:p>
        </p:txBody>
      </p:sp>
    </p:spTree>
    <p:extLst>
      <p:ext uri="{BB962C8B-B14F-4D97-AF65-F5344CB8AC3E}">
        <p14:creationId xmlns:p14="http://schemas.microsoft.com/office/powerpoint/2010/main" val="12402372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4BDFAA43-2145-4396-A8DD-C83C637F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2555152-263A-4766-B446-4FAA7089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FD0943F-B0A0-415C-863E-526AFB96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E2A8CC4B-0AB6-45A2-8801-0F36843C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AB2B7319-56F0-458B-B7FF-C8450729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8E30690E-9715-4940-BEA7-EF649B2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D2946D4B-9D76-429F-AE33-C748334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A0D5BBC0-B710-4BD0-BBE9-A19E4576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E07C7532-8ACD-4651-815E-39051599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159B58EE-54BD-4073-9BCD-772A0901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971A2E2D-A326-42F4-9AB2-CA23BAD0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424FCA3-BDF0-45F7-9E6A-EF846148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232E338B-6CF4-4498-B188-A5BBD039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14866421-BFF5-4079-ADE4-3889D76F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3ABAF9A7-6A87-4D2D-8547-E3CBBB4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72C69A02-4C52-4C6A-8071-DED50B9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494990D-FD09-40D7-A00D-B78BE93B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11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3781B21-DE7F-4919-929C-E7A4B270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4BA09A27-B9AE-42F8-8EFC-88D19C8F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11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5BEE0E87-0343-4EC6-937F-04FB1CA6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Lighting &amp; Electrics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A0E94168-F702-4A09-9D45-14C3607C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Ladders, fixture hardware, gels &amp; gobos, cable care, hot focus, and electrical hazards.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AB7622C9-EED4-47AA-B898-BE64252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73038396-2A3E-4618-83ED-A4BB29E9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2563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Ladders &amp; working at height: </a:t>
            </a:r>
            <a:r>
              <a:rPr sz="1725">
                <a:solidFill>
                  <a:srgbClr val="A9ADB4"/>
                </a:solidFill>
              </a:rPr>
              <a:t>Know the ladder and working-at-height rules and be able to state them: • A ladder is set on stable ground and steadied - never climbed alone in the shop.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Power, plugs &amp; equipment care: </a:t>
            </a:r>
            <a:r>
              <a:rPr sz="1725">
                <a:solidFill>
                  <a:srgbClr val="A9ADB4"/>
                </a:solidFill>
              </a:rPr>
              <a:t>The rules for anything with a plug - consoles, playback, monitors, practicals: Dry hands only on switches, plugs, and equipment - and never use…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Cable care &amp; over-under: </a:t>
            </a:r>
            <a:r>
              <a:rPr sz="1725">
                <a:solidFill>
                  <a:srgbClr val="A9ADB4"/>
                </a:solidFill>
              </a:rPr>
              <a:t>Cable is equipment, not rope: Coil over-under so it pays out flat without kinks - a kinked cable is a damaged cable waiting to happen.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Lock-out / tag-out: </a:t>
            </a:r>
            <a:r>
              <a:rPr sz="1725">
                <a:solidFill>
                  <a:srgbClr val="A9ADB4"/>
                </a:solidFill>
              </a:rPr>
              <a:t>When equipment is unsafe, it comes out of service - visibly : A tag (or lock) on a tool, cable, or machine means: dead until the instructor clears it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Work like a professional: </a:t>
            </a:r>
            <a:r>
              <a:rPr sz="1725">
                <a:solidFill>
                  <a:srgbClr val="A9ADB4"/>
                </a:solidFill>
              </a:rPr>
              <a:t>At this level you work at height and around power independently and safely - and you model the practices for everyone else: safety cable on every…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3E63B916-E2CF-4BFE-9335-BDBA3227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11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2456474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29905A74-6760-40AD-BFFD-17311E0D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C8671C5-771E-49E0-9BB6-C261434F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9DBBDFE-1358-4AA1-8A94-CBC381D9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D0E8AAB3-CEA0-4B8D-BC9E-A285DE8E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BDD9377-3244-40AE-B3B6-260D961F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AD42A576-2A59-429B-9382-9B28021C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24E0133-0D23-43BC-9D2D-DB26DE95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407FCB9-A394-4D0A-BC00-8F305767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D071E8A2-B278-43DB-B51D-108CC6DE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D3981ABE-4164-4F21-8C3D-E31C8CC0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33E86136-1324-4AA8-AA31-6E2B86D2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A077276-AB7F-4095-9F0C-5D646FD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5E20EFB8-A15C-49C4-A684-85949625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ACA8A9D9-861D-4B42-9C63-41440D67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A4302770-6ED5-4937-95D6-5565A4F9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0BB9A7B3-FD4E-427A-8CA4-22A75A65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764B1E1-0AFB-47D3-ABBA-65809FA0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D3EB6E1-466F-4E26-BB11-021DBB78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126F4DD6-8EB3-4C64-A206-055F75DE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1412E92-1498-4A14-B9A7-FF1B06F2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Hang a fixture - in order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C939D7AE-302B-401E-8CD0-5871F96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Lighting &amp; Electrics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DF9E269E-EF10-4A78-965F-9C71377A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Put the steps of hanging a fixture in order. Tap the first step, then the next…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658143FD-0BB0-471F-A788-E940CDDA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413D9730-C796-49DF-8776-4DC31219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Put the steps in the safest order.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040D588A-26C9-4AA1-B6B1-4C3E3FC8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12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Test it from the console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Plug into the circuit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Attach the safety 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Clamp it to the pipe and tighten the C-clamp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Inspect the fixture and its cable</a:t>
            </a:r>
          </a:p>
        </p:txBody>
      </p:sp>
    </p:spTree>
    <p:extLst>
      <p:ext uri="{BB962C8B-B14F-4D97-AF65-F5344CB8AC3E}">
        <p14:creationId xmlns:p14="http://schemas.microsoft.com/office/powerpoint/2010/main" val="152760081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B1EBE4A8-C0C4-4929-A92E-7F2FF0FD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871E25EA-3245-411E-BAFE-08944712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CA734105-0692-4FCF-A134-78C961F6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6592209D-0656-47AF-813D-CD0EB6A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0AFAC53-7CC2-4EF8-8846-74AD8AB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CCCB3F2-F22C-47BC-BD22-49C293DA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34F84B65-F42E-466D-8849-8F2AA943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3D2DEEF8-0F82-4A67-8944-198FF5F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8635DF91-6360-4F81-9633-493637E0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BED3031A-8B1B-45A3-B99F-554589E2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2A9B897-E3C6-48DD-B3AD-070521B3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9D8DA0F-DC05-437F-B168-F74B7F1E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E15F374-BD92-482E-909C-74D481BA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DCB81C72-DC7E-4F9B-A511-13B5D888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761F5C71-0F6A-4A07-8A7A-64C70BF2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01822FE-B40E-43F6-9CA7-284139AA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EBB80F3-31D7-470D-9C9A-C1E99150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3A95A25-C4BC-4FD4-8D61-8067523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DEC19643-91C2-4289-A813-2EA7DCDD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3C2CE129-F2D2-4ED2-B66F-E39BC52D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Hang a fixture - in order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753E9432-5ACB-4B9E-9D2A-B7FBAB22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Lighting &amp; Electrics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8606E5CA-FF6B-4D7B-9DE0-FA894C90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BB08ACC3-BBC7-495D-A61A-FDFC097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ORDER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3B47B229-EDD4-49F8-BC0A-B6B344CD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1. Inspect the fixture and its 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2. Clamp it to the pipe and tighten the C-clamp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3. Attach the safety 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4. Plug into the circuit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5. Test it from the console</a:t>
            </a:r>
          </a:p>
        </p:txBody>
      </p:sp>
    </p:spTree>
    <p:extLst>
      <p:ext uri="{BB962C8B-B14F-4D97-AF65-F5344CB8AC3E}">
        <p14:creationId xmlns:p14="http://schemas.microsoft.com/office/powerpoint/2010/main" val="169256266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F1B07446-BFB2-4ECA-80CB-73655C2F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F9906A3-4935-4D92-A05A-91088988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919D613-729A-46BD-8170-A4EB1CF5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1E771458-AAF3-440F-9F9B-D90CD4B0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E57DE064-BCF5-42DF-9678-E858BAFA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ECBF2B23-119B-42F1-B8CC-9B7E2209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0D110E1A-0F3F-4ED0-A797-AA82A001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B4C8C283-07AA-4694-A832-33586F2B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D680586-F001-4138-ADDF-F5707613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BB9EBE8-0F4E-414C-8208-5B8AC07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1DD861E-C678-430D-AFEA-C68C40A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4EFBDA9-9657-4556-927B-436A3BA0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EB62518-A5EB-40E4-BD85-B6EAED26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DED71B32-628A-443E-B1E3-70B418A3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7C30E016-BE23-407B-A194-2A1EDDDE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7963697A-0A6C-4CE3-ABB6-6BCD6C2A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2BD66DB-7FF7-467D-B24D-34170E25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12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756B03-F90C-4C23-9D36-8F80F3D2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E091CF22-4CFD-42FA-A637-701E3692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12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80DAE325-D210-49C1-B7AC-9CA80C86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Rigging Safety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ECC38BD8-945C-49C0-A147-9A2F431D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Wire rope, swaged terminations, and working load limits.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EB4083E9-0776-40BF-A7CE-222B27B8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DA91D3CA-8A1D-4A0F-9175-F66E6EA7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Wire rope &amp; terminations: </a:t>
            </a:r>
            <a:r>
              <a:rPr sz="1725">
                <a:solidFill>
                  <a:srgbClr val="A9ADB4"/>
                </a:solidFill>
              </a:rPr>
              <a:t>Anything flown or suspended rides on wire rope - never tie line or hope.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Working Load Limit (WLL): </a:t>
            </a:r>
            <a:r>
              <a:rPr sz="1725">
                <a:solidFill>
                  <a:srgbClr val="A9ADB4"/>
                </a:solidFill>
              </a:rPr>
              <a:t>Every piece of rigging hardware - wire rope, shackles, clips - is rated with a Working Load Limit (WLL) : the maximum load it may safely carry.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AA87469F-EF26-49F7-B054-7F660298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4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54516307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CEF53F77-2622-4704-B395-9324AAF1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07AE81F-C24F-459A-9482-046E28FB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1C66FFF-074B-4632-BD0A-E85DAFB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6F666FB-9803-4F04-AFB2-95F6403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B08CAC5-A52E-490F-8732-B9746670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CAFFF635-95ED-4737-86D8-86635BC7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40AEE25A-ECDE-48EC-8644-3801C422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8F5D194-025C-4850-81D1-A8BCE5F0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EAD37BB-1C3A-4833-A83B-DD48D163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F4814B92-624B-460D-A106-5E64EA60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3E4DBFDD-3C10-40FF-9069-69DDD6BA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5A801B33-FC84-42D4-86A1-0C8FEAEA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FBF9BA0-136B-4A7D-A2EC-8E1E602B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193576F6-360C-4AAF-8E20-A2DFFDC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767892B9-C188-400C-9AB6-4991350F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86DE6E12-844D-42F4-BE8D-B0C04B84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64E53D0-A134-4460-972A-9AF23F6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EB9F54B-02ED-4D48-A49E-8D1A8B5B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121D8455-0D25-4C91-8248-A962F150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CF92CE9-72A8-4AD9-B6FE-E4146224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Build a termination - in order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259B09F6-65F2-4BC6-8A71-AF841007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Rigging Safety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EA5BB5FC-8181-460B-9D71-F4C0FC4F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38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Put the steps of a wire-rope termination in order. Tap the first step, then the next…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1B03F568-825F-4C88-841D-68E5FAA8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6498740B-9456-408E-9D0F-7EE08BC6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Put the steps in the safest order.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2CD78386-7F44-4B6A-84FA-C06BDEEF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12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Only now let it take 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Check every crimp with the gauge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Swage the sleeve with the crimping tool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Slide the Nicopress sleeve over both parts of the rope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Loop the wire rope around a thimble</a:t>
            </a:r>
          </a:p>
        </p:txBody>
      </p:sp>
    </p:spTree>
    <p:extLst>
      <p:ext uri="{BB962C8B-B14F-4D97-AF65-F5344CB8AC3E}">
        <p14:creationId xmlns:p14="http://schemas.microsoft.com/office/powerpoint/2010/main" val="77106581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1ED04859-C239-4E10-8B63-BEF6955C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0A17889D-3095-4047-8D59-286ED16D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CEA8EC5-F14F-4A9F-9EDA-DEB7DF6A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68114D92-FEBE-456A-96E6-8B73ABD2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DC03864C-1159-40E6-8C22-9B2A61AB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B7198BD-5B38-45B0-A1E5-4EC5D84F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A9C81EF5-AE4F-46B6-ACA8-B2BE2B33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DF8C76A8-CBA0-47DF-984E-2BAA27AF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F9216368-5D4D-49BF-AA8D-04E12BE6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B981A978-042A-4550-BF60-63E79E63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57EB0320-ADC8-4367-9FD2-1CD17B10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988CA083-0042-425C-AAA2-0D8B59B1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852269C2-28D8-4C25-B955-23B35BF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ECBE20B5-7A8B-478B-8541-0C333170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5F2F5269-C41F-44E8-B646-DB1387A1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AC9F8A02-317C-4A3F-8BBC-39081E79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8B29E60-A81C-4B7F-898E-08AA8609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FAE921B-F3A3-44B0-8DEB-EEB6F907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2701C9B4-AFEE-4D9A-B6B7-40658AC2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84A613CC-C03E-422B-9ED2-DF8D67AB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Build a termination - in order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7AD35861-E98C-4D1A-A8BC-0D21BFF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Rigging Safety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9520BBDF-DBA3-44D0-AE30-60B2B54E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7FDFAC32-BD1A-463E-AB67-5B91A0D0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ORDER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62741F60-DC30-433F-96F3-39FE8D05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1. Loop the wire rope around a thimble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2. Slide the Nicopress sleeve over both parts of the rope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3. Swage the sleeve with the crimping tool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4. Check every crimp with the gauge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5. Only now let it take load</a:t>
            </a:r>
          </a:p>
        </p:txBody>
      </p:sp>
    </p:spTree>
    <p:extLst>
      <p:ext uri="{BB962C8B-B14F-4D97-AF65-F5344CB8AC3E}">
        <p14:creationId xmlns:p14="http://schemas.microsoft.com/office/powerpoint/2010/main" val="169527368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EC4D1ADB-1BF2-4292-8845-F784737A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CFCD3102-1EE7-4BED-B15D-D491B93A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B94F935-FD99-4237-99FA-B76BE850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94FD892-B3A9-4091-9BBB-4A6587F5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3A410CE-F4DD-43E3-885E-58582DD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3B3EF745-C255-4100-A5E8-7E10175D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77C64124-09CA-476D-BDC6-5B703B55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0D2047ED-516C-4A57-838C-7FD20694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D09D4758-CBAB-4629-A615-33399944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1BE4CF9C-21D3-4998-8E14-856BF576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2A791C1-255F-4536-8C57-D75ED341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C305B540-E4A1-4AB3-A4D4-6B492863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E56ADB2E-B446-4B30-B20B-C5F05EB9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211F6D9-9FCE-4B73-B77C-AF580F7D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6CD1EA6D-FE23-4952-8437-34697D21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7BFC8277-6F70-431B-B092-98B718F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1AB4D8B-9688-4F81-A89E-CF4323E4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13 OF 13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7635A62-2D07-4337-A726-A31AA74E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3AA46C32-9B07-4D65-A744-C9ECC87C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MODULE 13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327D05FF-2C61-4061-8265-DC34A3CF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Hearing &amp; Audio Safety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F70A19B0-BC31-4FB9-AC05-9FEC0938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Hearing conservation, SPL awareness, and safe speaker handling.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0701227C-054A-4C98-815B-21694104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6524E20E-24FF-4AE5-8560-983610AE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Protect your hearing: </a:t>
            </a:r>
            <a:r>
              <a:rPr sz="1725">
                <a:solidFill>
                  <a:srgbClr val="A9ADB4"/>
                </a:solidFill>
              </a:rPr>
              <a:t>Sound level is measured as SPL (sound pressure level).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Headsets &amp; comms: </a:t>
            </a:r>
            <a:r>
              <a:rPr sz="1725">
                <a:solidFill>
                  <a:srgbClr val="A9ADB4"/>
                </a:solidFill>
              </a:rPr>
              <a:t>The “no earbuds in the shop” rule has a show-business nuance: Personal earbuds and headphones never belong in the work environment - they mask callouts,…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Fog, haze &amp; atmospherics: </a:t>
            </a:r>
            <a:r>
              <a:rPr sz="1725">
                <a:solidFill>
                  <a:srgbClr val="A9ADB4"/>
                </a:solidFill>
              </a:rPr>
              <a:t>Atmosphere looks like magic and behaves like a chemical plus a slip hazard: Use only approved fluids in fog and haze machines - the fluid’s SDS lives in…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Handling &amp; rigging speakers: </a:t>
            </a:r>
            <a:r>
              <a:rPr sz="1725">
                <a:solidFill>
                  <a:srgbClr val="A9ADB4"/>
                </a:solidFill>
              </a:rPr>
              <a:t>Speakers are heavy, awkward, and often end up over people’s heads.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ED930497-07FB-4CD4-95CE-7FD91CB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6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99030243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0E65FE38-475C-4E2D-87AC-41ACC3CF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95A2C8DD-19C1-43D4-89B2-0DBE7760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BB7A06B-784A-4BCD-9E50-1BB3DD93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B75935BC-8F7D-4C8E-94F9-E9855AB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A51AD1D-9B2B-4AF4-83CB-98507945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7B6FF17-47E3-4DD7-8CF8-12E43D3C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B485B5FB-C7D7-4B1A-B6E8-E6A2773D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69C8E1C-01E8-490F-8E3C-4F977119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19B8CA3E-5816-485C-9C1B-F466A488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A7CBB93B-38E8-47C5-BFA8-D5D59066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BB3F4FAD-2BA4-4AC8-A74D-5320345F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B1FC5C20-D3A4-4BBC-8CBF-BDFC1FE6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FE0CD6C-7B7B-4C40-82FA-898879D9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46ADA7EA-A673-4BE9-90B3-29F3D6BF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72D7F227-0DF4-4715-A071-448BEDCF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BD2DC8FC-F085-4AFE-BB0B-5E25BA9E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0C5D47B-2F66-4AFE-B843-B65E8FB0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3C7B6F6-9570-47B5-BBFE-6E4D10C9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CF52247C-8458-478E-B7BF-46CAF0F0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D4ACF5-22B4-40ED-9ADD-493028EE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Ringing ears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5F77C0EA-8880-4C13-8508-1EE32909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Hearing &amp; Audio Safety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7B820C44-09A6-430A-A4A2-4F88AEE6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After a loud work session, your ears are ringing. What does that mean?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BC20EF51-344D-4128-84B3-1C07932B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46A470E8-0A80-4AA5-85C1-961D80CF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1187C3AB-87B2-466B-A90B-895771AF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Nothing - it fades, so no harm was done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You already got too much sound; the damage adds up and doesn’t heal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Your ears are getting stronger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You should listen to quiet music to fix it</a:t>
            </a:r>
          </a:p>
        </p:txBody>
      </p:sp>
    </p:spTree>
    <p:extLst>
      <p:ext uri="{BB962C8B-B14F-4D97-AF65-F5344CB8AC3E}">
        <p14:creationId xmlns:p14="http://schemas.microsoft.com/office/powerpoint/2010/main" val="60312319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22B7E89E-5ACB-42F3-8C79-2B07A5F1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975438A-FB86-48FC-90C2-84F8062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B7E1D0C-7298-43E8-8CA0-EED409A5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91924CA-3125-4F3B-A8D4-7BFC0970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B1427D1-0620-4A20-9134-F0244EA4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882A85B7-0017-4935-AE4D-18F8EEFC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1BA5868-CC88-4F13-80D7-2E704933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3CC6421A-F843-451D-BB3E-E7DA1AD5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DC4B51B-2237-4984-8CEE-CD46701E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A70436BA-A408-4974-9177-A1682E24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4A739D84-7688-4C64-8284-17C17838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A8474DA-A936-411B-9DD2-BF0404D7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1840B5B-E8A9-4455-B89D-42FAA8D8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FF128025-A09E-485D-AADF-76EF4571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45838C1A-1F31-4388-A811-4020333C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BA80FFA8-3CC4-432C-BA14-2F36EB1A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FB5EC68-57A9-4DEA-ACB2-463E3A9A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1263A90-FFFF-4EFE-9F05-A15FA218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925BFE41-A982-4295-976A-728A58F9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2CB0EEF5-C7B1-4433-BFEF-BCC45ED9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Ringing ears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3401B649-E93A-46BE-A721-615CF70D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Hearing &amp; Audio Safety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915BC88C-79BA-451D-A92F-B96EA73B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1F03FC3D-9A23-4D71-A36A-B467544C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3595FFFE-E4FA-44BC-89FF-66ED3B68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You already got too much sound; the damage adds up and doesn’t heal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0F899F18-8527-4C66-905B-26F709FE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Ringing means overexposure. Hearing damage is cumulative and permanent - protect your ears earlier next time.</a:t>
            </a:r>
          </a:p>
        </p:txBody>
      </p:sp>
    </p:spTree>
    <p:extLst>
      <p:ext uri="{BB962C8B-B14F-4D97-AF65-F5344CB8AC3E}">
        <p14:creationId xmlns:p14="http://schemas.microsoft.com/office/powerpoint/2010/main" val="25004190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90ED695C-C590-4343-B478-9B46C299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1E11BC9-0241-4DA2-AFD5-73C8A23F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2DC57C2-9B67-49A3-B1DA-AA3121E4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0C969AA1-632B-4C9B-9F2D-3E832819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FB3D3C50-3688-4342-8FDB-915D7C0F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ADD6975C-524B-4B35-BE30-DF4458CC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783D052-0B23-4294-AC45-F35DFC75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04C9C4E8-002A-4F7D-9C5B-5F948149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977E54C-C57C-4DCD-898B-A3FD690D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6065414-64C7-4349-B6DF-166B8370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7F3D1C8D-C9DC-44BA-8754-02C37E42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6DFD1E1-C2D2-4234-B5D1-83D9F104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0E42072-DEB8-4F13-897F-A77345C6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D6DCF038-1096-45A1-AE6D-188D372E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84EB54F8-83FC-4A1D-A8DE-BA9EAEA7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8FBE0C5-BA70-4402-A801-87BEBC50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5D76A62-3189-49A8-AC5A-CCC4F731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048984E-68B5-4BBB-BBAE-27AEE5F2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118668E9-B312-4316-A21D-17F53C4D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B11F71D-C25E-4551-855E-797B33B4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3DB34FDB-D31A-4C46-BCF0-7C7231C3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3EB2AAF5-21D2-42C2-96B4-29DBBA57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A task is going to fill the air with fine dust. Which PPE does that call for?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03A1F221-0F50-4686-9685-AD34C34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71E8E373-4285-4FEA-85A8-CE6F0672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2A20778E-175F-44AF-9E1C-297869A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Hearing 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Dust protection, like a dust mask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Just safety glasses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Gloves</a:t>
            </a:r>
          </a:p>
        </p:txBody>
      </p:sp>
    </p:spTree>
    <p:extLst>
      <p:ext uri="{BB962C8B-B14F-4D97-AF65-F5344CB8AC3E}">
        <p14:creationId xmlns:p14="http://schemas.microsoft.com/office/powerpoint/2010/main" val="197134532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E23A40CD-637B-4EBA-A9A5-67353087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89E8434-224E-4DF7-B634-27CB1F54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B682D3B-570F-4517-966F-2181E4AC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68320A6E-14AD-4A85-B3C3-DDDC28EF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60A3659-0A94-4E2F-AAEB-C34AA221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00177C2-37CD-49E7-BCC4-B15ADDDC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08CBFA5E-8B40-430C-9EEA-4FCDFCC9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9113403-C7ED-45A8-A606-C362B21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05B2CDA-288D-4A43-A22E-3EB937A5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CEF1065-442F-449E-85CF-E25BF7D0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05E621E-4BA4-4F6F-ABE0-BF9B186F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BB4B78C9-BA11-4165-8D97-FB26B588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59680107-27E5-41BF-B14B-1FB0EAA9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D40F03B-8D39-4627-A423-58B0CD9B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B06B898-C2D8-4A4A-8D8A-AF126DBC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5E2DABFC-43FD-4239-8365-B307DBC0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B6273C-FB7D-4834-B5F2-8AB0AF0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C9F4A04-62B4-4800-9170-4A38E9C5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FE0C6BD7-23C7-4EEC-A145-5EC12C88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1F6D9047-6C9F-4356-B111-47A47836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D16BA69D-1A33-498F-B0D8-BF2DDEE2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8C7F384E-D34D-467D-8C9F-6891E2CA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2C73A4F4-F0A7-463B-BBAD-2FBBEEC7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D20D9772-C0D1-4289-BACF-F0F8BAD5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Dust protection, like a dust mask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E379F70B-30CB-44B2-85F6-99BD91A7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Dust protection is required whenever a task puts fine dust in the air; safety glasses and hearing protection guard against different hazards.</a:t>
            </a:r>
          </a:p>
        </p:txBody>
      </p:sp>
    </p:spTree>
    <p:extLst>
      <p:ext uri="{BB962C8B-B14F-4D97-AF65-F5344CB8AC3E}">
        <p14:creationId xmlns:p14="http://schemas.microsoft.com/office/powerpoint/2010/main" val="82641089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06704806-1058-4D62-A669-C2519B5B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C2F1C53-0DAB-4439-8BFF-721FD098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FB9EF21-DAE9-454A-A1E0-4C13A1CF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E098176F-2525-4016-A1EA-C74EDD94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0DF49172-9791-4562-B19F-7C2A6D0D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CD3EB6FF-D001-47FC-A059-EA45422E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0F51A45D-E969-4F8F-B085-1F8929B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9554C416-3E8B-4CBE-AEE3-A9A92046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7FC57AF-4D40-4540-9268-3B233A84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A33F3A9-17FE-4DA0-BA29-95AB5586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30488F1D-0857-4A47-8F80-4FCB351B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63CD93B-FE75-4537-B933-1AE564E0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63A71565-4A3D-4565-833E-44E1F567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5AF26D5C-1EAE-4D56-8207-4DAFD9C5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28604DC3-9F88-4A1E-A8FD-E6E3BFFA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D72D3460-97EE-414A-886B-7A30ABC6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38A63B5-2242-430A-A565-CE1389E5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177C337-48A4-4C06-B5EB-7EDB0929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C2C1C577-7DCB-491E-B0A9-6A169251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92B4201-43CE-4189-B77A-D3E2BF46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05A2A087-7494-4DC0-8DAB-29F7A9EA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7BE0C9FD-DE9D-49CB-B280-7D59E157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discover a fire in the scene shop. What do you do first?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6501C949-D174-4760-AC05-49C3F19B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F901F733-913A-455A-94C6-6CD6F4D1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8053C2CD-0FBC-4A03-95B0-90E66FDC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Shout “Fire!” as loudly as possible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Immediately notify the closest adult with the exact location and what’s burning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Look for a bucket of water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Open the doors for ventilation</a:t>
            </a:r>
          </a:p>
        </p:txBody>
      </p:sp>
    </p:spTree>
    <p:extLst>
      <p:ext uri="{BB962C8B-B14F-4D97-AF65-F5344CB8AC3E}">
        <p14:creationId xmlns:p14="http://schemas.microsoft.com/office/powerpoint/2010/main" val="101635736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D908F083-1C07-484C-A013-492FC801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E45E6033-5983-4736-B1D2-8661ECE4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C50E698-70AB-47E4-A478-3787E254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644929C-E67B-4232-A65A-589C1C0F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3991C89-E8C6-4342-AC99-A05DB3AD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56A6EC8-9149-418F-A008-0B531071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F8E8ED9-5DC5-407D-9243-17F49F73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6A11554C-4486-46CA-BDCA-EAB60684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FEB823BE-C00A-4884-B468-077EB200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78C583F2-8CE8-4C50-8BC2-A5B350DC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4865884-996E-4235-B7DE-DBBB479F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5E979A1-86D3-46D5-87F4-5A7BDD3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58A82AC0-3BB7-4361-B4B0-8445D985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61E5C4B4-31F1-408F-8815-98FF6604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D3A28C44-5312-4D93-98D5-48746F15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AA5E050E-E383-4E02-B461-A7470D93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0321FB5-8421-450F-B712-D19FADB5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F5D1E2-3EF9-4277-89C1-A863C837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DEE873F6-A5B0-4956-B607-EF55E7F4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4E8599A0-B4FD-42D0-B6B8-6F5D9F72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1F80F3C2-A0D6-4681-8470-0E40505C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20695E61-1A62-46E2-8117-3F9F29C9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422DA9F4-0DFA-490D-AC96-1E2E4D33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51AA0DF1-41EA-4ECF-986B-58439D55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Immediately notify the closest adult with the exact location and what’s burning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C5FF4FCD-F189-4E82-86BB-73B45BED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Exact location and the nature of the fire, to the nearest adult - and never a panic shout in a crowded space.</a:t>
            </a:r>
          </a:p>
        </p:txBody>
      </p:sp>
    </p:spTree>
    <p:extLst>
      <p:ext uri="{BB962C8B-B14F-4D97-AF65-F5344CB8AC3E}">
        <p14:creationId xmlns:p14="http://schemas.microsoft.com/office/powerpoint/2010/main" val="112895708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42A34950-1EDB-4662-BC7F-867B804A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77D46E92-DC09-411D-8FC7-2D1A095F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310B2A0-03FA-46E0-9C91-6BCDF6EA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92859D9E-93DE-4E08-A989-B3B4CE67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4405387-E745-434C-A484-E013B557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CF5E055A-8FDF-441A-9F8C-4CA48696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CA45425-C78A-417B-A8A2-07F2F7C1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FB533BF-6AD6-48DB-B16F-856B0FD2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B1DBBF43-BE10-4CDB-A702-B0FF326E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BCD1A3E2-5E4A-47D8-AE9C-7345C8CE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9E04ED1E-724F-4AAF-80B5-01269307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13A836A7-0D2E-45BD-8D86-B23E2F5A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2F07BA76-186B-48D8-919C-25188403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B13351CD-1DE3-4FAF-9B1C-2BB32FB3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DFC4EF3F-FC1F-45BE-A1D5-50BC1C16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C5558D0-3C48-4767-A130-1FB9BE9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7CFCF2A-71B1-4AD0-81AF-C3524057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AE470C-BD19-4556-A010-926BE1F6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A1305456-17DC-4074-B280-45BEBC9A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D0E78BA-CE56-4D78-9CDA-70DA774E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D9016A74-B33E-48EA-9F82-92579DB9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F4F67EFF-C818-4F15-BF1D-DA8B4475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Which stationary machines are introduced in Tech 3-4 and require their own safety orientation?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57070A47-1958-4EC5-9CB1-9251F7E6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A140459E-AC12-4A3D-8623-8FA6695D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AF378C68-4939-4DC4-8971-57D3B9C7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Table saw, palm router, and band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Jigsaw, impact driver, and sander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3D printer, vacuum former, and hot-wire knife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Miter saw, panel saw, and framing nailer</a:t>
            </a:r>
          </a:p>
        </p:txBody>
      </p:sp>
    </p:spTree>
    <p:extLst>
      <p:ext uri="{BB962C8B-B14F-4D97-AF65-F5344CB8AC3E}">
        <p14:creationId xmlns:p14="http://schemas.microsoft.com/office/powerpoint/2010/main" val="176054916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73A0CDD0-2287-4F67-BF46-C0759FA9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74EE64B7-793A-4535-B09D-42BD8FEC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834A505-914D-48C6-88F3-6B430759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F9BE65A0-DBCF-4C4D-A3CC-B5F041C1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5BF4659A-92C6-4E58-BAB3-1E73765C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13DFCC76-C37D-475B-AAF7-B954FD85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2ABF6CE-5F7C-46AB-9979-661955E2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903CE0A7-5364-45CB-90CB-D61E4B2A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14AB79BC-6BC3-4295-BA6F-022E669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7E5AC317-6A7A-4CA0-A536-F7E12449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4036290C-DB26-4282-A032-72F0C8E6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10F567AC-DAE7-4313-ADD0-F5E35A91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156C8C1-F25C-4599-B5F7-9E2490C4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4D021BF5-7DAD-45DD-AB9E-F8F353D0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C0EFC6E-6A7A-4025-B662-F69FC9B7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237FAD5B-6A8C-4AE6-A339-4AAF232F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620B3FA-5783-4208-9355-55F884F9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18AA915-C3D0-4173-AB8F-BF22983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CCFF7789-DB0D-4F54-B82F-4DE34126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C1A534E9-7F5B-4E2E-8968-526F3B21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E873098B-667F-4533-A390-0C4C3EAE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A129D0F0-2F77-4D1D-9D9E-4C5C05C0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338B174C-CD73-4B5F-A49C-BACFC0BC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F1E2A46A-1F2B-461C-BD6A-C6207BF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Table saw, palm router, and band saw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C065ED5E-236D-4C86-A582-6518D343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The table saw, palm router, and band saw are new at Grade 10 and each requires a safety orientation with direct supervision at first.</a:t>
            </a:r>
          </a:p>
        </p:txBody>
      </p:sp>
    </p:spTree>
    <p:extLst>
      <p:ext uri="{BB962C8B-B14F-4D97-AF65-F5344CB8AC3E}">
        <p14:creationId xmlns:p14="http://schemas.microsoft.com/office/powerpoint/2010/main" val="75291291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FF9C5584-AA3A-44CD-BB6B-A770D60A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85EFB54-7499-479F-8B09-5378B80C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BC438DD3-45FE-4910-A889-E7C7226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A7D034F-1D29-49D0-B88E-8CD17EF1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FD38B4A2-A7F1-47B2-8645-13E6BFCB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BEA42646-7D80-4C99-9B4E-0813DA1A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3BF429BA-723F-4263-9881-8B1F620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A6D0DDF8-E2DA-4DAE-8D9C-5215323A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9EC29FD9-B76C-479D-B9D0-0A595241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650DBF2-7A69-48EF-AFD0-3CE3FCAC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2C44FF78-655A-403D-8E3C-624593CB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B2B0B7D4-1E9A-400E-8EC5-1582DFB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85301EF-90BF-4344-AFB8-EBCEEB9E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B1C431F-D301-461E-AFBE-77B9C720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368DBD4-2A48-44AA-9867-BC26295F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D6A5FC3A-D2D1-4698-81E1-32866385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E9486B7-4287-46E8-B99D-C2D5054F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019570B-40B4-4D12-A99A-AA09345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FE1AAEA1-89C6-4B19-A8CD-A9E82149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3DA3252-61DD-4E0F-BDA8-5D01C52C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DD007345-FA0A-4450-98CB-2939E4D9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C8BB1ACC-863C-4CCF-8E3C-925FFF95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Which utility-knife blade is safer?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46608FA1-63FF-4BB6-B4BB-2A22A53F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F1375DBA-0648-4E54-85FC-E450E79A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F65379AD-7357-4626-AB0B-BA8BEA09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A dull one - it cuts more slowly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A sharp one - it needs less force, so it slips less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They’re the same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Whichever one is already in the knife</a:t>
            </a:r>
          </a:p>
        </p:txBody>
      </p:sp>
    </p:spTree>
    <p:extLst>
      <p:ext uri="{BB962C8B-B14F-4D97-AF65-F5344CB8AC3E}">
        <p14:creationId xmlns:p14="http://schemas.microsoft.com/office/powerpoint/2010/main" val="46074540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1AC59556-A927-4181-8EA1-EDD2E27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0DC91D2-D27A-46EB-A5EC-F80056C5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85905FFE-2871-4D60-8BB3-B53DAA36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ED13F68F-C16B-4A4A-B523-92645066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FDC3360-FE49-4A1A-895D-39657B78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D028B97F-C1FE-4355-90D3-649AB41B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07502AB-ED34-4496-9F77-466F737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9EF31E69-DC92-4E31-9797-896645E7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DB94BB18-6C1F-441F-A0BF-6B44C22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7B87E6CF-6327-417F-B8C1-8717CD66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51F5630-49B8-454D-9826-BA5FC866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05C5966-759F-430D-BADD-FDC19505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3A6EDE12-B6C9-458F-B8A1-6DFB88B6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44DEDD8-C51E-4B01-9043-A37C2A7E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FEF9F03C-D2A9-4F81-9310-0263D40B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8F5C0E01-A47A-494B-BE77-772C14ED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25688BE-26C7-4090-888C-FDA296CB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37C9007-5BEA-4358-8CE5-5DA7210E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66D46671-6F17-444E-8039-A3B1608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C80EE597-037A-4BB3-A02B-76023485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ACCD0422-2A19-43BD-9D9E-5D0B9DEA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6F2DAA05-1D7A-4DB5-832D-F2B5211C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D30CC366-F7F7-4D56-830D-B5457747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382585D3-C7B1-49BB-8AC1-3C92E85C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A sharp one - it needs less force, so it slips less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7E45334D-6024-4697-AA60-5CAA6F26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Dull blades need force, and force is what slips - fresh, sharp blades are the safe ones.</a:t>
            </a:r>
          </a:p>
        </p:txBody>
      </p:sp>
    </p:spTree>
    <p:extLst>
      <p:ext uri="{BB962C8B-B14F-4D97-AF65-F5344CB8AC3E}">
        <p14:creationId xmlns:p14="http://schemas.microsoft.com/office/powerpoint/2010/main" val="178347641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29D290F4-5BAF-44D2-B3EE-729984B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6D935937-CC91-49B9-9F73-3D6E755A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FB9616C7-535D-4978-B10F-632610FC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9C32165A-EC01-4963-90DF-C8FC4321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D3C4EC5-4FB5-4A3D-8F15-5E93EEA3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9414500-300D-4B63-84AA-D02598DF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4F5617A6-BE22-40FA-91D5-0F6F108A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8850A55A-2BF2-4000-8312-ED0C3898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9CAD1278-4F14-46D4-AB5B-081AE9D8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6A36CC46-6A19-442D-B2F9-003A9885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E18070C-30E8-46CA-92D5-6945099F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8FC856B5-DF13-4BDE-8E00-5AFDFA8A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9F7760E-9B70-4850-83D0-A1F8E198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429FA50-45D4-4FC9-B61B-178398A8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BDC066F0-EE1A-4599-ABDA-A631B4D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8B5FFA51-A9A8-42D3-80DC-C80280CF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4F20FCA-FEBB-4CBF-97EE-80F0C83A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DCFD88-F85C-4B9A-8388-AFB07390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A6F4B53B-6F17-40B5-9C63-FAED3D2E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05DFFE-A114-4871-A288-092E9E2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5DD022C8-585A-4055-852B-AA9470BD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5CB76B5C-4D3E-49AB-93FE-A93C29BE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Where do pins live while you’re working?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10B8BD49-8DE3-417B-9D10-F3AED38F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7ADCFE11-D970-4C90-9F8E-5E38F245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06992A29-BC9F-4330-B01A-8A2E1C11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In your lips, so they’re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Pinned to your sleeve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In a pincushion or magnetic tray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Loose on the table, next to the fabric</a:t>
            </a:r>
          </a:p>
        </p:txBody>
      </p:sp>
    </p:spTree>
    <p:extLst>
      <p:ext uri="{BB962C8B-B14F-4D97-AF65-F5344CB8AC3E}">
        <p14:creationId xmlns:p14="http://schemas.microsoft.com/office/powerpoint/2010/main" val="142975904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A775B895-DFE7-4B8E-8613-3CB6F656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0D3D0D0B-ECFA-43A1-A5EA-C649ACC3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6760567-2B09-4C7F-B523-5928E76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D31F5C45-7C58-4E24-AF62-DCC6AA9E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971FD86-5450-4A9D-9E15-5EE296F9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A8D4DD5-26CF-4322-8AFA-B6FE250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6DA991C6-4EAE-4801-AFB4-E424D101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B462CB97-09EE-4E46-A597-8F28C00F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3A55978E-ABE9-4C04-A9A1-E5DD9F0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1DD74F0B-2C11-4DBA-85A4-0506067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A7BC6F1-6C11-489D-9BBE-89E5BAB6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E809EC2A-91FD-409B-AFE1-115E4D19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566394C-9289-46E2-8A27-467C13ED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A596E7C4-1BDD-43BC-A85B-791A8D76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2CF356D6-AC71-41B6-A945-BC73CBA9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B363A6FE-D429-417C-8E3B-9F8F2954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B88FACC-986F-4171-9977-02598083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AE292F6-770D-4108-82CA-53FCAABE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1D7ECEDE-5A5C-4D5A-8D19-FB4F483F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CE2C58C5-A7FE-42BA-B576-D8A51D74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787E42A3-EDF7-4851-8A88-B899B5CD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1045A68D-7D44-46E3-966A-8C892762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95F27AD7-BCF5-4E29-BF65-308EAC6A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64BCB7C0-54E2-441A-BE3E-6EEB1999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In a pincushion or magnetic tray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A096FCEE-BBD8-47FD-A0B4-30FFAF78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Pins stay contained and countable - never in lips or clothes, and always counted back in at the end.</a:t>
            </a:r>
          </a:p>
        </p:txBody>
      </p:sp>
    </p:spTree>
    <p:extLst>
      <p:ext uri="{BB962C8B-B14F-4D97-AF65-F5344CB8AC3E}">
        <p14:creationId xmlns:p14="http://schemas.microsoft.com/office/powerpoint/2010/main" val="135229385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C812BACF-0155-4FFA-A755-FB711C98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EF8DBC57-940C-4928-9A03-7948A9F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18506F2-DFF2-48F9-B46A-B8211108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6992F96-9946-474E-84A2-92686A15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A3C0085-3E23-4924-A84B-BE349001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D3577E8-96CD-4A01-927B-EB17829B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BBFFE023-8227-4410-8002-32F2246B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AAC2F76B-BD9A-4225-82B1-22B77FF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8E7DFE6-626F-481D-B98E-29B2139C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20349F5-4FC7-4527-8C8A-D953816B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CB616EB-D8AC-4CC7-BEDA-8D901E4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7723CA3E-1532-4E31-899B-92A4B359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0035962-94A5-40D3-A559-178EC4A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2841DD5E-AA4A-4750-B5BF-689B2450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40ABBD12-8051-430A-B319-7CB09766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962C630D-D97F-4482-8183-502C5A8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0AAE84-E9FC-4F24-9CAC-95E6E08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0FEF63F-5064-401A-82F2-20BF2998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3F56D7C7-7F40-4511-A1A2-EB95D2A7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CCCC14A-69B6-4C16-80A0-982763D5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43B5FF6E-E1F7-4B3A-A0FD-AEB5D92D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431991E1-3A04-459D-B5DB-FFF18808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The blade guard on the miter saw is sticking and won’t drop back over the blade. What do you do?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4E1F6D79-6566-468F-8346-037A9A6F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1217F991-E225-46FF-A58D-60922984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729EBB31-0F5B-479F-BF61-3B7166EA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Use the saw carefully and keep your fingers 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Tape the guard out of the 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Stop, don’t use the saw, and report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Only make short cuts until it’s fixed</a:t>
            </a:r>
          </a:p>
        </p:txBody>
      </p:sp>
    </p:spTree>
    <p:extLst>
      <p:ext uri="{BB962C8B-B14F-4D97-AF65-F5344CB8AC3E}">
        <p14:creationId xmlns:p14="http://schemas.microsoft.com/office/powerpoint/2010/main" val="16356661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230E786A-993C-4625-908F-276F6822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7F1B8A63-DDF3-4793-B8D4-EDB426CE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400F4AD2-A73F-4452-8275-05A25876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FBB961AC-4886-414C-A42D-9F0DEB30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906CB75-3DB0-4361-8177-142D8F83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43DDF0B-B917-494A-91EF-39E1A98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75082FE8-8F24-42C0-B981-5F734C62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C0578396-78EA-4B86-B87C-DDB91D6F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BC1B21F2-00E4-4A99-919D-4F7F945F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12709622-5D03-437A-B0A3-5FBEDB52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79B89FF6-0A78-4637-B524-B17D539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6802579-3DE7-4F31-81B3-7DB6B78F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5AF8A3B1-152D-4C53-956E-C9246F5F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C5CA7FB-A347-4828-8C4A-80AFEFF2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EB7FC0BC-8AA8-400D-938A-315BF501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F1B90AE-A2D0-4AD3-99D6-8AE0D4C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FB1553B-6F66-40B4-AE81-C39F8E11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38EE2E-D5CA-4A50-93EC-901325DB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E988F2F1-1908-4A51-AFB3-361F7A2C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CDF7B838-7639-4A85-BE33-254C92BC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A31F8706-E050-43A5-A29D-1A0BE5A6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623D81B0-3D5E-4E2A-A18E-A6EE602F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9FBAC4CE-3D53-433C-A909-26733711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130D1EFB-83AE-4358-ADFE-15E06444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Stop, don’t use the saw, and report it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D12CEA46-E0C0-4112-9FDE-C17C5B5E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A tool with a faulty guard never gets used - it gets reported and taken out of service.</a:t>
            </a:r>
          </a:p>
        </p:txBody>
      </p:sp>
    </p:spTree>
    <p:extLst>
      <p:ext uri="{BB962C8B-B14F-4D97-AF65-F5344CB8AC3E}">
        <p14:creationId xmlns:p14="http://schemas.microsoft.com/office/powerpoint/2010/main" val="101827066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00DD00F7-08A0-4060-9113-FD96C896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0605774-E0C8-43B4-9E0E-92B9055D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49EEC103-C061-4072-A72B-17E24FE9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1E83847-531E-4D32-A16E-35B24C9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45D048C1-FC25-4730-AF29-7793D86F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55885A0A-DA04-4499-BB0D-55C9B562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D459F094-80F2-47FE-8969-51A14AFF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D80EB4EE-7840-4E9C-A11A-B1A3E918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4A5FB3C2-2C18-4DCA-8A8A-AF7C0113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FAB52CDF-1D6B-4625-B90A-1B04B33C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2D23851-1840-44B8-BF67-A48A56D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E9BF948-B4E9-49B5-AA76-77A57A90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378399EA-7E59-4203-A93D-07420EE5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AE9495D0-7E6C-4E92-96C7-5B1D0CD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6EC428FF-0E25-4152-BE7E-FBC37A7D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F645176-6F97-4D26-A8A1-0B058707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61FB6A3-BC20-4A9A-A522-D0AB782A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F2B232-2F44-47AB-AEE3-C0DC04E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DF71F75C-ED3D-48C4-A96F-9CBD65F2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2EE4A3E-4A1B-4FE4-9125-E99372B6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9BA07476-F6EF-47A6-8D61-14ED8FA4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Saws: Jigsaw, Miter, Panel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B3974373-A9FE-441F-90BF-703D1D64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need a jigsaw cut in a small block of wood. The block gets…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16F77391-16FC-491B-99C7-989FA8F3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D4074C8F-EC85-4A13-B50D-6064BFF8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A923F43C-93D5-473C-A8B9-FF00FDB2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Held firmly in your other hand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Clamped to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Braced against your leg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Held by a partner</a:t>
            </a:r>
          </a:p>
        </p:txBody>
      </p:sp>
    </p:spTree>
    <p:extLst>
      <p:ext uri="{BB962C8B-B14F-4D97-AF65-F5344CB8AC3E}">
        <p14:creationId xmlns:p14="http://schemas.microsoft.com/office/powerpoint/2010/main" val="76019307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2E7F2CAF-963B-4133-95F9-5D02552D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64D2DAD1-2CFD-4C0A-96CA-BF52D60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055D560-F8E0-43C4-994C-E097112A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E6496051-7162-4E55-A823-F82AE053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1060925-C9EF-4724-8D8F-58711080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EBC1C12-A368-4344-8386-B20C4AE0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86EBC9C-DD67-434A-B781-6DF20911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C9211BA-20E5-489C-B896-5602819F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CC52CB1-A778-4BC9-8217-107A622C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615C2E76-20EC-4C93-A28F-A6AD276A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2E1CD413-3E5E-4725-9C86-8F1D667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9D44740D-79A3-40A6-8FFB-73A0BE66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F2612114-D1B8-4C4F-934C-EF62BFC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2D54B7FD-BFDD-41B8-9367-94BEA9CD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34B22CE5-3CED-4C4A-B01B-D89B5074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98BA219F-B864-4129-B3AB-9F17DA4C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3684D09-1B28-422D-838B-606FEF08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C6519C7-48AA-4FBB-A81F-00677751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F753DEF5-63E9-44E5-A7AD-67209427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04EA576F-7F18-4FBC-BCF0-B0F7CC0F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9218AEB5-727D-4A88-AF8C-0ADA721F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Saws: Jigsaw, Miter, Panel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39226FDF-F985-4571-83EC-F10B22D7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91A839C0-F58A-43E2-A7AD-E82DC781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17B06376-D2B7-4A14-93DE-DEBA51FF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Clamped to the bench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9460BEB5-6274-4FB6-A2FA-B7F1A40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Small pieces walk with the blade - and fingers follow. Clamp anything small.</a:t>
            </a:r>
          </a:p>
        </p:txBody>
      </p:sp>
    </p:spTree>
    <p:extLst>
      <p:ext uri="{BB962C8B-B14F-4D97-AF65-F5344CB8AC3E}">
        <p14:creationId xmlns:p14="http://schemas.microsoft.com/office/powerpoint/2010/main" val="30685773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9E8552CF-B924-4775-86BF-B021E55F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84EF648B-7233-4063-AECF-0CA33A5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873A83B-AFD4-40C2-B630-4EF408B7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E2C4859-8F9D-4FFB-A8BB-4B9629B3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1D40E60C-469E-4274-85C1-EFA921B7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DEE778B-32F5-4E1D-B0AD-5A7123D4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E74DDBE5-4693-4796-B408-7C1A4A18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9B3DBB5C-4F45-46DD-8DE6-85C3AF77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9CA6E0A-3489-4789-B9A1-8D9CECEA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6242F31C-6F7F-43F9-8B00-0CB6FDDC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61DDDBAD-5950-43CE-81A0-D730A8AE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B490C51B-BEEB-48CC-8B0E-BE87B722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231CE20A-9878-4698-A06F-FF179768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DD946A7-0B4E-41BF-B022-4FDBA367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7CA23570-1BF5-423C-8E81-DF67E6F2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3C0EFEA-EC66-4821-8BFB-E340D259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A5E35D-6355-41FA-B29E-0CEEE3C6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7CA6661-A230-43B4-BD49-3985D056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E94D24E4-34B6-4F9E-A23D-798286E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3E50FA-D288-4BAC-A895-92582BF8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12D84AE8-C80B-4D84-A4F9-E39ACE4A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Drivers, Sanders &amp; Nailers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5D81EE27-3AE3-4976-83E6-57AD8596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1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You’re about to drive a nail about 2 inches from the hand bracing the stud. You…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6AB8E2E4-56AE-47E4-8B2B-9BA8B569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8D44A274-5050-4E49-AE01-4148AE60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BBCEDE0B-2AD4-40CE-ABEC-D13A1A7B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Fire - nails go straight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Use a shorter nail and fire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Move your hand a full hand-span clear 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Angle the nailer away from your hand slightly</a:t>
            </a:r>
          </a:p>
        </p:txBody>
      </p:sp>
    </p:spTree>
    <p:extLst>
      <p:ext uri="{BB962C8B-B14F-4D97-AF65-F5344CB8AC3E}">
        <p14:creationId xmlns:p14="http://schemas.microsoft.com/office/powerpoint/2010/main" val="37796181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7CB343CA-71A3-4252-BD21-25C7F53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CDED0037-61A9-4B05-B9BE-192F879A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1815C47-F7A6-4B24-B620-E371C5C8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1A58DDED-A329-4153-B24C-D88A2B13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428117B7-0B3E-4BDE-958F-E83C0E0B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C9A7A13-2D0A-42DF-A5ED-316551CF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B82E1DC4-6C4F-44CA-9024-446EDE5D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14BBC2C-1FB7-4E21-84EC-ADC6932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3F70FC2-39C6-47C4-920D-08A2ACA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10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D767B18C-4D54-4C6B-88FC-CA5751AC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416AF50-A8CE-4977-AA20-32A58267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2190B4F8-A753-48DE-8EE8-434D01B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C624A42C-A547-47AA-8435-C9B259F6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E1BEC91-80C8-4DBC-A2CF-CF4A4B7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27AAD735-D7B0-45B5-A4E7-65EAB443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BFD80A2E-DA58-496C-885E-2A30B2A1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9CBBC90-00AD-4A0E-BEEE-1EA50261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10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D21D20A-C50A-4FC5-86D5-C25E6A40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AEE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EEF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DF48CD7D-8EE8-470F-A653-5ECFA69A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92CB0C41-F618-4F5B-96C9-CB7B52BC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2C207133-0C81-4CBB-99CB-CA941F60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Drivers, Sanders &amp; Nailers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F58B8B8C-287B-435E-B159-87373B59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9B49334A-2738-47E8-BDF1-54DEF84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82A5BB12-AB0E-46F4-BA59-64ABF0DE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Move your hand a full hand-span clear first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8D963A09-83F2-41BA-ACDC-9D7A1CAC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Nails deflect along grain and off knots and can exit the wood sideways - clear the fire line before you shoot.</a:t>
            </a:r>
          </a:p>
        </p:txBody>
      </p:sp>
    </p:spTree>
    <p:extLst>
      <p:ext uri="{BB962C8B-B14F-4D97-AF65-F5344CB8AC3E}">
        <p14:creationId xmlns:p14="http://schemas.microsoft.com/office/powerpoint/2010/main" val="136466730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inbow-1">
            <a:extLst xmlns:a="http://schemas.openxmlformats.org/drawingml/2006/main">
              <a:ext uri="{FF2B5EF4-FFF2-40B4-BE49-F238E27FC236}">
                <a16:creationId xmlns:a16="http://schemas.microsoft.com/office/drawing/2014/main" id="{36600A39-0C35-40BF-98BF-604BDD04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6F0B71C7-A497-447F-A580-584B1757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8CA27D9-F2AC-4398-B0C5-32FFF0F0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A4CBD44-6AF4-4987-AE92-2BD9A44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4B5D6B07-9631-480E-AEBB-4D505CEA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5DE34C0B-532D-41AB-945A-92B6FAC8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3925FE6-01D7-479E-B5C4-005E863B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ade-eyebrow">
            <a:extLst xmlns:a="http://schemas.openxmlformats.org/drawingml/2006/main">
              <a:ext uri="{FF2B5EF4-FFF2-40B4-BE49-F238E27FC236}">
                <a16:creationId xmlns:a16="http://schemas.microsoft.com/office/drawing/2014/main" id="{8D2DFE07-5AFE-4BC7-B933-3246E807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THEATRE SAFETY CERTIFICATION</a:t>
            </a:r>
          </a:p>
        </p:txBody>
      </p:sp>
      <p:sp>
        <p:nvSpPr>
          <p:cNvPr id="9" name="grade-title">
            <a:extLst xmlns:a="http://schemas.openxmlformats.org/drawingml/2006/main">
              <a:ext uri="{FF2B5EF4-FFF2-40B4-BE49-F238E27FC236}">
                <a16:creationId xmlns:a16="http://schemas.microsoft.com/office/drawing/2014/main" id="{4699222B-A062-4F12-BB76-0AFED3C8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GRADE 9</a:t>
            </a:r>
          </a:p>
        </p:txBody>
      </p:sp>
      <p:sp>
        <p:nvSpPr>
          <p:cNvPr id="10" name="grade-claim">
            <a:extLst xmlns:a="http://schemas.openxmlformats.org/drawingml/2006/main">
              <a:ext uri="{FF2B5EF4-FFF2-40B4-BE49-F238E27FC236}">
                <a16:creationId xmlns:a16="http://schemas.microsoft.com/office/drawing/2014/main" id="{6B44A6B6-6796-48D0-8EBE-66808AFB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General supervision demands accurate setup and active problem reporting.</a:t>
            </a:r>
          </a:p>
        </p:txBody>
      </p:sp>
      <p:sp>
        <p:nvSpPr>
          <p:cNvPr id="11" name="grade-stats">
            <a:extLst xmlns:a="http://schemas.openxmlformats.org/drawingml/2006/main">
              <a:ext uri="{FF2B5EF4-FFF2-40B4-BE49-F238E27FC236}">
                <a16:creationId xmlns:a16="http://schemas.microsoft.com/office/drawing/2014/main" id="{DA7AFFB4-8CCA-4E4C-8439-04A0D75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ADB4"/>
                </a:solidFill>
                <a:latin typeface="Arial"/>
                <a:ea typeface="Arial"/>
                <a:cs typeface="Arial"/>
              </a:rPr>
              <a:t>10 MODULES  ·  77 TRAINING SECTIONS  ·  12 CLASSROOM CHECKS</a:t>
            </a:r>
          </a:p>
        </p:txBody>
      </p:sp>
      <p:sp>
        <p:nvSpPr>
          <p:cNvPr id="12" name="grade-accent">
            <a:extLst xmlns:a="http://schemas.openxmlformats.org/drawingml/2006/main">
              <a:ext uri="{FF2B5EF4-FFF2-40B4-BE49-F238E27FC236}">
                <a16:creationId xmlns:a16="http://schemas.microsoft.com/office/drawing/2014/main" id="{541C6F67-E9B6-4DF2-BE62-E7C394B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06680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1">
            <a:extLst xmlns:a="http://schemas.openxmlformats.org/drawingml/2006/main">
              <a:ext uri="{FF2B5EF4-FFF2-40B4-BE49-F238E27FC236}">
                <a16:creationId xmlns:a16="http://schemas.microsoft.com/office/drawing/2014/main" id="{83799E1D-BDD1-42BE-9CDB-8884756C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2">
            <a:extLst xmlns:a="http://schemas.openxmlformats.org/drawingml/2006/main">
              <a:ext uri="{FF2B5EF4-FFF2-40B4-BE49-F238E27FC236}">
                <a16:creationId xmlns:a16="http://schemas.microsoft.com/office/drawing/2014/main" id="{7092A330-A844-4354-BAAF-C09DA73A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3">
            <a:extLst xmlns:a="http://schemas.openxmlformats.org/drawingml/2006/main">
              <a:ext uri="{FF2B5EF4-FFF2-40B4-BE49-F238E27FC236}">
                <a16:creationId xmlns:a16="http://schemas.microsoft.com/office/drawing/2014/main" id="{2171715C-5867-4CA2-AD63-EF2D2962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4">
            <a:extLst xmlns:a="http://schemas.openxmlformats.org/drawingml/2006/main">
              <a:ext uri="{FF2B5EF4-FFF2-40B4-BE49-F238E27FC236}">
                <a16:creationId xmlns:a16="http://schemas.microsoft.com/office/drawing/2014/main" id="{C49820AA-2696-46F4-8F67-B2C1D6CB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inbow-5">
            <a:extLst xmlns:a="http://schemas.openxmlformats.org/drawingml/2006/main">
              <a:ext uri="{FF2B5EF4-FFF2-40B4-BE49-F238E27FC236}">
                <a16:creationId xmlns:a16="http://schemas.microsoft.com/office/drawing/2014/main" id="{FEAF15B3-8D55-4AD3-8820-002AB4E4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inbow-6">
            <a:extLst xmlns:a="http://schemas.openxmlformats.org/drawingml/2006/main">
              <a:ext uri="{FF2B5EF4-FFF2-40B4-BE49-F238E27FC236}">
                <a16:creationId xmlns:a16="http://schemas.microsoft.com/office/drawing/2014/main" id="{0C3EB81D-BFB3-4212-B111-4B1AEBA5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inbow-7">
            <a:extLst xmlns:a="http://schemas.openxmlformats.org/drawingml/2006/main">
              <a:ext uri="{FF2B5EF4-FFF2-40B4-BE49-F238E27FC236}">
                <a16:creationId xmlns:a16="http://schemas.microsoft.com/office/drawing/2014/main" id="{74531808-2EFD-448F-A454-494B0D8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8E264C5-7FAA-4A84-9AF5-E10DF9A4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750F902-FF7C-4AF1-A36B-660DBE93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34131892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50F314E1-905B-4A0D-8788-C4F57179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6DFB6FA4-DE49-4FC9-ADE5-4DE9914C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C0ABF3E3-802A-4DE1-B1F3-0663FD5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E073A151-1F9E-4590-81C1-E48BD9DD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E6B2F3DB-BC2F-4045-93CB-8BAF1107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C69613E-E395-4162-AFFC-BE23AFFF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E1C5F706-ADED-4856-9952-BAA300B5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B6D1BBE-0A02-45D0-AA18-4E3D2020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9130899B-FAFA-44E6-A751-406225B4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195CAE53-ABA0-43E7-B994-1D11448B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DA1D298-F950-4D48-B7F2-8566E42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74082BB9-38A2-4B0E-A0F0-758D5A1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807DB973-80FD-473E-B3AB-2B3CAAB5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CA1629E-AAA4-487A-8E85-12E56B34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9712ACB-0E9D-4389-9646-3A655299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59E842EE-70FB-4B01-823E-BCD1D024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C4EAD4-C201-45C2-B9F9-64A79956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01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7907F8-4FB6-42CB-B7D1-EF7F84B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7C65896C-A81F-4C6C-9F5C-428736D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01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C9B52BC6-0BE3-4CFA-941F-11BE0E61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7FF22CCD-7012-4B82-81F8-9E9032D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Dress code, hazards, PPE, lifting, housekeeping, emergencies, and safety culture.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5875CC5F-DAE7-40FA-9E3B-D6DD09A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BAE2D533-02F7-44D4-9C5F-D12D8C31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46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Welcome to certification week: </a:t>
            </a:r>
            <a:r>
              <a:rPr sz="1725">
                <a:solidFill>
                  <a:srgbClr val="A9ADB4"/>
                </a:solidFill>
              </a:rPr>
              <a:t>This week you earn your shop certification - proof that you know every rule and every tool you’re responsible for at your grade level, including…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Dress for the shop: </a:t>
            </a:r>
            <a:r>
              <a:rPr sz="1725">
                <a:solidFill>
                  <a:srgbClr val="A9ADB4"/>
                </a:solidFill>
              </a:rPr>
              <a:t>Shop safety starts before you touch a tool - with what you’re wearing: Closed-toe shoes, every shop day.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Lifting &amp; carrying: </a:t>
            </a:r>
            <a:r>
              <a:rPr sz="1725">
                <a:solidFill>
                  <a:srgbClr val="A9ADB4"/>
                </a:solidFill>
              </a:rPr>
              <a:t>More shop injuries come from carrying than from cutting: Lift with your legs - squat, keep your back near-vertical, hug the load close, stand.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PPE without reminders: </a:t>
            </a:r>
            <a:r>
              <a:rPr sz="1725">
                <a:solidFill>
                  <a:srgbClr val="A9ADB4"/>
                </a:solidFill>
              </a:rPr>
              <a:t>You’ve been introduced to PPE - now the bar is higher: select and wear the correct PPE for the task without being reminded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Chemicals, SDS &amp; the eyewash station: </a:t>
            </a:r>
            <a:r>
              <a:rPr sz="1725">
                <a:solidFill>
                  <a:srgbClr val="A9ADB4"/>
                </a:solidFill>
              </a:rPr>
              <a:t>Paint, adhesives, solvents, and fog fluid are chemicals - and every chemical in the shop has a Safety Data Sheet (SDS) : The SDS binder lists each…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09BA09DA-C60E-4BA3-8814-547CDE78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12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45512295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ainbow-1">
            <a:extLst xmlns:a="http://schemas.openxmlformats.org/drawingml/2006/main">
              <a:ext uri="{FF2B5EF4-FFF2-40B4-BE49-F238E27FC236}">
                <a16:creationId xmlns:a16="http://schemas.microsoft.com/office/drawing/2014/main" id="{045A6E02-6047-4900-A763-482AE3FA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EF6903FC-737F-483A-A86B-B02FEF7B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BAC0F70A-901B-4DD0-8CB1-8B72E9B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32286D1-B5E9-46BC-BC18-DB291679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7EC0828-1EE6-4389-922C-D38186FD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95443CB-D84B-4425-B7D4-CA3D999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44D9CC99-ED9F-40E1-BF13-B9A5966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3E4618A-E420-4D06-AB43-39DAE327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8AE5BE8-7A00-49BB-90DD-80B7BF0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4B896BAA-5A51-41E3-A519-A0D49B26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22FCB5D-6541-421E-9A02-E6B9012E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7407AB16-4FAF-483F-93B9-806E62B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61CB109-91EC-4E3D-9C2D-9D13138A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734874B3-159C-471C-8526-EB1480F1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E4A57351-63AE-4BC6-81EE-E601599F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3D5A864-2AE9-4D7E-A406-8EFFCDED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9A7D48-64CC-4021-86EA-4087D846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7C4DAB-19D9-4F42-BCDA-2B458177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67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0504E6EA-BE02-439B-B490-676E49F1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7C9279B-4A33-430E-BA00-84939AD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the hazards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0931ADBD-0AA2-4A6B-B477-DA2DB371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CB765CC5-3DBD-4A00-BD14-16E7A483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Time to use that skill. Look around this shop and tap everything that’s a hazard - there are 5 .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88105C8-7C19-4B89-85FB-A41675E7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3AA2E6DB-B348-4622-9646-EDA6C390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Which items are hazards?</a:t>
            </a:r>
          </a:p>
        </p:txBody>
      </p:sp>
      <p:sp>
        <p:nvSpPr>
          <p:cNvPr id="25" name="question-items-1">
            <a:extLst xmlns:a="http://schemas.openxmlformats.org/drawingml/2006/main">
              <a:ext uri="{FF2B5EF4-FFF2-40B4-BE49-F238E27FC236}">
                <a16:creationId xmlns:a16="http://schemas.microsoft.com/office/drawing/2014/main" id="{7F5D853F-B6C2-4ED2-B662-BD2A2632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Extension cord run across the walkway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Hand saw left blade-up on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Boxes stacked in front of the exit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Open drink next to the work area</a:t>
            </a:r>
          </a:p>
        </p:txBody>
      </p:sp>
      <p:sp>
        <p:nvSpPr>
          <p:cNvPr id="26" name="question-items-2">
            <a:extLst xmlns:a="http://schemas.openxmlformats.org/drawingml/2006/main">
              <a:ext uri="{FF2B5EF4-FFF2-40B4-BE49-F238E27FC236}">
                <a16:creationId xmlns:a16="http://schemas.microsoft.com/office/drawing/2014/main" id="{59E646CE-BCA5-4688-93DE-63BB7258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Board with a nail sticking 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Safety glasses on the PPE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Fire extinguisher on its wall hook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Swept floor, broom racked</a:t>
            </a:r>
          </a:p>
        </p:txBody>
      </p:sp>
    </p:spTree>
    <p:extLst>
      <p:ext uri="{BB962C8B-B14F-4D97-AF65-F5344CB8AC3E}">
        <p14:creationId xmlns:p14="http://schemas.microsoft.com/office/powerpoint/2010/main" val="17895980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632B87A1-3886-47D3-80BB-6B6735D5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06D5A637-20EB-488D-B8F2-AD6DFE6C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727FF86-F771-40B1-B893-C1CF377F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05291CC3-3D84-4EAD-9F7D-668B94C9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F13E4980-3120-4681-A512-6EFAEA92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5FBBFBA3-E230-4ED6-B13C-752CBC98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CA6DF48-A5B0-4834-833E-B69E8A7F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A0A0BB0-9FAC-4167-90E6-19B812B4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76DAAFF-CC60-4C05-AF56-29FE1CD5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1B82DA6-2F63-499E-8FC8-EF6AE6FB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BDCED283-1D93-48C4-A446-A3CD61D8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C804AFDF-C285-4638-BF2A-C23B83E2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C012A6FE-B615-418D-94A9-47881D9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32D105A-8041-49DD-AE95-8969DD98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7D96F24-E3CF-4024-9501-948E695D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5510DC99-8670-4A95-8863-D74826D0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2974945-929D-4B1E-A66C-CC00EB79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5299551-37E0-4E20-9A0D-02D5517B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68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7D52660D-FF07-4C4C-8709-4EDE408B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1DEF8495-67C1-448E-A90C-77C20875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the hazards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943A574F-3F03-4EA3-8F1E-5DB52380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092AFF96-88F3-4242-8869-5DF0FB5D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A380AAD8-F1E7-4544-8360-7BC64199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HAZARDS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5139D3CF-4E0F-4EED-8B11-43015615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Extension cord run across the walkway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Hand saw left blade-up on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Boxes stacked in front of the exit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Open drink next to the work area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Board with a nail sticking out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83AAC643-ED5F-4D11-9BB9-B0A12DBF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F63B0F13-2249-41E8-96ED-0D88D19A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SAFE / CORRECT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6B442C5C-5DAC-44EC-B4AF-1D79C470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Safety glasses on the PPE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Fire extinguisher on its wall hook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Swept floor, broom racked</a:t>
            </a:r>
          </a:p>
        </p:txBody>
      </p:sp>
    </p:spTree>
    <p:extLst>
      <p:ext uri="{BB962C8B-B14F-4D97-AF65-F5344CB8AC3E}">
        <p14:creationId xmlns:p14="http://schemas.microsoft.com/office/powerpoint/2010/main" val="169591933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ECFB1BA1-D0B0-4882-B9CE-CC137603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989233E5-6F18-4654-B970-4968C972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F396AEEC-9DD6-4C39-B821-70359D3B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E41FDDFE-8C1D-488F-83F1-1AF1DAA3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C6D1AD2-CFBA-4950-AA04-568C0EA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999062A-D5C7-4C24-A3B6-15451464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8F3E8199-16FC-402C-9281-EFD8686B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24740D62-203E-4136-A87F-354B0EF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FA0BC120-8200-4A5A-9D13-83B5108D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3924D673-A499-485C-A2BA-1ADB22C6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DC58A34-DEFF-4D1D-AEB8-6E82F1C7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52F7D01A-03C9-417A-8622-27C7A1EA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B24826CF-9C2A-4499-A675-461F1AC9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512E2A58-08A2-4810-947D-414C2D35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87135C3C-962B-4A15-8391-27B19CF1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90BC03BD-3DEF-4D9F-A475-368E609D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0F1F36B-B4D7-4D50-B3E0-3E0DC3E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02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73B5C5F-ED63-440A-B950-AF43EE6D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69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B5108B95-0063-46C1-BFE5-4285D68D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02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B7CFDC01-1276-4681-AD5F-9C9EDC0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EFD0F418-983C-4114-A2CE-94A4B01C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Alarms, exits, extinguisher classes, reporting a fire, and flammable storage.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78E9A7B5-9FAB-4042-904F-416A74BF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B4128704-A3D8-43DA-B823-EC73387F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Alarms, drills &amp; exits: </a:t>
            </a:r>
            <a:r>
              <a:rPr sz="1725">
                <a:solidFill>
                  <a:srgbClr val="A9ADB4"/>
                </a:solidFill>
              </a:rPr>
              <a:t>Fire safety starts before there’s ever a fire: Know the fire bell/alarm and the fire-drill procedure for the shop and the theatre.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Reporting a fire: </a:t>
            </a:r>
            <a:r>
              <a:rPr sz="1725">
                <a:solidFill>
                  <a:srgbClr val="A9ADB4"/>
                </a:solidFill>
              </a:rPr>
              <a:t>If you discover a fire: Immediately notify the closest adult with the exact location and the nature of the fire (what’s burning).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Fire classes &amp; extinguishers: </a:t>
            </a:r>
            <a:r>
              <a:rPr sz="1725">
                <a:solidFill>
                  <a:srgbClr val="A9ADB4"/>
                </a:solidFill>
              </a:rPr>
              <a:t>Extinguishers match the fire - the wrong one can make it worse: Class A - wood, paper, cloth.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Flammables, rags &amp; finishes: </a:t>
            </a:r>
            <a:r>
              <a:rPr sz="1725">
                <a:solidFill>
                  <a:srgbClr val="A9ADB4"/>
                </a:solidFill>
              </a:rPr>
              <a:t>The scene shop makes its own fire hazards: Rags soaked with finish, stain, or solvent go in a covered metal container - oily rags in a pile can…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2311D2DC-009F-4415-85A3-A6C8A290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6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59851330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E751D953-0660-47CD-8BD2-199AB356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A47E558-3124-4995-8801-559ACBFA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4DD3D254-0034-4B74-B3C1-70755477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6A597522-40EF-4E10-9392-A724360D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31965B9-8122-42F6-B101-2DEA1405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5D41DE7D-940D-4358-A711-44CE2443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3068DE70-C48C-4172-8C83-07D6DD37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0D53BB35-2FA2-46E9-B5FC-09079F7B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DDF253F6-C7CE-40CD-A0D3-C6B1C29D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FF51E602-685E-4F56-9EA4-635EFFE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7D64D9D-254B-4F29-9FFE-3B3CDA8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05086295-E957-401A-A60E-136CC76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6D336C8-F8FA-46BF-BF96-F0BA7D2D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7F2D51A7-01C8-4FB7-AFF2-8782606A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ABD109E2-2772-4740-B3A2-2675610C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9338A59-E13A-4D00-BE32-0FFD45A8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94917B9-80EE-4501-A2D0-4949AC5E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5553FDA-2279-40F4-92DF-101C0D11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CCB83707-D9F5-4312-A1D7-CB8BF545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FB5ACE9-E6B8-4409-BDB2-94E7A447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Pick the extinguisher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77076B0A-EE58-477D-B8C9-4C3FF962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4277BC06-5FE3-474D-99AF-67E46F50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Match the fire to the response: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293F55AA-CE03-43DB-95AF-021EFBB4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ACBA99E8-F0B7-4D51-B89E-96194CC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Sort each item into:  Water works (Class A)  /   CO₂ / dry powder only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FFEB4A27-D411-4873-8710-96BECEA7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Scrap lumber and paper burning in the bin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 dimmer rack sparking and smoking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Spilled paint thinner catches fire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Muslin scraps smoldering in the paint corner</a:t>
            </a:r>
          </a:p>
        </p:txBody>
      </p:sp>
    </p:spTree>
    <p:extLst>
      <p:ext uri="{BB962C8B-B14F-4D97-AF65-F5344CB8AC3E}">
        <p14:creationId xmlns:p14="http://schemas.microsoft.com/office/powerpoint/2010/main" val="153288172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2FCDE867-9268-49CF-B9F5-5B21E727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792274C-9F11-4A2A-8797-E0E03FC9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48BFE4F-637B-4DE6-AC5C-E2605FC0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F8E4CFA6-84D6-4E79-99FD-39FADFF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1CA80B9-933E-40CF-8874-2C229B7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75807B8-1BFA-41CA-8FB5-B258FE14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6C9271AB-44E7-4138-9312-12E2DF6E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D7CB7468-0202-4024-8D3D-FD4FEE8B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78400367-4638-47FB-BFA1-1D0FA3E4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A59E88E0-591E-40F2-9F30-844DDEF4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BD12E6B3-BFAC-4935-95EC-8A95F92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44DC15A-07A9-4E4C-9DB7-A0E5576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B3ADB0B-642F-4238-AE98-C01EF180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AC922CA5-0C9F-42B7-8F73-68FC5AC9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D96796A0-7666-4BC9-82EF-8FA837BC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18131997-9397-4F73-BAE8-CBE578FF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D01169B-09FE-49E8-B1C5-DCD26C65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E2A5422-B381-4457-9C90-BDB6840A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71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57B1E195-8588-4529-BDDA-6FD337B2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7F2E1E4C-74ED-456C-B091-818255E1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Pick the extinguisher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9F35D02A-D530-4485-8FB0-BECA17E4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0D1BA158-CD73-43AA-9D28-529EE949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5BDBEE82-B789-4DF4-9694-E1BC3A88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Water works (Class A)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214D9CCE-ED02-4A8D-B65F-F9D3C37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Scrap lumber and paper burning in the bin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Muslin scraps smoldering in the paint corner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E5B28EA6-97BA-46AE-B6B4-86E57460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34598DF6-BB30-4435-9D1E-38D54F83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CO₂ / dry powder only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4AEA9591-14A1-4AC6-888E-49582D5D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A dimmer rack sparking and smoking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Spilled paint thinner catches fire</a:t>
            </a:r>
          </a:p>
        </p:txBody>
      </p:sp>
    </p:spTree>
    <p:extLst>
      <p:ext uri="{BB962C8B-B14F-4D97-AF65-F5344CB8AC3E}">
        <p14:creationId xmlns:p14="http://schemas.microsoft.com/office/powerpoint/2010/main" val="34227144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71E75129-DF51-4C9A-AE6F-1603F080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637C51E-EAEF-4C3E-9CB1-2B2A7FBD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FF8522A9-A009-40C2-9ECC-BC8DF97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91CF7E8-B461-40F6-92E4-A12B97B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FE8C3BF6-1116-442A-93AD-9488B31E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B590A555-8D38-424D-9F89-12851054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A9E59F34-653C-449D-98A1-430B46BB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96F41213-7EDA-481C-A7A3-ED72CFA7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4BEA1ED1-420D-44E4-81A1-7F0387FD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96A806EF-4EA6-44CB-8EB0-E851D048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5DA0CB09-2FD6-4F43-83AC-6A621504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5ADE0956-22F0-4376-8BED-4E67D635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C35D469-9682-4A85-88B7-A1406D4A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B47EF7BA-7088-4BD8-9DEC-2ACBA3A1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E4C3E766-78DD-44C5-B255-A57E2CF8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33EECE8-E737-4B38-A145-215F3F19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930BDB9-A9E6-4118-9E2B-BA7204C2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03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DFE35BF-BD45-4354-95E4-DC73AC63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470A9EA9-8C3C-42EA-BAED-C3225BA2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03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2DFCCEF0-2347-4DD6-A045-C707F667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994859E9-A2E9-4357-9024-ECB35C4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What’s new for you this year - and everything you carry forward.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D1FD9792-EC02-4D8A-93F7-74E29616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E2ED2D42-80CF-464E-BB5F-8C82D722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Grade 9 - Tech 1-2: </a:t>
            </a:r>
            <a:r>
              <a:rPr sz="1725">
                <a:solidFill>
                  <a:srgbClr val="A9ADB4"/>
                </a:solidFill>
              </a:rPr>
              <a:t>You now use the full hand-tool set , and your power tools move to general supervision : Power &amp; pneumatic - jigsaw, compound miter saw, panel saw, impact…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363E7437-FDF8-4BA2-9651-108074BB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2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67636719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ainbow-1">
            <a:extLst xmlns:a="http://schemas.openxmlformats.org/drawingml/2006/main">
              <a:ext uri="{FF2B5EF4-FFF2-40B4-BE49-F238E27FC236}">
                <a16:creationId xmlns:a16="http://schemas.microsoft.com/office/drawing/2014/main" id="{771776A2-120E-4AB7-AEEB-5E5EF99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3E19737-6EC6-4DA1-9D03-BC18F89B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881FA1B-3141-4642-958B-8E96EF4A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B53A3CB6-E6BD-47A8-AD6C-26151E0C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C83CA2C-48F2-4C5F-AA7F-F9D62604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87481EEB-9093-43D3-AE50-09388A38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45655A1-D384-4F64-975C-25FF04CE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877B158-51EA-4EA0-AE9B-4B6AD164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B25694AE-A71A-4FF1-96B3-A1C4874E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B2CDA254-DB2E-4750-894C-8AE2850D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27481A7-7608-4E45-A3D6-006B0435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CF87AFC-3E57-4AB6-89B2-7FC241DF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8974E04-D5A4-418A-8A04-228E6E3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E414259-143A-4CEE-8CC4-6158AA2D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F9D27748-17E8-48D5-AFA3-E4B37F5A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EBB7469-ECF0-42A8-BBE8-3BCD68A3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F7A3C3-7039-491F-95A8-CD855CE7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7C57C8-B208-4B64-B5E4-F6C5BD0B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73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1F45A081-D987-4099-824E-7586087F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14D6CF9-7EB0-41F9-85B8-007320CF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Cleared for you - or not yet?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C527E61C-D511-4450-86C5-4EC8C5C9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4D43FCCC-DB56-43A6-986B-6EAEB30F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Which of these are you cleared to use at your grade level (after passing each tool’s safety orientation)?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9145F688-3E92-41A6-A429-F6EE779A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D6629ACE-69EF-4390-9FED-49CF2CE6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Sort each item into:  Cleared for me  /   Not yet</a:t>
            </a:r>
          </a:p>
        </p:txBody>
      </p:sp>
      <p:sp>
        <p:nvSpPr>
          <p:cNvPr id="25" name="question-items-1">
            <a:extLst xmlns:a="http://schemas.openxmlformats.org/drawingml/2006/main">
              <a:ext uri="{FF2B5EF4-FFF2-40B4-BE49-F238E27FC236}">
                <a16:creationId xmlns:a16="http://schemas.microsoft.com/office/drawing/2014/main" id="{0B944FF3-CFE8-4466-97F0-BADBC2BA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Compound miter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Random orbital sander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Framing nailer</a:t>
            </a:r>
          </a:p>
        </p:txBody>
      </p:sp>
      <p:sp>
        <p:nvSpPr>
          <p:cNvPr id="26" name="question-items-2">
            <a:extLst xmlns:a="http://schemas.openxmlformats.org/drawingml/2006/main">
              <a:ext uri="{FF2B5EF4-FFF2-40B4-BE49-F238E27FC236}">
                <a16:creationId xmlns:a16="http://schemas.microsoft.com/office/drawing/2014/main" id="{75DE3717-AA8D-44B9-9C9A-3E9B4044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Table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Band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Palm router</a:t>
            </a:r>
          </a:p>
        </p:txBody>
      </p:sp>
    </p:spTree>
    <p:extLst>
      <p:ext uri="{BB962C8B-B14F-4D97-AF65-F5344CB8AC3E}">
        <p14:creationId xmlns:p14="http://schemas.microsoft.com/office/powerpoint/2010/main" val="115606691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88505A72-BDA9-4856-AE74-15AE6F8F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05E3B94-86A0-434A-A347-06B4367A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B19067C-45A1-4042-9E1C-F2EE8C9F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53743912-3023-4A8F-8D08-0AAF92D2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E780A4F-DFCE-4495-9765-7F25E68D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0DDA54BE-BAB2-4A38-A8C4-B2579079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A9D3B5A-69EB-408D-92DC-88538C2D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7032ED8-ADE9-4254-AB2B-2F88065A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008EC92-018F-48D3-A1CD-6FB823AB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96AF9AA4-6BFE-4A35-8C0A-641F4941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BC43229D-EF9C-4CF8-9B9D-17177A01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B1E6CB0-3FB3-4389-B4DA-8BE8005A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21E6882E-4C68-4EB2-A49D-768015EC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BF79270-347E-4FEC-BC3E-C014D3E6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5956DD4E-4C16-4AB3-8996-DBAF0408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4C0670D-1CE0-4A4C-8B38-348CFC0F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B4E608-3F44-4B80-984E-40797C59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D8E1FD-D713-4F8C-BDED-91CCEDB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74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65FC4A80-A81E-4499-BD07-37E6AE1B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0CB41BBF-276A-49DD-8154-4EB03B3E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Cleared for you - or not yet?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38DFA7B7-179C-497B-B721-0B6BFC5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C20E4F24-151F-465C-9C21-8F6DD45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AF7A037E-F85B-41A8-B483-76402F87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Cleared for me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F1BD646F-C901-4CB8-B819-31034EB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Compound miter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Random orbital sander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Framing nailer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6787E128-34D6-4DC1-853C-CEE4C43B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B85CE6F7-3855-4925-BDA7-10CEF412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Not yet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71C822EB-53BB-4073-894B-FD142D10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Table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Band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Palm router</a:t>
            </a:r>
          </a:p>
        </p:txBody>
      </p:sp>
    </p:spTree>
    <p:extLst>
      <p:ext uri="{BB962C8B-B14F-4D97-AF65-F5344CB8AC3E}">
        <p14:creationId xmlns:p14="http://schemas.microsoft.com/office/powerpoint/2010/main" val="1744363393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4F98DB82-C57E-4EA8-A255-0F44B2AB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6C9D320-D938-4BEB-8C3C-C83639C4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87FC151F-3244-48DE-9671-96ADDEF0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74064B1-9F46-47F6-82B1-08EABE04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D1811301-E81E-4795-80EF-1EB451DB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44D9151-E223-4EBE-B723-7B740130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002A54E9-2AB7-4CBF-A2CA-2D771359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DA41C32D-8AEF-4688-AAB2-C6C95783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67A98E0-3BEF-47B3-9185-B1518F59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7533CA10-9D3D-48C3-ACCE-38F8587E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5FF595C8-ADA7-46DE-B9C8-8BB89D71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E97950C0-2A62-4F16-B4AE-FE98C116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EBEC4A54-F398-4073-9B21-0AF59815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29D272FF-1FB4-4F3C-BF08-8FDA6981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0806BEDE-4A65-45A4-A221-76361607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390E2E3-AEF2-4F19-8FD7-934A2873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EABA10D-80E9-460F-9711-3473834F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04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918D9C9-2722-4CD2-B223-BD85FCAF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B10E1475-9186-4461-9722-51C549EF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04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3EC01452-6BD8-4C0F-B553-4704053A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D189CB75-83F4-40DA-A346-D77498B5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Tape measure, utility knife, squares, hammer, screwdrivers, hand saw - the tools everything else is built on.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075BFAF9-0004-432A-9C3F-F85060E9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D937177B-CD00-4EB3-8D1D-FFC45712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Measuring &amp; layout tools: </a:t>
            </a:r>
            <a:r>
              <a:rPr sz="1725">
                <a:solidFill>
                  <a:srgbClr val="A9ADB4"/>
                </a:solidFill>
              </a:rPr>
              <a:t>Even “safe” tools have rules: Tape measure - control the blade on the way back in; a spring-loaded steel edge returning at full speed can cut.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Utility knife: </a:t>
            </a:r>
            <a:r>
              <a:rPr sz="1725">
                <a:solidFill>
                  <a:srgbClr val="A9ADB4"/>
                </a:solidFill>
              </a:rPr>
              <a:t>The tool you’ll use most, and the one that sends the most people to the first-aid kit: • A sharp blade is safer than a dull one - it needs less force, so…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Hammer, screwdrivers &amp; hand saw: </a:t>
            </a:r>
            <a:r>
              <a:rPr sz="1725">
                <a:solidFill>
                  <a:srgbClr val="A9ADB4"/>
                </a:solidFill>
              </a:rPr>
              <a:t>Hammer - check the head is tight before swinging; clear your swing arc (people and your other hand); start nails with a light tap, fingers gone before…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Squares &amp; layout at the bench: </a:t>
            </a:r>
            <a:r>
              <a:rPr sz="1725">
                <a:solidFill>
                  <a:srgbClr val="A9ADB4"/>
                </a:solidFill>
              </a:rPr>
              <a:t>Layout tools earn their keep in Stagecraft: Speed square - your crosscut guide: hold it firm with your thumb up on its face, and run the saw along the…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CCF6DD4E-9957-474B-BDBB-7B624AAD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7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02597125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0598D7C9-A8A8-4BC2-8D5A-8C149380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02BCE3BB-2C6F-4910-8254-7D34D9E8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8CD7FD8-E0F3-4C87-9A91-7B48C0F7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FEDA4330-21F4-4A19-8B38-5AC093CC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4776542E-C9EB-4AA1-B897-46A469B7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840A6AF-32A8-437C-8430-758387F8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4AE01DE6-523C-4FCD-8AD4-760BC5ED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60AEEF1A-A64C-45C8-940F-097BD64A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F7F20F38-F691-4E87-A1DB-2808390C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DD2024EC-81ED-4C2C-A213-042B531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B4AB3DF6-6159-40F8-9E48-B94DD939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78FCAF4-2239-475E-B98B-BEA6627B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21E1F373-197D-4A25-815E-505B5E83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E3FFF64C-2958-4B79-A096-DCE8587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DEDE9541-93DA-4C83-990E-2703F5C7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297C7E24-69EE-4FD0-B8AB-31F6B2D5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DF80FC-437D-4921-B23D-620092C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7D007E4-B264-4D32-BDB8-7C85B7D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76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D8C63F4C-9DCA-4755-80A2-7C3F2A7F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98163A5-DD7D-458D-A9F7-708FCB3C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Change a utility-knife blade - in order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A93DF542-45E5-41F5-9518-D68AF1CD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E42BF58C-0724-4571-8DBD-731441F3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Put a safe blade change in order. Tap the first step, then the next…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9CFCFB4E-AAD8-420B-905B-274D703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0ED2ADB1-E96D-4114-808E-D0D675FD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Put the steps in the safest order.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B23E9D7E-99BF-4A40-98B1-22883DA6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12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Test the slider and lock before cutting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Seat the new blade and close the knife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Old blade goes into the taped sharps container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Open the knife and lift out the old blade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Retract the blade fully</a:t>
            </a:r>
          </a:p>
        </p:txBody>
      </p:sp>
    </p:spTree>
    <p:extLst>
      <p:ext uri="{BB962C8B-B14F-4D97-AF65-F5344CB8AC3E}">
        <p14:creationId xmlns:p14="http://schemas.microsoft.com/office/powerpoint/2010/main" val="163855167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8FCC4857-EC23-4C28-AFB8-BED9AB37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3A3B694-9114-4A7B-8296-07E5D13D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D0EEBA3-F6AF-4117-A5CE-BACCBC2F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16F5ED0E-C34E-44D8-B33B-E86B32E0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176C9E48-E2C0-450E-AF78-484FD627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69F6202-C732-4CB9-BC8F-D34AD1B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AFD39467-06C2-4228-BC43-D8B95930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CA28BF93-F6F3-41CB-AC6E-D028A247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633C09B-5130-4946-B901-DD1FE2D5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74DE022-607D-4658-B5AA-20C6057A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1B1BE61-3760-4E5F-B6AF-76BA9D16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D0B9782-8F31-4E92-AA0F-CBE96777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832FA266-AA64-48CC-A59D-A10DBB49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7B043658-1859-4EFF-AE2E-A0333368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7D341490-42C2-47AB-808C-86A6119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76F107B4-7A59-42D8-9A0C-0DA83117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8FD1C3-CD85-4E12-BC82-BE92EDAB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0B6D3E-CDF9-42D7-950B-3DEDC2CC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77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1183D9E8-4C11-4987-A828-B88375D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EF81ED8E-44B4-4E18-A47D-40A8944A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Change a utility-knife blade - in order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420A5D21-C251-433B-98F4-94A75ECA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915296CC-055E-4227-A849-B7EBBCD6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6A670EA0-4FEE-44E7-B913-CFF7EA57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ORDER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E3B8C841-D790-4C97-86A6-F8078FB2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1. Retract the blade fully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2. Open the knife and lift out the old blade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3. Old blade goes into the taped sharps container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4. Seat the new blade and close the knife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5. Test the slider and lock before cutting</a:t>
            </a:r>
          </a:p>
        </p:txBody>
      </p:sp>
    </p:spTree>
    <p:extLst>
      <p:ext uri="{BB962C8B-B14F-4D97-AF65-F5344CB8AC3E}">
        <p14:creationId xmlns:p14="http://schemas.microsoft.com/office/powerpoint/2010/main" val="70720919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91C712CC-76E1-4BAD-9413-5800ECC5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5FEC158-FE9B-4658-AC32-247DD03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323FEFC-B8EA-422D-98E4-8BC160AD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353B534-F93B-4DE9-A0C3-6BB35A78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DD24B99A-3FD7-46AB-9B73-DA410AD3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D9B1BF3C-39EF-4123-992C-F007917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8BDFA1D8-C6BC-4F41-A0AC-94E56BE6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3844BC4-B437-4389-A6FF-D5045B4C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E4430E89-3FE0-48EB-8433-C6F1DEB2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63BA1F9E-E15B-4AE4-8686-0985FFF5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829E60E0-E77E-45E0-B880-A13CD9FC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7472103-DE90-462E-8F46-7846A32B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DF175F0-46EC-4ECF-BD15-0F1C32BF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3C8A94D-44C1-4756-871E-DA09B363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E348FF5F-85DF-4168-92E1-9B9EBB94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20141722-1EF2-4BE9-A6EA-9980A2C3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1553D3-CD16-4D6E-A063-7DACF4AD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05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F637703-16FC-4F4B-8F6E-6C7FD538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78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02851722-441F-484E-9DA0-CF2E4356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05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914E1A92-2C15-4ACE-A699-7D44815A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412C3EF0-C981-4449-B328-F9837497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Needles, pins, shears, papier-mâché &amp; armatures, the sewing machine, and the hot-wire foam knife.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D86C73DB-E2A6-4B8F-9F17-8DDEE9D7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9CDCC568-7023-43D2-9A49-8274964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Needles, pins &amp; hand sewing: </a:t>
            </a:r>
            <a:r>
              <a:rPr sz="1725">
                <a:solidFill>
                  <a:srgbClr val="A9ADB4"/>
                </a:solidFill>
              </a:rPr>
              <a:t>Small tools, real rules: Count your needles and pins out - and back in.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Scissors &amp; pattern tools: </a:t>
            </a:r>
            <a:r>
              <a:rPr sz="1725">
                <a:solidFill>
                  <a:srgbClr val="A9ADB4"/>
                </a:solidFill>
              </a:rPr>
              <a:t>Fabric shears are seriously sharp - that’s the point.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Papier-mâché &amp; armatures: </a:t>
            </a:r>
            <a:r>
              <a:rPr sz="1725">
                <a:solidFill>
                  <a:srgbClr val="A9ADB4"/>
                </a:solidFill>
              </a:rPr>
              <a:t>Props building has its own sharp ends: Cut armature wire with wire cutters, never scissors - scissors get ruined, and ruined tools slip.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Sewing machine: </a:t>
            </a:r>
            <a:r>
              <a:rPr sz="1725">
                <a:solidFill>
                  <a:srgbClr val="A9ADB4"/>
                </a:solidFill>
              </a:rPr>
              <a:t>The machine drives a needle up and down faster than you can react - respect the zone around it: • Fingers stay a needle-width away - guide fabric from…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Hot-wire foam knife: </a:t>
            </a:r>
            <a:r>
              <a:rPr sz="1725">
                <a:solidFill>
                  <a:srgbClr val="A9ADB4"/>
                </a:solidFill>
              </a:rPr>
              <a:t>It doesn’t look dangerous - it’s a wire.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A70CC0C3-A8F7-46D6-AB20-7258259F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8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14232323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F140128A-1C73-43D3-878D-030D4AF8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7C65366-6CD5-4C14-85D5-8C735113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B2F8EED-90B1-430D-AC8C-CDFBF399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C7FAC5D2-8015-4C51-B73B-469ADB5E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FA15FF2-8B68-4DD6-890C-81F540B7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FFACD2A-ED3B-4178-AFF4-D109A692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3ED92736-AEB9-4EC8-BD71-B7375B8A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A839EE4D-7FE8-4DE7-93A1-4F5BCAE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88246F3E-B75A-4C84-9904-0D10F87D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DD53E697-572C-4467-981B-D6F0F78F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4B5DA647-17E1-424F-ABA1-619507EB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1EC9C4D8-65A3-42AB-80D8-9EE2F00C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A725F789-F970-47FE-B9A2-79F37220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42232F3-6381-4198-AF3E-1962D0F7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0F011482-C419-478E-85E1-9787E0E4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FCEBFDF-E8DB-4D81-9DBD-0C19206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69525B5-6BBF-489D-86C5-08D8C194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DF965E-2ED8-49E2-BC2A-75FCB172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79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57AF304A-FDF7-473B-8916-E3EFAA43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1E12D12-B9FC-4806-9EBC-4892BA0A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Wire ends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68120134-C43B-4D06-981C-FBEB7032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7AB172D2-A7D6-43B7-8B55-15D8642E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just clipped an armature wire and the cut end sticks out at face height over the work table. What happens right now?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EFCBC4B1-C228-4E70-8823-627705BB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9187B5F8-E3E5-4AE2-B48C-48D5FAC1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9FC96834-93D2-40C0-9480-CE2891D3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Finish the layer first, then deal with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Bend it back or tape it immediately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Point it out to the people nearby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Move your own face away from it</a:t>
            </a:r>
          </a:p>
        </p:txBody>
      </p:sp>
    </p:spTree>
    <p:extLst>
      <p:ext uri="{BB962C8B-B14F-4D97-AF65-F5344CB8AC3E}">
        <p14:creationId xmlns:p14="http://schemas.microsoft.com/office/powerpoint/2010/main" val="81562796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E958B98B-CB27-4DD1-A441-9DEB42CB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17586C78-55CF-47DF-9E7A-C4F62BB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96A65CCE-874A-4787-BA72-7AA70CD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D30E013-7D4F-45CA-AEF3-AAACD50F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4C57B08-5FC4-435E-B614-B57C526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1D66D07-B86C-4267-B8CD-EC3B841E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E595DA9E-6E81-4BE0-AE19-7D8AF58E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2EC4A2D3-5FB3-46C7-9424-3D332C18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19B73F3F-490C-4EF0-BC76-33E70C37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DE8B699E-4365-40B7-A076-EC1C72DB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D74FB14-15FB-40B1-8152-FF29B464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5989F57-78AA-48F2-BBD1-D60EF53F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160F898-736C-4FF0-81F8-00026003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F805D76-CAC3-4DCE-8D3F-E8D04BE0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0973E45-FDB1-4173-AFE2-1F270249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80AB90B7-C603-43AF-867E-800A3ED3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0C4DAD5-3085-4A89-BFC3-E12600AA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A74CB3F-0480-47E7-8C2F-84D413D6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5B2873EF-78D9-4475-8127-B8F018BB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C6C18ABE-5F7A-4644-871A-0659AFB2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Wire ends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B20A9877-06EC-429C-90B6-9A184BDF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84C269AC-4170-4731-89DD-7C4B699A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9DC22758-391D-463F-9811-8C168624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059570AE-228A-4B0A-9836-69E5478E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Bend it back or tape it immediately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0C46C5CC-14A0-49A5-BB53-F6A417C7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Wire ends at eye height don’t wait for cleanup time - they get bent back or capped the moment they exist.</a:t>
            </a:r>
          </a:p>
        </p:txBody>
      </p:sp>
    </p:spTree>
    <p:extLst>
      <p:ext uri="{BB962C8B-B14F-4D97-AF65-F5344CB8AC3E}">
        <p14:creationId xmlns:p14="http://schemas.microsoft.com/office/powerpoint/2010/main" val="71664061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F63E3CAD-8AEE-4297-A26E-F2FDE553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84F3636C-FF58-4761-A29D-4C2F851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55A3D90-799C-4712-B256-ADD0C833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FE0FC6F-ADF5-4A73-9DA5-62CE1BA7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ED70D0CA-5DCD-4939-9E9F-FA2AFE96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381A5BFA-DA69-46C0-AF96-C3D58D35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AA87DC24-CAA7-4547-AF3F-95483C04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C8B8EA89-B9B3-4EFE-936A-7AA02FB5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75B8E77C-3C00-479E-9D7B-7D04755A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DD773437-EEA6-4BE1-991F-A9CABC88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C9AFD8B-86F6-4E87-88D0-0D1D568C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ACF4479-6D25-4069-90DD-86046896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A012814-1017-401D-A1F6-45B62E24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79C09079-3D7B-4DD2-8669-9D5E2AC1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2CA1FBB2-445F-4837-AE81-1AFBC7B2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0168A80-9DC7-4CE0-B7D8-290CD690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518E79C-07CD-4AEB-99F6-35F3739A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06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E4FA5C6-CBC3-4D17-B0EE-F2F7088F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2DDBFFD2-EAFB-4203-9288-2C1FDBC5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06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A11BF1BE-D27D-4664-BFC0-371B8E84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48CBB7AE-1B14-4E20-B57C-BFB0B87C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The rules that cover every power and pneumatic tool, and your path to qualification.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976FCE56-7BED-488C-B114-415D2FA8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3505120C-4AF6-4AEB-99B9-E52C39E2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Rules that never change: </a:t>
            </a:r>
            <a:r>
              <a:rPr sz="1725">
                <a:solidFill>
                  <a:srgbClr val="A9ADB4"/>
                </a:solidFill>
              </a:rPr>
              <a:t>For every power and pneumatic tool, at every grade level: • Guards stay on and working.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Your path: orientation → supervision → independence: </a:t>
            </a:r>
            <a:r>
              <a:rPr sz="1725">
                <a:solidFill>
                  <a:srgbClr val="A9ADB4"/>
                </a:solidFill>
              </a:rPr>
              <a:t>Qualification is a ladder, and every tool has its own rung: 1⃣ Safety orientation (Grade 8) - you pass an orientation for each tool, then perform…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Cords, hoses &amp; your workspace: </a:t>
            </a:r>
            <a:r>
              <a:rPr sz="1725">
                <a:solidFill>
                  <a:srgbClr val="A9ADB4"/>
                </a:solidFill>
              </a:rPr>
              <a:t>The cable end of tool safety: The cord or hose stays behind the tool, never in the cut path - check before every cut, not after.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Clamp it, support it: </a:t>
            </a:r>
            <a:r>
              <a:rPr sz="1725">
                <a:solidFill>
                  <a:srgbClr val="A9ADB4"/>
                </a:solidFill>
              </a:rPr>
              <a:t>Most “tool accidents” are really workholding accidents : A clamp beats your strongest grip - and it never flinches.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Pneumatic power: the air rules: </a:t>
            </a:r>
            <a:r>
              <a:rPr sz="1725">
                <a:solidFill>
                  <a:srgbClr val="A9ADB4"/>
                </a:solidFill>
              </a:rPr>
              <a:t>The stapler and nailer run on compressed air, which adds rules of their own: • Treat every air tool as loaded.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3F3A1DC5-F809-46E8-95D2-5D1752C5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9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71245684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DEBB5E38-567F-460E-A5B6-167A4A20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0DBF38B-AFE4-42CD-B2DC-3F57FF17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1ABA76D4-661A-4CAD-B28B-2430B698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03EFC9C3-0B21-49A5-906F-F3E9726C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04FB5E1-399D-4170-A6E9-25AA5A03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9776F93-FC36-4049-9E22-DABD4F1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40EAA0F-C380-4AA2-B2F8-1C632D89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1EE645DD-E1EE-4ED8-ACEA-3D0BA528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9297691-FE1C-447C-B246-25E9D2BF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31199476-0027-4BDD-A5A7-12D4804E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E02A0E12-4B41-42AE-B5F5-79A27715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57955CEA-F22B-45F3-BF42-2096B24A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F6846EC7-D79B-47C6-A601-80364A8E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B98C77C6-B887-4C75-ACF7-6372A6D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AD1846A3-696A-4091-8E71-A3F751C3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61D7718E-6836-48ED-A075-67DC18E7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6E3A5E8-EA57-4D14-ADFA-1CB8C251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B899774-DBB4-45B4-BA68-95E31AC0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CBAD4BCE-08C5-4442-A2DC-6390DCDF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7E4897D-CC4D-4B6C-A54F-CFA6C819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Set up a cut - in order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EF60F001-EB56-454F-B79E-EBA63364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E9979C7D-14A3-44F4-82A8-DC539907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18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Put the steps of a safe power-tool cut in order. Tap the first step, then the next…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8E989D32-D580-4E4A-9254-2D115CDD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90AD2B20-3689-48E1-B013-ACDF483A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Put the steps in the safest order.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0A8D26DA-C48C-415F-A4A5-916E88A0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12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Let the blade stop completely before reaching 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Make the cut with correct body 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Clear the work area and support your 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Check guards, blade, and cord or hose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Put on your PPE</a:t>
            </a:r>
          </a:p>
        </p:txBody>
      </p:sp>
    </p:spTree>
    <p:extLst>
      <p:ext uri="{BB962C8B-B14F-4D97-AF65-F5344CB8AC3E}">
        <p14:creationId xmlns:p14="http://schemas.microsoft.com/office/powerpoint/2010/main" val="71755425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F2A7CEE0-58BF-4074-98E3-1905E1ED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1949395D-9486-4D02-B970-C5A50F6B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CBA681E0-FA88-4011-B883-EAA58A03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58301A0A-5AD2-4572-9BB5-7067018A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F62F233-A077-4DFE-B0A8-2BD7BBB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A1839F15-3088-4AA5-B4B7-D0CFF4F5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59CB2FB7-F55F-4D44-A9FF-723B5FBF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BD91DAA5-0033-4E71-BFDD-800A2AAC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1C62EFD-6348-43C2-9BCE-B61C4D3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DE556D66-F35B-4517-83D0-079C40F6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A09C0D7-8282-436D-BBC9-EEB03419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74B583E-5016-4567-A24F-733E4BB8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91FC86B-2521-4074-AE0C-D6B4BE49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F95F681B-2715-4D8D-92B8-670874ED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219E0C1-DF20-4DC0-8E89-2FDBE5C1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03C9B9C-4268-4AF7-87CF-505CC966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8D4A35F-3A6B-4734-9B23-F106DCC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B8654AD-F43A-4877-AF85-39234953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83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A9BCC253-DE37-41F3-9990-B509D70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39EEE474-A5D1-4213-BAA9-AE54F573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Set up a cut - in order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D37BD300-CB8A-48F0-AC10-235CD0B1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B36F6245-B855-4F59-B760-80A5BBDF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45158425-A7A4-4819-A76E-2C711713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ORDER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67F70331-B475-41E1-B8AB-975FC8FB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1. Put on your PPE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2. Check guards, blade, and cord or hose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3. Clear the work area and support your 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4. Make the cut with correct body 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5. Let the blade stop completely before reaching in</a:t>
            </a:r>
          </a:p>
        </p:txBody>
      </p:sp>
    </p:spTree>
    <p:extLst>
      <p:ext uri="{BB962C8B-B14F-4D97-AF65-F5344CB8AC3E}">
        <p14:creationId xmlns:p14="http://schemas.microsoft.com/office/powerpoint/2010/main" val="161949612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325F5623-F33E-4225-8850-A13FF3B6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8076E1D-C92B-4E40-8558-06DBFFF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DA13E89-14AB-45FF-A437-CD2CF955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2341206-190A-4A48-87F2-F035B48F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EDD39770-B707-4ADD-895A-90A8C443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4C4AB98-EE7D-48A9-9A15-52364CE6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D327627B-D2AB-4D51-9208-802DF0D7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877615FC-4589-46D8-97DA-3FFCB5A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85D48641-7AEF-476D-ACA8-5455622C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46C9E53-733A-434B-94C4-1B81297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8B38600B-910B-45D9-B05D-EF1FF3C8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6E260C93-1C64-4440-BCFD-E8A34814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3B96B4A9-390B-4B66-999F-BB05FEBA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519DA610-58FF-4927-A9EF-A060B20B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A97F0624-13F2-404B-807F-52F25BC7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0B693808-7A7D-446D-93BF-ABE5DAB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E141FBF-03DB-4109-90BA-FD5A2F6C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07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EAEF106-05BD-4E29-BC74-91F63C0D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EB811B4B-C99A-4338-8971-9533AFC2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07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7E816DFB-54E9-4C6B-879C-0A836B3C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Power Saws: Jigsaw, Miter, Panel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16F7682B-464B-4724-9607-D9FAF97E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Tool-by-tool specifics for the three saws you qualified on in Stagecraft.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05C367CE-5D11-40A4-8472-9527E726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5F86E897-A5A1-4421-9D71-40BF096E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Jigsaw: </a:t>
            </a:r>
            <a:r>
              <a:rPr sz="1725">
                <a:solidFill>
                  <a:srgbClr val="A9ADB4"/>
                </a:solidFill>
              </a:rPr>
              <a:t>The curve-cutter.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Jigsaw - blades, curves &amp; cutouts: </a:t>
            </a:r>
            <a:r>
              <a:rPr sz="1725">
                <a:solidFill>
                  <a:srgbClr val="A9ADB4"/>
                </a:solidFill>
              </a:rPr>
              <a:t>Getting the cut you want, safely: Match the blade to the material - wood, metal, and scroll blades are different animals; the wrong one burns, wanders,…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Miter saw - angles &amp; short stock: </a:t>
            </a:r>
            <a:r>
              <a:rPr sz="1725">
                <a:solidFill>
                  <a:srgbClr val="A9ADB4"/>
                </a:solidFill>
              </a:rPr>
              <a:t>The setups that catch people: Set and lock the angle , then test on scrap - an unlocked table creeps mid-cut.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Panel saw: </a:t>
            </a:r>
            <a:r>
              <a:rPr sz="1725">
                <a:solidFill>
                  <a:srgbClr val="A9ADB4"/>
                </a:solidFill>
              </a:rPr>
              <a:t>The sheet-goods saw.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Rip vs crosscut - know your cut: </a:t>
            </a:r>
            <a:r>
              <a:rPr sz="1725">
                <a:solidFill>
                  <a:srgbClr val="A9ADB4"/>
                </a:solidFill>
              </a:rPr>
              <a:t>Two words you’ll hear every day in the shop: A crosscut goes across the grain - cutting a 2×4 to length.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7CEDDC43-5C4E-48EE-8E6B-B321A1DC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11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995937505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6D2A597B-FDFE-4E0B-8B8F-DFB7F6B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C0306407-85AE-4C70-996A-6FA37054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F11357F3-4BCA-48A1-9FE6-B5992C46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5817D8A-0664-45CC-894C-23CFE6C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A4D621B2-5879-4973-8E68-ED1ECD1F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839DAC9-08C2-4262-A643-8D7067C5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32F1CEE9-E37C-4A02-B44A-62DED684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232B5353-FA26-49DF-BB08-4A1777C2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FC757F5-0D6C-4110-9FE8-088ABFD3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C2789E79-89C2-4DC6-B606-8C5FA2D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09C97C4A-5CC8-4467-96EA-F95DF38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072A4B5-5D6E-479B-B285-91704DD2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3B0EEF66-A648-4385-9C46-C05BE162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A968E574-5B93-46B3-898C-DE6676B3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2533A219-FB14-4CAF-B66D-DBD30301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52A1D615-67AB-4B84-8783-0C2A42CE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85CB882-23D9-4823-90B4-EF00A0E1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18CEE1-AB29-4F80-88DD-503F3B62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E26A0939-1EF6-4289-87DA-AD2035C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A99286B-FAA0-49AD-A2B9-34ADA1C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Miter saw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0C6EBCA3-A08E-49E3-8856-6447B5F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Saws: Jigsaw, Miter, Panel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C0F1A6A0-DBFC-4EC8-A0FB-3CF2B69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just finished a cut on the miter saw. When do you raise the blade?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97E67865-BA79-497E-8B19-BB9E4910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F1E5B6AC-8DEB-41DC-BEC8-F35B03CE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88C3816D-0004-4712-87AB-353F8812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Immediately - the cut is done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After the blade has stopped spinning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Once the off-cut falls clear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After you pull the stock away</a:t>
            </a:r>
          </a:p>
        </p:txBody>
      </p:sp>
    </p:spTree>
    <p:extLst>
      <p:ext uri="{BB962C8B-B14F-4D97-AF65-F5344CB8AC3E}">
        <p14:creationId xmlns:p14="http://schemas.microsoft.com/office/powerpoint/2010/main" val="135196443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642FB0C4-532E-4C5A-A5B7-9B7A513E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9C2EA8E-D044-4295-8F14-789BC16A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040FE8ED-EA41-432C-A4CF-4AEDDAC8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11014CC-99DE-4067-94BD-24409020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EA0B6A4C-4E8D-46B4-9F76-2F6BA0AC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EE147B2-3D08-4DFE-BABF-A73FA4B6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B7764685-9FD1-40A9-BA66-34626EBF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C311128F-3854-4A05-810A-EF8DD165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CCDD68E-B76C-4003-ADFF-62345B6E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CB84FDD-337C-4553-83F3-9C748B53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85A1FAE-BE82-48EB-8AD0-E675CBD6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2E681DDF-0B2B-46B8-B7AA-C35E771F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B9ADB79-1D17-46C6-9F5B-CF94346A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21533F75-71AF-4302-80F8-86EA9643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BDB3877F-AE44-4944-8E4A-5B861B63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1D5CAFB4-4E8C-4B95-8BF1-C31EE8E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4CBEEEF-41F6-44A5-B31F-7CACC0A4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A11FA0-7067-42A9-92EE-61E61B21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B1586F2E-9198-4A8E-B891-73A05696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83EA436D-6303-4D1B-8EE5-8B8419CD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Miter saw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1E8CED7E-4250-47C8-875D-1E2AC75F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Saws: Jigsaw, Miter, Panel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E07BD24E-D833-46CD-A8FC-EF4786DE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9A83B254-79C9-4192-A6D6-31DD0D2E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FA8D0D1E-84CB-4D0F-8F17-6BC2EAD9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After the blade has stopped spinning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34FF3DFF-8298-4DD2-BE5B-10C5236D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A spinning blade coming up can catch the off-cut and throw it - the blade stays down until it stops.</a:t>
            </a:r>
          </a:p>
        </p:txBody>
      </p:sp>
    </p:spTree>
    <p:extLst>
      <p:ext uri="{BB962C8B-B14F-4D97-AF65-F5344CB8AC3E}">
        <p14:creationId xmlns:p14="http://schemas.microsoft.com/office/powerpoint/2010/main" val="158685399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32CEB1FA-8EC9-4BBB-93C5-AE99DC8C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CB06CA2B-377B-496A-A6F7-D979E673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0B620568-AEC5-4800-83C4-2903B0B4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BF4F7B3-9A23-477A-9D53-BD856167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975F640-946F-4DDF-AA25-DF15DFDA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B27EEE25-D51E-4689-9AF8-9087CF26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707F48A2-CA17-4173-9B99-A0058421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00ABED6E-AECC-4033-B72E-342F5566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F5FB0E4-97FD-4658-BED3-C89DA90A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B5BAAC6-A9C8-401B-AFB5-9418E44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2A825062-BD75-4C44-8184-BFFF880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EAFAF054-A9EC-45A4-9594-749BE5DF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63295B60-2A9B-4578-848E-F580C082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447AD9FD-00AF-4F71-A063-FF4068F2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B463359F-7F11-40AD-830C-C56F4A2C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F5ABC853-A398-42AF-AD25-B9C5E3E4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B0C2C47-C883-44BF-97BF-E283E37B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08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6CC6023-3FEE-40D9-8B5C-89B60EFD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2DB86322-72ED-404C-AC38-3B7E09F9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08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396251E1-916C-463E-94F9-0B3B241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Drivers, Sanders &amp; Nailers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508117F4-121C-4B4F-ADD6-7D1FE06B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Impact driver, random orbital sander, narrow crown stapler, and framing nailer.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873B9681-2661-423F-82CC-E6D8912B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962B24AB-0BB1-4A4B-97FC-66A4BFF7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Impact driver: </a:t>
            </a:r>
            <a:r>
              <a:rPr sz="1725">
                <a:solidFill>
                  <a:srgbClr val="A9ADB4"/>
                </a:solidFill>
              </a:rPr>
              <a:t>Small tool, huge torque.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Bits &amp; torque: </a:t>
            </a:r>
            <a:r>
              <a:rPr sz="1725">
                <a:solidFill>
                  <a:srgbClr val="A9ADB4"/>
                </a:solidFill>
              </a:rPr>
              <a:t>The details that separate clean driving from stripped screws: Right bit, right size - a PH2 in a PH3 screw strips both.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Random orbital sander: </a:t>
            </a:r>
            <a:r>
              <a:rPr sz="1725">
                <a:solidFill>
                  <a:srgbClr val="A9ADB4"/>
                </a:solidFill>
              </a:rPr>
              <a:t>The dust machine.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Grits &amp; technique: </a:t>
            </a:r>
            <a:r>
              <a:rPr sz="1725">
                <a:solidFill>
                  <a:srgbClr val="A9ADB4"/>
                </a:solidFill>
              </a:rPr>
              <a:t>Sanding well is sanding safely - fighting the tool is what causes slips: Work the grit ladder: 80 → 120 → 220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Stapler &amp; framing nailer: </a:t>
            </a:r>
            <a:r>
              <a:rPr sz="1725">
                <a:solidFill>
                  <a:srgbClr val="A9ADB4"/>
                </a:solidFill>
              </a:rPr>
              <a:t>You learned the air rules in Power Tool Basics - here are the gun-specific ones: • The contact safety tip on the nose is what stops accidental fires.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A54BB090-CB8B-4D30-9F9B-7E60019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7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32447314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7F32D78E-124B-474C-B632-4CF8B79D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38DD037-31A2-400F-AFFC-F128343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0AE2836-CB26-45B1-BC02-6F83D422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681A64D5-04B8-41DF-B6D6-33C290AF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FF26FAE2-A5AA-4145-AA69-514FB247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FC6733A-B68A-4173-A61A-7A05A8DB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86E2A89D-9822-4914-A547-5AC6A310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B9D0389-05AE-47F2-92EA-09A94BCF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BAD405D-D951-48EB-A3E3-0221FE89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9BA9417B-D726-489D-BA56-E2E91AD7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88440450-98D6-4BD3-8309-95C21396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8D578D0E-783C-426F-AB68-F872F22E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DEDDBBDD-C879-4919-87CC-FB377152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6200535-3E07-46D9-A988-F5AF24D0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0BC6BFDC-8B35-44F6-83BE-58C81717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98FE95E4-B45D-4798-BE95-84B4896B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6EC0680-C600-4A33-B992-C0ED864A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6B202BC-A5C8-4FF4-AC82-6064D03D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88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ED56598F-41A1-48EF-BD1B-75CE4A18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1C168F6-0176-420A-8596-50FE4D1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Nailer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E503900C-4DBC-4944-AFE8-E1687D4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Drivers, Sanders &amp; Nailers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05B6D05C-259D-4107-AA0A-02C8EF59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Your palm is bracing a stud about 2 inches from where you’re about to shoot a nail. Fire?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9D35769A-E992-4CCF-926E-6164B6B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7DA603B6-8F8D-424B-A4F4-6F694D14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74F5875C-C4EF-4682-A76E-F251C42F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Yes - the nail goes straight down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Yes, if you use a shorter nail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No - move your hand first; nails deflect along grain and knots and can exit sideways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No - you should hold the stud closer to the nail for control</a:t>
            </a:r>
          </a:p>
        </p:txBody>
      </p:sp>
    </p:spTree>
    <p:extLst>
      <p:ext uri="{BB962C8B-B14F-4D97-AF65-F5344CB8AC3E}">
        <p14:creationId xmlns:p14="http://schemas.microsoft.com/office/powerpoint/2010/main" val="667586515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415CC42B-209B-489E-9994-7CC61832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86EC738-2062-45E8-A898-CD638EB2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0061CE74-CB4D-4961-9A5A-D381D294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05A7459-6807-4FB5-9789-E2AB4F0B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D8AD89A-F51E-4538-BC0F-7614F2D9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E20F3066-492F-4DE7-96C0-7D40AD1C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C139438-6432-4E10-972A-57065CAF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38D309A7-8FE2-45B3-BC4A-5AE04FCE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7E890D5-53AD-4DBC-B3A8-F76B4D79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94C4298A-2FE0-48E3-8C91-1C281AF7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E513E4E-A90B-4FF1-B7C7-29DADE09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777E8099-6F14-40F2-8A8A-EFD9B90C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E4C00940-CF5F-4AB3-81A6-2A69F498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5C0ED338-98D6-42C3-AF6F-08AEFC5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D96301A0-A2DF-46D7-9F12-2924B5E7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C99484D-7C4C-4C52-8D61-67565673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4391B1F-0156-4F13-97A4-C887B23D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762FA1-EC06-4A6F-91AD-D64541C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89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7F48ED48-16E6-48A9-9E0A-6F04837E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6317D61B-AE10-4BDF-A282-A8B1B49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Nailer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1579D698-9AA5-4969-9133-CCC7D5C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Drivers, Sanders &amp; Nailers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17CF20EA-88A4-4B69-A688-D8AC9479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78448434-1680-400F-84C5-16AD46CF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2E2B466A-C30E-46B6-91A8-AE87A5F3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No - move your hand first; nails deflect along grain and knots and can exit sideways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2BBB8306-CFB8-4CBF-B485-41229AE3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Nails follow the grain and bounce off knots - a hand-span of clearance from the fire line, minimum.</a:t>
            </a:r>
          </a:p>
        </p:txBody>
      </p:sp>
    </p:spTree>
    <p:extLst>
      <p:ext uri="{BB962C8B-B14F-4D97-AF65-F5344CB8AC3E}">
        <p14:creationId xmlns:p14="http://schemas.microsoft.com/office/powerpoint/2010/main" val="88269772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B2694BCC-4146-43A1-A0D5-EEF3575F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87D6A7F-A7EA-4453-8DEE-8D2B3EBF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F44DBD40-72F3-491F-9969-0EE3AC11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D42DC76E-164B-41A2-A687-EDDCA188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7EDAC0D-99B2-4680-BF2A-2A25D0AD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B845D4AB-A2AA-4061-A7CD-C61FB766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A89DEF41-51C6-4FFB-85AE-82DACCAD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B0446D63-63A1-4A5C-A67A-7CE9ED19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EC0A56DF-45E8-4B13-ACC3-53C972A2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FF3128BC-1C50-4A16-A8C5-7AE79E32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87FB8924-E3FA-4B8E-B5A7-CC939F88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460FE1B-B28C-4669-8CFE-BE525F97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825CA5B6-7818-45BC-B9AF-058A21D2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63A53A2-309B-41CB-BD4A-7E3A672D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E0B29B14-B595-47AE-B7C3-3C26E48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7F3D047B-1056-46DA-A6DF-A82918B5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44C6230-162E-4B57-8F48-AF53659A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09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F5C3518-4969-4EDC-9452-CF6774F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A42B4E26-88A9-4C1A-B8CF-1D101C5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09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7F8B7DAC-897D-4442-8DCB-BA7B93C1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Lighting &amp; Electrics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354F8CE4-4623-4BC6-B0AB-6FCB1B3E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Ladders, fixture hardware, gels &amp; gobos, cable care, hot focus, and electrical hazards.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E41BC45C-4B22-405D-AF3F-CE7C884A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892EA35E-A37B-4922-9252-755931F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46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Ladders &amp; working at height: </a:t>
            </a:r>
            <a:r>
              <a:rPr sz="1725">
                <a:solidFill>
                  <a:srgbClr val="A9ADB4"/>
                </a:solidFill>
              </a:rPr>
              <a:t>Know the ladder and working-at-height rules and be able to state them: • A ladder is set on stable ground and steadied - never climbed alone in the shop.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Power, plugs &amp; equipment care: </a:t>
            </a:r>
            <a:r>
              <a:rPr sz="1725">
                <a:solidFill>
                  <a:srgbClr val="A9ADB4"/>
                </a:solidFill>
              </a:rPr>
              <a:t>The rules for anything with a plug - consoles, playback, monitors, practicals: Dry hands only on switches, plugs, and equipment - and never use…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Cable care &amp; over-under: </a:t>
            </a:r>
            <a:r>
              <a:rPr sz="1725">
                <a:solidFill>
                  <a:srgbClr val="A9ADB4"/>
                </a:solidFill>
              </a:rPr>
              <a:t>Cable is equipment, not rope: Coil over-under so it pays out flat without kinks - a kinked cable is a damaged cable waiting to happen.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Inspect before you use: </a:t>
            </a:r>
            <a:r>
              <a:rPr sz="1725">
                <a:solidFill>
                  <a:srgbClr val="A9ADB4"/>
                </a:solidFill>
              </a:rPr>
              <a:t>You now work safely at height and around circuits with general supervision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Hot focus: </a:t>
            </a:r>
            <a:r>
              <a:rPr sz="1725">
                <a:solidFill>
                  <a:srgbClr val="A9ADB4"/>
                </a:solidFill>
              </a:rPr>
              <a:t>Refocusing fixtures that have been running is normal electrics work - done the right way: Gloves for a hot fixture - or kill the channel and let it cool.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7DDD891A-8FF0-4AD6-9727-9EE2B20C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9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86017458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3BFA06A0-357A-4D51-8059-C309A96B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046118C-4FB7-4C02-ADC5-2C54BE70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5E8D3EE-CFE8-4816-AF3A-7CF1630E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C34258DC-F80E-42BF-8168-896731BF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7AD54CA-F445-45D7-8B28-3133FD8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9A34083-BF47-4717-9772-8DF36300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F127E84-8A5B-4590-9BB4-AC7F3EA0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9633ED4E-925B-4204-A052-4C2934CB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2677E59-9D85-412D-BAA8-CA620A83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0768EB7-BB02-4C7D-B0F6-0989A94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77355DC0-CDB7-4E82-84DC-4DA762E9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CDD98EAA-6319-406C-84D8-2EB39108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821D8A20-16B2-49F2-BF7C-0E516099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8147643-474B-41BB-A69C-AF671F33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F04315FD-12DE-412B-9AE0-7BE64AF8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6442FC2-492C-448F-9843-951DC099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B48988-4E45-4D04-BB4D-20332934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10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E78FF7B-BA9E-496B-A624-6B2A1D6D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91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578FC576-EAB2-4316-A071-03AAEB32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MODULE 10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B384C667-0BA9-451D-BC97-63EEFFA2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Hearing &amp; Audio Safety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CF996695-24FC-400B-ACD1-A12E0C19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Hearing conservation, SPL awareness, and safe speaker handling.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FA0DDB82-B2C7-4F8E-A7D5-4CFD4747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2278F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AC659060-284C-441D-B3EC-F5B2EF5B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Protect your hearing: </a:t>
            </a:r>
            <a:r>
              <a:rPr sz="1725">
                <a:solidFill>
                  <a:srgbClr val="A9ADB4"/>
                </a:solidFill>
              </a:rPr>
              <a:t>Sound level is measured as SPL (sound pressure level).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Headsets &amp; comms: </a:t>
            </a:r>
            <a:r>
              <a:rPr sz="1725">
                <a:solidFill>
                  <a:srgbClr val="A9ADB4"/>
                </a:solidFill>
              </a:rPr>
              <a:t>The “no earbuds in the shop” rule has a show-business nuance: Personal earbuds and headphones never belong in the work environment - they mask callouts,…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Fog, haze &amp; atmospherics: </a:t>
            </a:r>
            <a:r>
              <a:rPr sz="1725">
                <a:solidFill>
                  <a:srgbClr val="A9ADB4"/>
                </a:solidFill>
              </a:rPr>
              <a:t>Atmosphere looks like magic and behaves like a chemical plus a slip hazard: Use only approved fluids in fog and haze machines - the fluid’s SDS lives in…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Handling &amp; rigging speakers: </a:t>
            </a:r>
            <a:r>
              <a:rPr sz="1725">
                <a:solidFill>
                  <a:srgbClr val="A9ADB4"/>
                </a:solidFill>
              </a:rPr>
              <a:t>Speakers are heavy, awkward, and often end up over people’s heads.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D1149945-0011-403B-AC15-6DDA4A66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6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55584052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CE9B5905-3D1C-4FF7-B1EA-58C1CAFA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9A39EE3-F7C4-4513-AF79-8C4F271E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953898B2-1F82-4F4C-9B88-1AC991C6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D30B09D9-EB26-4ADE-A7DE-FEF8D7FB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24A6478-E6EB-4CC1-91B7-6C12FD72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3AC9242-6EB7-4501-BB6E-13E00DB0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4CF41E6B-4517-4C5A-991C-6F7589DD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11C951B6-D22D-4723-8DA0-29794C42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2A837B0-4AD0-4214-B064-6B5516A1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6E8ECE9-07CC-458A-8E54-692152BF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3035DB5-A7A3-48DF-85DE-98F4E7C8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903C84CF-C6CC-4C61-B0F6-405D14E9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B743718E-C477-4E54-AEFF-06E06E3C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1BF1FB24-8849-42F4-AD12-2B61AFEF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B7BB32F7-A191-4EB4-B47B-C42CF10E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8FEE2D4-4D5A-4E88-85CD-F1FEA76F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D94D997-05BA-42A5-9941-7B3072F3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8D0C6B3-24C4-4244-ACB8-2D144A73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16C631C1-CBE8-439B-ADFF-A6F71D9B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138A770-41F5-4DEF-A526-9940CDC2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B6C3098E-25F1-492A-BDAF-B577664D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149ED653-5AD8-4F5A-8B91-C5FE0B07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A task is going to fill the air with fine dust. Which PPE does that call for?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FEBE8178-BC18-4868-9605-0EFA7852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5BC288A9-8FA4-4F39-A844-5D92DA6F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D78199BE-920D-4999-925E-CC159E95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Hearing 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Dust protection, like a dust mask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Just safety glasses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Gloves</a:t>
            </a:r>
          </a:p>
        </p:txBody>
      </p:sp>
    </p:spTree>
    <p:extLst>
      <p:ext uri="{BB962C8B-B14F-4D97-AF65-F5344CB8AC3E}">
        <p14:creationId xmlns:p14="http://schemas.microsoft.com/office/powerpoint/2010/main" val="1650050207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CCE828B5-540F-4E61-8248-FFF3BAF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8134BFA-94AD-49A0-9943-272528F9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02363C3-39B0-47EE-B020-C7EC2F59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AC44671A-3CD3-4BE8-AA38-53B764B8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E94962C1-A2AD-4962-BF77-6C45A96A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0766F768-4603-4F48-97C5-77320515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77A65A92-35E7-4B6F-A25F-3DD71AE2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86081590-6685-4EFD-9E84-DC94FF1F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6CC2DF3-0437-4442-9738-7472CFE3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BA9EFCC5-719B-4F02-8537-5BD8E30C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4F51DF40-9A65-446C-8A2B-1445473E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B66E3C50-021A-4061-A262-BA7DE584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217AFC5-D233-4162-932C-25EB5EA5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D49CF1FB-A7CA-4ED0-B34B-FFB7E2D5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873E6E3-3AF2-4127-85F7-412C18E6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EF865CB-8C86-4A23-9C40-AB8D8B3C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EF69D69-A116-4117-AE44-E7B687D8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E2F99AC-168F-4B4B-AD43-45C963F6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93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18BFCD33-2455-40F0-9185-72996E95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889CB3B0-4F3A-4F10-B1A5-0787A2F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72D0BB73-DC60-421D-9FA3-6A64A4C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6C94523C-9BA0-40BF-A7C0-6BC359D2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6AD59967-1C55-4847-A8F6-D8227E57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08F52557-710F-4DEA-A232-D9EC498F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Dust protection, like a dust mask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A3A5E059-E1D7-47F8-A850-EE2BB0C3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Dust protection is required whenever a task puts fine dust in the air; safety glasses and hearing protection guard against different hazards.</a:t>
            </a:r>
          </a:p>
        </p:txBody>
      </p:sp>
    </p:spTree>
    <p:extLst>
      <p:ext uri="{BB962C8B-B14F-4D97-AF65-F5344CB8AC3E}">
        <p14:creationId xmlns:p14="http://schemas.microsoft.com/office/powerpoint/2010/main" val="884079124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56618AA7-699B-4DF7-B399-951524D5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225D05F6-6060-4396-BDD5-6A3E87BB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0C46129B-C886-4C13-88A4-8C90B293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F1D2FAE-3DEB-4D09-9034-A1C46A95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0EEFCAF1-8C8C-4254-BF3D-53ED2B3C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BF8145BC-D417-4552-A694-64B1ED99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50C560A2-E714-490B-A3DA-EA665D20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6A5A7F62-A2E4-4DFE-9D52-A3B10323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0F7114E-7028-433B-A607-6C808F79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C66094A-BDFD-41A3-81DD-9921A4F4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7333F555-85CC-4B88-99B2-18093480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73715014-987C-47A2-A2B6-39EFFBE6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22BCAA1F-90C6-4331-9F21-1A2AADC2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24034D27-8588-434B-85D2-760F7CB5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6689A1D2-0751-485F-93C1-24FAC218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FB198FA5-16AD-41A7-A334-56631C0E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74B09A-6828-4DD9-950F-85E8EC6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742C5D0-AD7F-406D-94BC-6947D532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EE7197DF-B37A-4320-B7CE-4B44646F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7061318-8936-4717-B0C9-FE7D5E93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9C3D20A8-437A-4020-A16C-03A1DB56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8A2ADBCC-D66E-4ED9-B18B-E5AE6624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discover a fire in the scene shop. What do you do first?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787ACA38-2E27-4FB5-B4C3-766DFA67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BF853635-27FE-4279-84CC-639C8EB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24D5E8D2-13CB-418B-AFA9-EB4B0BF1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Shout “Fire!” as loudly as possible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Immediately notify the closest adult with the exact location and what’s burning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Look for a bucket of water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Open the doors for ventilation</a:t>
            </a:r>
          </a:p>
        </p:txBody>
      </p:sp>
    </p:spTree>
    <p:extLst>
      <p:ext uri="{BB962C8B-B14F-4D97-AF65-F5344CB8AC3E}">
        <p14:creationId xmlns:p14="http://schemas.microsoft.com/office/powerpoint/2010/main" val="2139244369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32EE6D4A-1F4A-4CC3-837D-71CB641B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DD2D5877-EDF4-47C2-B4F9-46330BAF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3027F19-CD96-4625-802C-D99A5083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E7AEAD10-6FA7-410B-831D-C3A13332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5B85C68-25B4-4797-A9B0-8BA2C400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4196873-4ED1-4194-8BA1-5A2213BF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6CD67B9E-D58A-4894-8B4F-A346C87C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4F850E5-D1F3-48C3-BECD-704FA723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5106CC4-6B51-4EBD-AA2F-52F968EA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34320115-4DA0-4AC9-9356-114B7B26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966D7A2C-CFBC-4CD5-BB9E-575E305B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9FB9034A-E817-4619-B803-6DFDA972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EFB607A8-A3EE-4CE9-8F02-682AB1EB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BA603A6B-085F-4C5B-9E1E-77129399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43E853D5-96C5-4E69-A62F-523BB4E9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1CB1602-92F1-4523-9C9D-A5CEFEE3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B43945D-D4A3-4AF3-96D8-E688B886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5EE649A-3906-4EC1-9158-2AD1FE0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95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AD83EFDF-E8B3-41F8-978C-D823855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C91E5353-4C4A-44D3-A328-468DEC56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C40F4996-E78D-4F8F-A23D-DEFDE371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B6F8B09F-DA40-4F82-9453-6E8FCB6E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639CF258-BFD2-4405-9EAB-01C9EE3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A9E10D57-00CD-4735-B11F-EFB906B5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Immediately notify the closest adult with the exact location and what’s burning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DE44E2D4-0A99-4AA7-A7E7-BED16478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Exact location and the nature of the fire, to the nearest adult - and never a panic shout in a crowded space.</a:t>
            </a:r>
          </a:p>
        </p:txBody>
      </p:sp>
    </p:spTree>
    <p:extLst>
      <p:ext uri="{BB962C8B-B14F-4D97-AF65-F5344CB8AC3E}">
        <p14:creationId xmlns:p14="http://schemas.microsoft.com/office/powerpoint/2010/main" val="1915759985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21B444BD-7746-4B20-A9E9-D9FC33DD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DCAF8D5-E9B2-4A2A-BD2D-E655D1F7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2B48D64-EB2F-436A-8962-3DBF5CF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384AF7F8-A369-4050-A35C-64CA0AA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0A40B95-CFFE-46EC-B441-5279DA1D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C00F91B-932A-4684-8AAA-21495FD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89578B06-BB0E-4CA7-AEB4-DE9F7FAE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8785A5DE-1CB5-439B-B90A-5B306CD1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4850761B-E9EC-4C98-A517-99F23EB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6EC5DD0C-3A4E-4BE8-86BB-97CF85AA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C2459E9-894D-43F0-A176-B4CC19DA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5B656CF0-0190-4D9E-8CD7-A6C7E7C7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E674BF28-55E3-40C8-923D-0529642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92FC69C-AD51-410D-BCDC-AA855CB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5D3C458B-52B7-46E2-A78E-7702830D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23015F28-2933-4DA6-BE0E-6633782C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B7E429A-442C-49B9-82F9-C82277CE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77DDFE-804C-4B2F-8E3C-2B5260BA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ACA0665D-8212-4876-8D99-DFA5FAFC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AC1F6B5-D954-4CF8-919A-2872F0E9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C5B0B73F-B49A-4D36-81BF-3F16FDEF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930F4500-4A86-4C5C-A04B-B544DEEA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Before using any power or pneumatic tool for the first time, you must…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3C2B2591-BACD-4ECA-9314-E1D4B5C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08BFD0F9-5DB1-4E7E-9BBF-A228D6FB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4ECD35C2-6F15-4DE1-8427-4F883FA6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Watch one other student use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Pass a safety orientation for that specific tool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Just start on scrap wood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Get permission from any older student</a:t>
            </a:r>
          </a:p>
        </p:txBody>
      </p:sp>
    </p:spTree>
    <p:extLst>
      <p:ext uri="{BB962C8B-B14F-4D97-AF65-F5344CB8AC3E}">
        <p14:creationId xmlns:p14="http://schemas.microsoft.com/office/powerpoint/2010/main" val="328423228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9AC88651-CC3E-4CFB-B507-0EAF280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94B4676-FA7D-4A42-9666-E8F5673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BF51AD08-EE50-45AE-8AC9-F7E9495F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C56A879-1310-4119-A4E1-39BAF4A6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A6A5BFB-E5BD-4318-AAC8-94489DA4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C396531E-9E21-4E49-8DDB-F2EA50B1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5A11A67A-9388-4362-865A-07EA7A61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E4AC8BD8-8DF9-4773-A59E-91CFE00C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019A4F7B-0CBF-4C12-92B8-BC4340B9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1F5DCB9-D0BC-49A0-BBB3-F96545BF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F0A3FE3-90A1-4907-92A1-FD1468B3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6C8A65B-677F-40AA-8841-C656F252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4D46224-3899-47B4-B926-51EAA55D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27FF468F-A14E-42F3-A36E-EB19412D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71777045-A11C-4602-A5DD-03F87EAE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D9912416-84EE-4703-AD74-94AE6446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5451B0-8AD4-4ACE-961B-7B555089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A6BA18A-9804-497F-BA6B-379CD859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97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1CA3111B-66EF-42F0-81A6-BD91A605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630BD42C-976F-4571-A1D4-601D22A7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FB15C252-052D-4B34-8FB3-B8519181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40D9BDFA-3724-4D03-BAE4-F09E8669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85AF7E80-2C2F-4058-B76E-913A2087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53F6DCE0-CDBF-4978-9358-EAEE81F9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Pass a safety orientation for that specific tool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D373DB68-E244-4374-9D16-93540415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Every power and pneumatic tool requires passing its own safety orientation before you use it.</a:t>
            </a:r>
          </a:p>
        </p:txBody>
      </p:sp>
    </p:spTree>
    <p:extLst>
      <p:ext uri="{BB962C8B-B14F-4D97-AF65-F5344CB8AC3E}">
        <p14:creationId xmlns:p14="http://schemas.microsoft.com/office/powerpoint/2010/main" val="181127382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910EC539-AF2F-49EC-B032-66753E01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A4D8D64-85D4-488D-9569-7DBE1B3C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A38A2263-18A1-44AF-8FAA-C19BB0B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9568EFFF-2E6C-4889-A019-71120919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164614B-4DD4-417F-85A6-913DE72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82F1A90-EAB5-4130-8817-F58751F1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5774D76-2C6D-481B-8135-D405A56E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A5BDB383-3582-453C-9141-18FA6C85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9CB723F-A4B0-4877-B99C-67DABA70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48E93910-F384-4819-8904-81704053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5212C159-45B3-4526-8ACC-C4E2B094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6637CFC8-7D76-436A-BB4B-005D8A8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CEFFAABF-8AD6-44DC-91D1-98483780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53D931B3-05D1-4B6D-987A-C48BCFC3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70959E2-F8EC-4829-8B89-DE48C571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EA455A8-5475-4519-A4E3-3AE33839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1B2B16-E5B8-41A4-8E9A-7969E14C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0CC7ED-3872-4AD8-A2B6-13221A5C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42A055EE-75BE-4FDE-AE39-F05E94EC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60CB8C-7919-4A9B-8458-5DF7E811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B8EA1FE0-195A-4210-BE87-7392EA60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FBAC7896-3270-4B4F-8AE1-EA3B54FA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Which utility-knife blade is safer?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F05DEA5D-AB85-43C5-A9E6-DABFBC9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EA5D6CF4-76C4-43D7-A765-2BFA2D3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1F704EE0-45FF-4A10-9FA8-844BF6B8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A dull one - it cuts more slowly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A sharp one - it needs less force, so it slips less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They’re the same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Whichever one is already in the knife</a:t>
            </a:r>
          </a:p>
        </p:txBody>
      </p:sp>
    </p:spTree>
    <p:extLst>
      <p:ext uri="{BB962C8B-B14F-4D97-AF65-F5344CB8AC3E}">
        <p14:creationId xmlns:p14="http://schemas.microsoft.com/office/powerpoint/2010/main" val="190387067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862BF772-C99D-4453-BB50-9EDE8C42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8366EDC-84C8-4DD6-A13D-7AEB6C0B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3B8E5BA-E934-478D-8EA0-F986735F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4DF6685-02A4-4EBB-8AE4-B8155BD4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48DDC5AF-6B0A-4CBB-B468-C19EB05E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A4160DDF-BB84-407A-AAE7-955E987E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184EDC27-F77B-4E13-90EA-5484726E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08A93BC-D1D1-4D4C-90A1-28C3C8C9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042F81F-8668-4461-A64F-93FF6E5E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9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390B47D6-D201-4F4D-B4FE-DA07640E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2A505085-0569-47CA-A428-A7D5BB95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5A8598E-B8A4-456D-BF8E-887CBDCB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2F2D72B-B682-431F-A0A7-493B29DA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27F392FE-B3C1-46CC-99B8-8CE60EF3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5A9D8965-8000-4D81-A1A3-CBDB7285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868718E2-7E6F-4F83-A303-7AF4FD4D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77B052B-9F5E-41D0-9B4C-8304C757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9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C082888-A3FF-483B-928D-BC2F8122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227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2278F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EAE72469-9D7B-4991-A75B-EE8042E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B7ADF342-B8E4-4716-BAC6-EEBCCD16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D47AC380-2652-4158-B30F-E72CA704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55E2578D-1A17-4AC5-A156-76360AD8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24323F97-5464-40CD-B935-D1D2DC88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810C5F99-8595-46E6-B727-9741DC13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A sharp one - it needs less force, so it slips less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2DFCA281-1E11-4482-9BC0-8D5365F4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Dull blades need force, and force is what slips - fresh, sharp blades are the safe ones.</a:t>
            </a:r>
          </a:p>
        </p:txBody>
      </p:sp>
    </p:spTree>
    <p:extLst>
      <p:ext uri="{BB962C8B-B14F-4D97-AF65-F5344CB8AC3E}">
        <p14:creationId xmlns:p14="http://schemas.microsoft.com/office/powerpoint/2010/main" val="293555413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inbow-1">
            <a:extLst xmlns:a="http://schemas.openxmlformats.org/drawingml/2006/main">
              <a:ext uri="{FF2B5EF4-FFF2-40B4-BE49-F238E27FC236}">
                <a16:creationId xmlns:a16="http://schemas.microsoft.com/office/drawing/2014/main" id="{B168F0B9-2FF5-4887-8407-C0FE7A03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94A65AC7-4C23-4236-B861-FFD322D4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4F9960A-0BE5-42FA-BA8F-57C800D0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10F61E8C-983A-4D3F-A7F2-D1E8B670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B46BEBCA-7D05-400F-B797-B88D0C77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7748308-5CE8-4957-BEF1-F83039F8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90253A4-3997-4771-8999-BA6DB39B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ade-eyebrow">
            <a:extLst xmlns:a="http://schemas.openxmlformats.org/drawingml/2006/main">
              <a:ext uri="{FF2B5EF4-FFF2-40B4-BE49-F238E27FC236}">
                <a16:creationId xmlns:a16="http://schemas.microsoft.com/office/drawing/2014/main" id="{4674E58F-5271-4B4F-918B-10E69433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THEATRE SAFETY CERTIFICATION</a:t>
            </a:r>
          </a:p>
        </p:txBody>
      </p:sp>
      <p:sp>
        <p:nvSpPr>
          <p:cNvPr id="9" name="grade-title">
            <a:extLst xmlns:a="http://schemas.openxmlformats.org/drawingml/2006/main">
              <a:ext uri="{FF2B5EF4-FFF2-40B4-BE49-F238E27FC236}">
                <a16:creationId xmlns:a16="http://schemas.microsoft.com/office/drawing/2014/main" id="{3EBBFDAE-3B97-4485-89E7-09DEBEA7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GRADE 8</a:t>
            </a:r>
          </a:p>
        </p:txBody>
      </p:sp>
      <p:sp>
        <p:nvSpPr>
          <p:cNvPr id="10" name="grade-claim">
            <a:extLst xmlns:a="http://schemas.openxmlformats.org/drawingml/2006/main">
              <a:ext uri="{FF2B5EF4-FFF2-40B4-BE49-F238E27FC236}">
                <a16:creationId xmlns:a16="http://schemas.microsoft.com/office/drawing/2014/main" id="{7EAF3AFF-C153-4861-A3AA-91F569B2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Direct supervision starts with repeatable habits and clear communication.</a:t>
            </a:r>
          </a:p>
        </p:txBody>
      </p:sp>
      <p:sp>
        <p:nvSpPr>
          <p:cNvPr id="11" name="grade-stats">
            <a:extLst xmlns:a="http://schemas.openxmlformats.org/drawingml/2006/main">
              <a:ext uri="{FF2B5EF4-FFF2-40B4-BE49-F238E27FC236}">
                <a16:creationId xmlns:a16="http://schemas.microsoft.com/office/drawing/2014/main" id="{D681FE26-0796-4D6B-BB4B-61021437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ADB4"/>
                </a:solidFill>
                <a:latin typeface="Arial"/>
                <a:ea typeface="Arial"/>
                <a:cs typeface="Arial"/>
              </a:rPr>
              <a:t>10 MODULES  ·  72 TRAINING SECTIONS  ·  9 CLASSROOM CHECKS</a:t>
            </a:r>
          </a:p>
        </p:txBody>
      </p:sp>
      <p:sp>
        <p:nvSpPr>
          <p:cNvPr id="12" name="grade-accent">
            <a:extLst xmlns:a="http://schemas.openxmlformats.org/drawingml/2006/main">
              <a:ext uri="{FF2B5EF4-FFF2-40B4-BE49-F238E27FC236}">
                <a16:creationId xmlns:a16="http://schemas.microsoft.com/office/drawing/2014/main" id="{39F2E4B7-B4EC-4CD6-A252-BE5C3738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066800"/>
            <a:ext cx="1714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1">
            <a:extLst xmlns:a="http://schemas.openxmlformats.org/drawingml/2006/main">
              <a:ext uri="{FF2B5EF4-FFF2-40B4-BE49-F238E27FC236}">
                <a16:creationId xmlns:a16="http://schemas.microsoft.com/office/drawing/2014/main" id="{64A5F850-AB4F-47D4-B852-611FDFF7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2">
            <a:extLst xmlns:a="http://schemas.openxmlformats.org/drawingml/2006/main">
              <a:ext uri="{FF2B5EF4-FFF2-40B4-BE49-F238E27FC236}">
                <a16:creationId xmlns:a16="http://schemas.microsoft.com/office/drawing/2014/main" id="{4C8FCF8B-928D-481D-A20E-22462946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3">
            <a:extLst xmlns:a="http://schemas.openxmlformats.org/drawingml/2006/main">
              <a:ext uri="{FF2B5EF4-FFF2-40B4-BE49-F238E27FC236}">
                <a16:creationId xmlns:a16="http://schemas.microsoft.com/office/drawing/2014/main" id="{0A1B66B6-168E-40F0-9D31-D435C791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4">
            <a:extLst xmlns:a="http://schemas.openxmlformats.org/drawingml/2006/main">
              <a:ext uri="{FF2B5EF4-FFF2-40B4-BE49-F238E27FC236}">
                <a16:creationId xmlns:a16="http://schemas.microsoft.com/office/drawing/2014/main" id="{F037F9AB-B376-45F5-8F34-D2A5DC83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inbow-5">
            <a:extLst xmlns:a="http://schemas.openxmlformats.org/drawingml/2006/main">
              <a:ext uri="{FF2B5EF4-FFF2-40B4-BE49-F238E27FC236}">
                <a16:creationId xmlns:a16="http://schemas.microsoft.com/office/drawing/2014/main" id="{AD8B6379-AAA1-4A1D-B91A-AD230345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inbow-6">
            <a:extLst xmlns:a="http://schemas.openxmlformats.org/drawingml/2006/main">
              <a:ext uri="{FF2B5EF4-FFF2-40B4-BE49-F238E27FC236}">
                <a16:creationId xmlns:a16="http://schemas.microsoft.com/office/drawing/2014/main" id="{1CE1721E-EA0C-4D46-917F-FD26249A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inbow-7">
            <a:extLst xmlns:a="http://schemas.openxmlformats.org/drawingml/2006/main">
              <a:ext uri="{FF2B5EF4-FFF2-40B4-BE49-F238E27FC236}">
                <a16:creationId xmlns:a16="http://schemas.microsoft.com/office/drawing/2014/main" id="{49EE7A87-DEEF-4CC0-84D4-5D7630D4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51E313-AE7B-44B7-97D2-612F3AAC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63CEED4-E028-4CEA-85DB-694827F4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0175226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353FF9DA-D0BC-4F09-AB27-3E968986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55BC97F5-91EA-4E20-9710-B9DEF29F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308503C-B836-4E87-A1A9-749CF9DD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B8E03A93-A587-43E2-95D0-C54495EA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973A1946-791E-49FB-A9E0-DDA7291E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1E17C9FA-F513-4F77-814A-3DE38C58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39665086-B200-4B98-89D2-53B1EB1B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9E148D6-E7E1-4B34-8764-5FA511E1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155340F8-EB27-4ED3-93DC-88DE2398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3F694B2E-12A2-4CC0-A1A9-C20B96B0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92C9CF2-41B0-4FE0-90FD-F3367918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C3C0957-0106-4AD3-9CBB-EFA8CE8A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C04296F7-6291-4E2E-BAC5-A53F26D7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343A711-20A8-431E-A3CE-B3E238A0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AB43EDE-4C3E-41A5-8D6E-7B40D908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2DAF0B26-7CDC-4764-9C2F-338B307D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BC1314-D4B0-4C0C-95D8-3B29C80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01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F179730-A525-4440-A953-EFEEB8C4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57D3C875-B1B6-47BD-B9A7-BCBFFC46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01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737CF383-6996-4AE6-91B5-A9638756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57AA754D-79FE-4C4A-81E1-5B21740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Dress code, hazards, PPE, lifting, housekeeping, emergencies, and safety culture.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BF00C664-37D7-41B7-B6CF-EF9C4C20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CAFE2D89-C6AD-4473-B3EF-9EA206DC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46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Welcome to certification week: </a:t>
            </a:r>
            <a:r>
              <a:rPr sz="1725">
                <a:solidFill>
                  <a:srgbClr val="A9ADB4"/>
                </a:solidFill>
              </a:rPr>
              <a:t>This week you earn your shop certification - proof that you know every rule and every tool you’re responsible for at your grade level, including…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Dress for the shop: </a:t>
            </a:r>
            <a:r>
              <a:rPr sz="1725">
                <a:solidFill>
                  <a:srgbClr val="A9ADB4"/>
                </a:solidFill>
              </a:rPr>
              <a:t>Shop safety starts before you touch a tool - with what you’re wearing: Closed-toe shoes, every shop day.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Lifting &amp; carrying: </a:t>
            </a:r>
            <a:r>
              <a:rPr sz="1725">
                <a:solidFill>
                  <a:srgbClr val="A9ADB4"/>
                </a:solidFill>
              </a:rPr>
              <a:t>More shop injuries come from carrying than from cutting: Lift with your legs - squat, keep your back near-vertical, hug the load close, stand.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PPE without reminders: </a:t>
            </a:r>
            <a:r>
              <a:rPr sz="1725">
                <a:solidFill>
                  <a:srgbClr val="A9ADB4"/>
                </a:solidFill>
              </a:rPr>
              <a:t>You’ve been introduced to PPE - now the bar is higher: select and wear the correct PPE for the task without being reminded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Chemicals, SDS &amp; the eyewash station: </a:t>
            </a:r>
            <a:r>
              <a:rPr sz="1725">
                <a:solidFill>
                  <a:srgbClr val="A9ADB4"/>
                </a:solidFill>
              </a:rPr>
              <a:t>Paint, adhesives, solvents, and fog fluid are chemicals - and every chemical in the shop has a Safety Data Sheet (SDS) : The SDS binder lists each…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41ADB0D2-A9F1-4F04-B14E-4A60EA29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12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9961298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ainbow-1">
            <a:extLst xmlns:a="http://schemas.openxmlformats.org/drawingml/2006/main">
              <a:ext uri="{FF2B5EF4-FFF2-40B4-BE49-F238E27FC236}">
                <a16:creationId xmlns:a16="http://schemas.microsoft.com/office/drawing/2014/main" id="{AA7ADA28-BE95-4101-BD34-0214C464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19BAEFFD-BAB3-47F1-9807-D4CBC8B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83A6883-A982-492A-9029-96D2F05F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2082930A-B886-4A57-AA85-8BB3B95A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6D728330-AF2F-46A0-9EE8-C7FA6A38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1863B45-FF3E-4EBA-A83C-EACD1CF1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12BF87DC-EC97-4491-ADAF-DC11D36B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617F3C1-3621-49F3-A4C3-68C07EEA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82568FFA-4C49-46A6-839F-4C3F4DE7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A475C853-2D27-4270-A7C9-6B0ADC51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9A16337-7CC6-4DAD-ABFE-09467CE5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A4991645-DC31-42D8-8357-52087CA4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16D1B443-7E66-44E7-BC62-8D407916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D9C96E69-EF91-465F-B385-3B20DD7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D8D945EF-189F-493C-8277-3BEA8CEA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FA9B8F9F-1109-46BB-8321-AE317597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A033B5E-3425-4180-BF2A-AA7A8EB0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F7F8590-2572-44C0-94A0-472EF8E4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836DAE4F-BA8F-4563-913E-A962C7F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E109544-1DAC-4870-9313-79509DFD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the hazards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C248E767-0190-4836-A437-041B6FB5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5EC3DE75-B83E-440D-81A0-5D951FB8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Time to use that skill. Look around this shop and tap everything that’s a hazard - there are 5 .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3BAB1A89-54EF-4487-8225-6EA2A0B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5FF6C5D9-C69D-4922-86CF-E9AC69F1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Which items are hazards?</a:t>
            </a:r>
          </a:p>
        </p:txBody>
      </p:sp>
      <p:sp>
        <p:nvSpPr>
          <p:cNvPr id="25" name="question-items-1">
            <a:extLst xmlns:a="http://schemas.openxmlformats.org/drawingml/2006/main">
              <a:ext uri="{FF2B5EF4-FFF2-40B4-BE49-F238E27FC236}">
                <a16:creationId xmlns:a16="http://schemas.microsoft.com/office/drawing/2014/main" id="{10103A2B-EF1D-4C9D-ABDF-E91EA0B7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Extension cord run across the walkway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Hand saw left blade-up on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Boxes stacked in front of the exit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Open drink next to the work area</a:t>
            </a:r>
          </a:p>
        </p:txBody>
      </p:sp>
      <p:sp>
        <p:nvSpPr>
          <p:cNvPr id="26" name="question-items-2">
            <a:extLst xmlns:a="http://schemas.openxmlformats.org/drawingml/2006/main">
              <a:ext uri="{FF2B5EF4-FFF2-40B4-BE49-F238E27FC236}">
                <a16:creationId xmlns:a16="http://schemas.microsoft.com/office/drawing/2014/main" id="{62939FB8-A243-47DA-8D8A-4A0FF42A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Board with a nail sticking 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Safety glasses on the PPE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Fire extinguisher on its wall hook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 Swept floor, broom racked</a:t>
            </a:r>
          </a:p>
        </p:txBody>
      </p:sp>
    </p:spTree>
    <p:extLst>
      <p:ext uri="{BB962C8B-B14F-4D97-AF65-F5344CB8AC3E}">
        <p14:creationId xmlns:p14="http://schemas.microsoft.com/office/powerpoint/2010/main" val="687708745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6D85DCDF-73DB-4A7C-BCE0-15B8DE4B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057B01B-B8D2-436E-8B5E-439C3E18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8170461E-269F-449E-9239-82F4AECC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09A2B69D-99C2-4F94-A0E3-0FA75F43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922DC24-BCDF-4DA9-BA8F-E20C0E9A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F6BC829-468C-4BF1-94D3-665FC0AD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EC5A90F6-730C-4DBD-9489-0EAF76E6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6265A17B-B938-40DC-A1C8-9DF55966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CFB884AC-18FB-41C4-A11B-7307BC27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1B70F70B-ECAD-4990-9E0D-54784654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6469B8CA-B847-4A5C-9C28-91E9674D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E75A255-FA71-4E9F-8799-17272462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2353C3A-B52E-4390-951B-5BA8660D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3B40CE6-D525-4868-BBC0-05344D2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59EEF713-9383-4FE2-A5A2-DD7FBBA5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07EFD91-053F-4959-AA2C-C8F4F178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E4CC40-65CD-4E47-8FDD-7183C367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4ED29C9-8614-450E-AEAD-22E35CB9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103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3C56D82A-8356-4522-93C8-FA65ACBE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A19C2729-62B1-4A23-9EAF-8F0E21A2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Spot the hazards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01B4C577-53E4-4975-993B-C0DEC332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E250F428-840F-4945-B4E1-0E3C20BA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4E0F0544-F590-4FFF-9D5D-7AE9AFA1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HAZARDS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3455E2A8-EFCD-4497-9118-414F3EE1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Extension cord run across the walkway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Hand saw left blade-up on the 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Boxes stacked in front of the exit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Open drink next to the work area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Board with a nail sticking out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AE4FCCEB-4555-4F4F-80DB-ACFAE14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9D8CBB73-09DF-4CF4-B099-0D8D4000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SAFE / CORRECT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3393A0AE-8A2F-4F26-BFE0-6BEC667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Safety glasses on the PPE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Fire extinguisher on its wall hook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Swept floor, broom racked</a:t>
            </a:r>
          </a:p>
        </p:txBody>
      </p:sp>
    </p:spTree>
    <p:extLst>
      <p:ext uri="{BB962C8B-B14F-4D97-AF65-F5344CB8AC3E}">
        <p14:creationId xmlns:p14="http://schemas.microsoft.com/office/powerpoint/2010/main" val="934003752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0A66F8CB-8792-4560-A11D-514CAC9E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7309478B-98EE-41B3-B7A1-335C0D6D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823EEC6A-491C-4EB2-80FE-12772285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E029C367-A070-4E72-913C-9028DB5F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17DCD3C3-5A85-4483-A345-E071B33D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4588BE2-F426-4FB9-8115-A49C169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77B1E90-05AE-4510-A290-4704AB8B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B287BFA9-6924-41D5-B522-C1F32A5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A5196918-9DF3-4D6C-B021-35DE223E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36814E8C-8DDE-45CE-871C-8509AC3A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EC9ADFBB-39CF-484D-A6CE-AD0D90E3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0FFFCB4E-BBCE-4590-97AF-3A9FB956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B9669D91-A097-451D-B004-1043C9C0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A96B90E3-EFFD-4AF4-A4B7-5978C1E7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3C54FD1D-A2B7-498B-B811-09E1FC90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5F2CE4CF-5107-46CE-B083-4FF8DD6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6B08FD-C6D1-4DE6-8113-7CD465D7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02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2F9A4E3-4190-48F6-81C2-E3124E5C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13EE4C04-034B-4F15-A286-E4D9107B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02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C654061C-79F9-4FBB-9895-5FF6BE42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9603547C-266B-4350-8448-8FA67A1A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Alarms, exits, extinguisher classes, reporting a fire, and flammable storage.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00A6645F-DB07-446D-8E44-E850292F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B0EEFED1-9559-41A9-9759-FABAFD67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Alarms, drills &amp; exits: </a:t>
            </a:r>
            <a:r>
              <a:rPr sz="1725">
                <a:solidFill>
                  <a:srgbClr val="A9ADB4"/>
                </a:solidFill>
              </a:rPr>
              <a:t>Fire safety starts before there’s ever a fire: Know the fire bell/alarm and the fire-drill procedure for the shop and the theatre.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Reporting a fire: </a:t>
            </a:r>
            <a:r>
              <a:rPr sz="1725">
                <a:solidFill>
                  <a:srgbClr val="A9ADB4"/>
                </a:solidFill>
              </a:rPr>
              <a:t>If you discover a fire: Immediately notify the closest adult with the exact location and the nature of the fire (what’s burning).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Fire classes &amp; extinguishers: </a:t>
            </a:r>
            <a:r>
              <a:rPr sz="1725">
                <a:solidFill>
                  <a:srgbClr val="A9ADB4"/>
                </a:solidFill>
              </a:rPr>
              <a:t>Extinguishers match the fire - the wrong one can make it worse: Class A - wood, paper, cloth.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Flammables, rags &amp; finishes: </a:t>
            </a:r>
            <a:r>
              <a:rPr sz="1725">
                <a:solidFill>
                  <a:srgbClr val="A9ADB4"/>
                </a:solidFill>
              </a:rPr>
              <a:t>The scene shop makes its own fire hazards: Rags soaked with finish, stain, or solvent go in a covered metal container - oily rags in a pile can…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8C5DE528-2D81-422D-A856-2D2FF4B7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6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141520054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DA0F1371-FBF8-4355-8C5B-E4009C44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421689E-A51F-488F-AB54-B5409E41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1FF780B-D5BF-4474-A770-36CF1636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B2FBE281-6B7C-4BDD-BF6E-D8CB63A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56132452-B7AA-4FAB-99D9-3D8FEB99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68E9ED8-2703-4E91-B63D-A4588C89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D3A66D26-3F16-4976-9E99-045DAF3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636DD372-B6B4-473B-A7DA-8BAFD945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80B7F0BD-0735-4C81-9A7C-49386E3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25310EC-D60D-4BC5-A51A-263E0E5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6DBD807C-7A56-4D1C-91B4-E33316AF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B61B635-07AA-4ECD-AA49-0773038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63C55148-22FB-474A-BFA6-2B462FAE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D7DA7AB5-16BE-4F60-8EE2-979EA499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0248497-8969-4708-824F-D4FC4298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72EA8861-DC23-4DAE-8258-BCE049E3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D035B5B-C7AE-4F9B-8274-91E4182D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2103EDC-7D7A-48B3-8B9F-03845FAD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105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381C79FD-A7AB-40A9-B31F-73554157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3A02AEF-4D24-4F01-99F6-97D8E7D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Pick the extinguisher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39E56BA2-B9AE-48AB-A409-B1B6431A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0BA830E7-9C37-4B82-A235-53AA6B87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Match the fire to the response: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5444EF2C-A171-437A-BBF0-D33FB78B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46604CBC-0FA6-444F-8280-0469BBC9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Sort each item into:  Water works (Class A)  /   CO₂ / dry powder only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A20D5B73-A888-4CEC-A19B-B60713F5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Scrap lumber and paper burning in the bin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 dimmer rack sparking and smoking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Spilled paint thinner catches fire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Muslin scraps smoldering in the paint corner</a:t>
            </a:r>
          </a:p>
        </p:txBody>
      </p:sp>
    </p:spTree>
    <p:extLst>
      <p:ext uri="{BB962C8B-B14F-4D97-AF65-F5344CB8AC3E}">
        <p14:creationId xmlns:p14="http://schemas.microsoft.com/office/powerpoint/2010/main" val="661809321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934A5DD5-FC50-403E-A72A-3AEF471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D8E6752-3655-43C4-A10A-EC0C553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42E0DE27-1A47-497B-AF75-9A9B9933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1CE45302-41C3-41AB-BC23-058149A0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670F70A-4413-4AC7-9472-C5D3932F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8FCC3A66-CEEE-4F58-A296-85AF8DA5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BF0947FB-0576-4647-A12F-2D75E3AB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332DD13-626A-4CCD-A0F3-BF1CD10A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766742C1-DC8B-496B-BB8F-53063B97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A08C9B0A-2AFA-4288-9CE9-C0B04C6D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BE598F8F-44D9-4EF5-9BD0-3206AD9B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2BB9ED9C-5C60-4789-A0EF-AA2B282D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7968AF79-E1A0-4D7A-BB72-794C2667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9872DA9-AC74-4A61-A1A4-B3D592E7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13B5FE6-69CC-4B41-8D17-08611FA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9DF9582-C9B7-4235-B861-AA7DBB17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03A2B8-2DFD-4D43-B0F9-D09F8FB0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31E43C4-B05C-42AE-98C5-9E32D31B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106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429653CE-CB9D-462C-9A87-68C088C2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909D5325-8995-4BBC-8397-34D004B7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Pick the extinguisher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D64F9275-B1DB-4974-AF0A-92E8F45D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24AD6FD7-E88E-4C35-A5F0-4827BAA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EC4B6611-D2E0-4C14-81D7-0F809164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Water works (Class A)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DF1FBF44-DDB2-4AA8-B3F7-FC3D3FA8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Scrap lumber and paper burning in the bin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Muslin scraps smoldering in the paint corner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6C34B5B7-AF9A-45A9-9117-4E41C1F8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31BCCDF6-3721-4896-A672-ED259B6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CO₂ / dry powder only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EEBC45BD-A109-487D-8DBE-E79A1A0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A dimmer rack sparking and smoking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Spilled paint thinner catches fire</a:t>
            </a:r>
          </a:p>
        </p:txBody>
      </p:sp>
    </p:spTree>
    <p:extLst>
      <p:ext uri="{BB962C8B-B14F-4D97-AF65-F5344CB8AC3E}">
        <p14:creationId xmlns:p14="http://schemas.microsoft.com/office/powerpoint/2010/main" val="541674630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3FD51924-A7DF-4F6A-B25D-3AD19E83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CAECF3F0-8E0A-48F8-AC8F-9D914FB6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709F5A0-C94F-467B-BB3E-2F649A15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91BF99CF-5D3B-4BC6-B7C4-FE8D3548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01D864B2-EEFC-4923-B1A5-5FF0A21B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90FDC52-5FE8-47A7-8DA2-F216C78E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8EA7FB76-0454-4190-A213-0B9DB20E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372A646-D19E-46F8-97A0-8C5F233F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DFC53FD-3788-4DF2-8AE1-A3843AC1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3372F88E-9F1C-4147-86D9-88698596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B152C1A-0094-4D1D-8B12-FD0D612A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026C957A-0848-44F3-A08B-D51FFD76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CE56BFCB-A763-465F-A386-B2DBC5E0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F376B10E-12CF-46F3-9ECF-C8FF5E05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71F0ADC-3DD9-4AF9-BB6A-1E7C08B0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2EC99291-EF91-4B60-9833-475ED1C2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C67F93A-839D-45B8-B270-9417F28F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03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A0EC27A-422E-45E4-A0E5-88A211B9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B1CFF1D9-AAAC-4F9F-8D31-1AE131E4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03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277A5128-E817-4449-B9F1-D19C447F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74239F99-0C5B-4350-B80B-844F8C89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What’s new for you this year - and everything you carry forward.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BF213243-4B15-4072-B786-C7E75C1A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DE80B414-AF93-4DB5-B393-C1FE11C1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Grade 8 - Stagecraft: </a:t>
            </a:r>
            <a:r>
              <a:rPr sz="1725">
                <a:solidFill>
                  <a:srgbClr val="A9ADB4"/>
                </a:solidFill>
              </a:rPr>
              <a:t>This is the year power tools begin.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85BA342D-EE00-44CF-80A4-6D6EE16F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2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92970198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ainbow-1">
            <a:extLst xmlns:a="http://schemas.openxmlformats.org/drawingml/2006/main">
              <a:ext uri="{FF2B5EF4-FFF2-40B4-BE49-F238E27FC236}">
                <a16:creationId xmlns:a16="http://schemas.microsoft.com/office/drawing/2014/main" id="{11AF14A5-A4BF-4026-8097-F4DA469C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7F67651-1DBC-486B-BFBD-267812E1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4B68EE7-5D6C-4623-8C2B-665CF8E3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285BA7E5-94CE-4C83-9F2C-CD6A2A04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CA696A8-E310-4E04-8687-28635781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AE783F8-8448-45D4-8401-C1F1EDA6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935BC340-6403-4A4C-9BA6-EAE9970F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25F5CDB7-E955-4C59-BDEE-4967FAC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42662E61-9EB5-4E10-9AEB-3BC940D3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8860DE4-B96B-4C3D-9C31-28B4B980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974D4777-0B98-4EC6-A4D6-940A3A09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E0529388-221B-4804-B001-BC790959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C3FD1BFC-AB46-41B0-9C91-78F03073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7AC30A34-5612-4EAF-81CF-3089FC48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B43E265-A49D-4866-B630-5F4310F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034D6FFB-EA3A-4928-8942-63BE9CA7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BA4EE59-E9D3-4AE8-9EB4-D6E4E73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50267D5-456B-4388-9F40-977B11D0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044D3A37-AE3A-4E69-BBCD-8BFAB091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9FAFDAA-199C-47EE-81AE-CE490434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Cleared for you - or not yet?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CF5BCF01-73B4-46CB-AF15-9A065D16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CD295E8A-EF1C-4DB1-8D53-2422FE5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Which of these are you cleared to use at your grade level (after passing each tool’s safety orientation)?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399A2AB5-638B-4604-A807-8D53332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7B3B899D-EC40-44BC-87CF-01DA16F0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Sort each item into:  Cleared for me  /   Not yet</a:t>
            </a:r>
          </a:p>
        </p:txBody>
      </p:sp>
      <p:sp>
        <p:nvSpPr>
          <p:cNvPr id="25" name="question-items-1">
            <a:extLst xmlns:a="http://schemas.openxmlformats.org/drawingml/2006/main">
              <a:ext uri="{FF2B5EF4-FFF2-40B4-BE49-F238E27FC236}">
                <a16:creationId xmlns:a16="http://schemas.microsoft.com/office/drawing/2014/main" id="{8FBA5494-06DE-4EFC-9E33-305CBB93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Compound miter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Random orbital sander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Framing nailer</a:t>
            </a:r>
          </a:p>
        </p:txBody>
      </p:sp>
      <p:sp>
        <p:nvSpPr>
          <p:cNvPr id="26" name="question-items-2">
            <a:extLst xmlns:a="http://schemas.openxmlformats.org/drawingml/2006/main">
              <a:ext uri="{FF2B5EF4-FFF2-40B4-BE49-F238E27FC236}">
                <a16:creationId xmlns:a16="http://schemas.microsoft.com/office/drawing/2014/main" id="{8E4712ED-3D45-4E3B-916D-24971D47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Table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Band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Palm router</a:t>
            </a:r>
          </a:p>
        </p:txBody>
      </p:sp>
    </p:spTree>
    <p:extLst>
      <p:ext uri="{BB962C8B-B14F-4D97-AF65-F5344CB8AC3E}">
        <p14:creationId xmlns:p14="http://schemas.microsoft.com/office/powerpoint/2010/main" val="40532266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inbow-1">
            <a:extLst xmlns:a="http://schemas.openxmlformats.org/drawingml/2006/main">
              <a:ext uri="{FF2B5EF4-FFF2-40B4-BE49-F238E27FC236}">
                <a16:creationId xmlns:a16="http://schemas.microsoft.com/office/drawing/2014/main" id="{303FDDFA-55F2-4A6E-89C1-5499955D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E87D3C08-4452-4C04-BB2F-CC4E0E8C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A3560DF-066C-4FA8-AED6-69DA5E12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150265DD-4CCB-4036-B8F0-596A2C63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1C09DDE-7B34-48DE-91ED-0BD208E3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D51B861F-0823-47F6-9D19-29840D42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05B4943F-F5E2-4723-B4FD-4DB80AD8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885452DE-A815-473C-97BD-6663622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792D58B8-AF87-4198-884F-436F4055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BA0AD97C-2CA0-473A-B005-53D70E70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65CCF216-5DB4-4395-8783-D120C59A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942E696-0FA5-45EB-B012-65DA2209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F54335D-6F8A-49DE-BED5-61EFC18B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6BC8577-4B3E-48F8-8525-0D570E78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8CF99660-2228-45DC-B312-CAC5E32F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4562900-4A30-48F9-BA2D-C16B3B9A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2C0E986-E5DE-42AE-A5A2-D47151E6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C35090E-4407-46B5-B52B-9BEC6AAD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109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48066CDA-396F-44EA-8C00-0813BD71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95C80802-6663-42BE-BB2B-B2C77F35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Cleared for you - or not yet?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53B3871A-1D96-48EF-A547-102FE543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E6D5B0CC-EDA4-47DF-98D8-C421DDBA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84493B5A-7991-488E-A40B-9D4A4A1E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Cleared for me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3CF625DD-DE5E-4C9F-B71C-89D7F4BE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Compound miter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Random orbital sander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Framing nailer</a:t>
            </a:r>
          </a:p>
        </p:txBody>
      </p:sp>
      <p:sp>
        <p:nvSpPr>
          <p:cNvPr id="25" name="answer-accent-2">
            <a:extLst xmlns:a="http://schemas.openxmlformats.org/drawingml/2006/main">
              <a:ext uri="{FF2B5EF4-FFF2-40B4-BE49-F238E27FC236}">
                <a16:creationId xmlns:a16="http://schemas.microsoft.com/office/drawing/2014/main" id="{B4B28E5F-44BE-42D4-B67E-E64A44FF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nswer-heading-2">
            <a:extLst xmlns:a="http://schemas.openxmlformats.org/drawingml/2006/main">
              <a:ext uri="{FF2B5EF4-FFF2-40B4-BE49-F238E27FC236}">
                <a16:creationId xmlns:a16="http://schemas.microsoft.com/office/drawing/2014/main" id="{8DDF6731-7343-4298-A019-1E74E42B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Not yet</a:t>
            </a:r>
          </a:p>
        </p:txBody>
      </p:sp>
      <p:sp>
        <p:nvSpPr>
          <p:cNvPr id="27" name="answer-items-2">
            <a:extLst xmlns:a="http://schemas.openxmlformats.org/drawingml/2006/main">
              <a:ext uri="{FF2B5EF4-FFF2-40B4-BE49-F238E27FC236}">
                <a16:creationId xmlns:a16="http://schemas.microsoft.com/office/drawing/2014/main" id="{63E3B13A-468F-4B2C-B071-49D7119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6482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Table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Band saw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Palm router</a:t>
            </a:r>
          </a:p>
        </p:txBody>
      </p:sp>
    </p:spTree>
    <p:extLst>
      <p:ext uri="{BB962C8B-B14F-4D97-AF65-F5344CB8AC3E}">
        <p14:creationId xmlns:p14="http://schemas.microsoft.com/office/powerpoint/2010/main" val="1458251719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74EED0A1-45F8-4B26-AA91-A634E34C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75DC720-70EA-4488-86F2-53A4C556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28D0204-D992-4876-A790-87C3F46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2E472B6-85A4-4DF6-A0CC-B83A6F39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1293FE27-3DD6-46EB-B31A-34561FDA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E617BF4-F7A4-418C-8023-F232DB6E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0E448E3-050D-46BB-8895-1FEEF96C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E6880FD-296A-44BC-901C-6B6C49F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BC73A727-CB59-4877-A05A-80C4629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D0CEACDB-FDB6-455F-AC30-0ACBB5A0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EDE32B74-FF6F-4CB5-BBE2-BF924A78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5432603-67F5-4E01-91D6-21EDC8CE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331E8E4-70B2-42A5-9F4D-4179110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76071CA-0BE0-4928-9C64-6A2F7C3E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68F12C2B-80FD-445B-A0C7-8F088500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BBFC1222-8721-47C2-9D48-070C816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54DE41-4DD4-4DF3-94FC-F0DC152E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04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8E8AFA-B061-4E6F-9DB9-242FC5A3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84421572-6F0B-4639-8A4E-5A19BB81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04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A7F49CEC-D05A-4D0D-B718-EF29C6FD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1D755EFC-5123-4C99-92C6-528135EE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Tape measure, utility knife, squares, hammer, screwdrivers, hand saw - the tools everything else is built on.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7D8A51A0-0F15-4F43-B0DE-77103788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FF5AB372-78C8-4FFF-8920-5A17CA25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Measuring &amp; layout tools: </a:t>
            </a:r>
            <a:r>
              <a:rPr sz="1725">
                <a:solidFill>
                  <a:srgbClr val="A9ADB4"/>
                </a:solidFill>
              </a:rPr>
              <a:t>Even “safe” tools have rules: Tape measure - control the blade on the way back in; a spring-loaded steel edge returning at full speed can cut.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Utility knife: </a:t>
            </a:r>
            <a:r>
              <a:rPr sz="1725">
                <a:solidFill>
                  <a:srgbClr val="A9ADB4"/>
                </a:solidFill>
              </a:rPr>
              <a:t>The tool you’ll use most, and the one that sends the most people to the first-aid kit: • A sharp blade is safer than a dull one - it needs less force, so…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Hammer, screwdrivers &amp; hand saw: </a:t>
            </a:r>
            <a:r>
              <a:rPr sz="1725">
                <a:solidFill>
                  <a:srgbClr val="A9ADB4"/>
                </a:solidFill>
              </a:rPr>
              <a:t>Hammer - check the head is tight before swinging; clear your swing arc (people and your other hand); start nails with a light tap, fingers gone before…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Squares &amp; layout at the bench: </a:t>
            </a:r>
            <a:r>
              <a:rPr sz="1725">
                <a:solidFill>
                  <a:srgbClr val="A9ADB4"/>
                </a:solidFill>
              </a:rPr>
              <a:t>Layout tools earn their keep in Stagecraft: Speed square - your crosscut guide: hold it firm with your thumb up on its face, and run the saw along the…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7E32143A-231B-4D06-B1B2-66A6CF34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7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39050292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424FD123-5BA5-45AE-B1F5-B58DCCBF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817D388-2C75-40D2-B251-55E6167A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0AB24E5-6CE0-449C-984C-7A74096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CF1BC012-4432-4060-9470-F2F7EE23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20F4B4B-C558-474A-8CF5-598ABA3C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A51051D2-58A5-47EC-9244-3DF8486A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88599CA2-6291-48F5-B8E4-004601C6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4C662A2-875F-4CC2-96BC-B8780A40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9A08953F-349F-4882-94A9-9E008C46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C8C5031E-C1EB-40EF-AC37-008848C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BF334A39-EED4-45AE-81A0-089412B9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8905A73F-13A6-4CBD-90A1-63D4964E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1770491C-2143-41EA-8AF1-D09BED50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242F588-0FA3-4C8E-A9E7-A3095FCB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A0953E57-3240-4582-BFAF-7114268C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884D5E1-0D0A-4B1F-B084-E5390306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17AF497-D93B-4481-8768-FF7D2F7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918197D-CC66-40E5-A162-1C74EE54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254F6859-A216-45AC-BCC4-09C947AE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A4A4EDF-A08D-45C5-8CA1-EAB401AE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Change a utility-knife blade - in order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D38FBCC5-7476-49FB-AB4D-40AD9C78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9C46DEE3-D9FD-4E9A-A140-E9F02E6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Put a safe blade change in order. Tap the first step, then the next…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867ED93E-D600-4F9F-971E-F6A7A742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D7DE2017-CA69-4656-AFF7-5D37CF3B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Put the steps in the safest order.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C8015C23-E6EC-49C2-90D4-A8388573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12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Test the slider and lock before cutting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Seat the new blade and close the knife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Old blade goes into the taped sharps container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Open the knife and lift out the old blade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Retract the blade fully</a:t>
            </a:r>
          </a:p>
        </p:txBody>
      </p:sp>
    </p:spTree>
    <p:extLst>
      <p:ext uri="{BB962C8B-B14F-4D97-AF65-F5344CB8AC3E}">
        <p14:creationId xmlns:p14="http://schemas.microsoft.com/office/powerpoint/2010/main" val="61487084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C8E6031E-431E-46F5-B61F-8A46A38C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27A14AB-5F0B-41CF-AF30-FE4F754C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244356A5-A34E-4364-88FB-99CB497B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5DC77210-94B1-4A00-8ACB-5CB34858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F6D78760-D712-4637-8F17-1A7F8224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5D0B2D12-26A6-46AB-8FBB-7A5A1028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C9BACB3C-89E0-4389-A1B5-780AAF16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7D0ABA4-273F-4E24-AEC8-CE1EB7F9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1D596044-DFD9-4DC2-851B-F7B2883B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25C85EB1-9A7A-4ADE-BC49-B95EEF85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D73C5B3F-D000-4371-A872-F2411493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3FA0F4A9-F16B-4E30-BF30-F1B5580F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86C31F42-50B6-40BC-B044-378DFC16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0F41AA3-C8EE-4368-9CC6-CF0B2F0C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BF5D242F-DFA2-44A8-BB53-0871EC05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D00A2C8E-E81A-480F-A8D0-7A714F69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628A85-8BB0-4209-B3FC-DB984D08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283266B-8B82-4BFE-92D7-17D746CE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86229889-E680-4F39-8A0C-4229F0FB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CF34286D-6AE7-4213-8106-7F1DEF3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Change a utility-knife blade - in order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59EBA3D3-C410-4EA5-8908-99A1DB2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Hand Tools &amp; Knives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3003DA39-029D-41AC-B8BF-022ABBD8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26F574F2-CA89-4D59-9CA8-DF084176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ORDER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68DF2CD5-9F2A-4C58-B8E4-5EC21BCE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1. Retract the blade fully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2. Open the knife and lift out the old blade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3. Old blade goes into the taped sharps container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4. Seat the new blade and close the knife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5. Test the slider and lock before cutting</a:t>
            </a:r>
          </a:p>
        </p:txBody>
      </p:sp>
    </p:spTree>
    <p:extLst>
      <p:ext uri="{BB962C8B-B14F-4D97-AF65-F5344CB8AC3E}">
        <p14:creationId xmlns:p14="http://schemas.microsoft.com/office/powerpoint/2010/main" val="1196929633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D27BD2F5-58D4-4603-ADAD-923C65E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C6589DCE-83DE-45F3-A318-70A9B2F0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48A646C-04ED-491C-BA3F-6F5C6CDC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69789904-BFFA-45FD-A2D1-068B33B3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3276DAA7-8C18-4ECA-B69E-2D7CD65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E14DBFC2-5073-4A88-915B-42EB42CF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625ADBED-C2D1-42F1-82DE-49D9BBD2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AD88A03-E7A1-4030-A0E3-CD149225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5948DC7B-0539-4B45-9529-E4319963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1573D47E-D8B4-4DF1-8CAF-5DBA720C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E78F320A-4D03-410D-94BA-DF0027A0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C85EAB74-59F7-4B05-8D0C-CF52B3F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850CD3B7-3417-4456-B4F1-A06BE67F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0C768BA9-E02D-40ED-A881-A276C281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91F3E16C-36F9-4DEC-942D-516178D5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A5F26B4-1E7D-49B7-B4E1-9EFB16D5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0C2F095-9BDB-4012-8AEC-B04EA97D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05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35413E-DA26-46F2-AF59-AC2C7FAC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113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DF848327-1FE5-4B52-AA86-B3018A71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05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6585B877-2087-43D4-A098-21D2FD81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3FCC9714-2753-4E39-857F-01ECA8B9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Needles, pins, shears, papier-mâché &amp; armatures, the sewing machine, and the hot-wire foam knife.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223CAD22-61E7-47A6-8316-CFECB707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FD9C4AE5-076E-4C86-86E2-5B7AFE0F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Needles, pins &amp; hand sewing: </a:t>
            </a:r>
            <a:r>
              <a:rPr sz="1725">
                <a:solidFill>
                  <a:srgbClr val="A9ADB4"/>
                </a:solidFill>
              </a:rPr>
              <a:t>Small tools, real rules: Count your needles and pins out - and back in.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Scissors &amp; pattern tools: </a:t>
            </a:r>
            <a:r>
              <a:rPr sz="1725">
                <a:solidFill>
                  <a:srgbClr val="A9ADB4"/>
                </a:solidFill>
              </a:rPr>
              <a:t>Fabric shears are seriously sharp - that’s the point.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Papier-mâché &amp; armatures: </a:t>
            </a:r>
            <a:r>
              <a:rPr sz="1725">
                <a:solidFill>
                  <a:srgbClr val="A9ADB4"/>
                </a:solidFill>
              </a:rPr>
              <a:t>Props building has its own sharp ends: Cut armature wire with wire cutters, never scissors - scissors get ruined, and ruined tools slip.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63E8F330-3470-4D20-B0DE-CB63E0FC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4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55023322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DB6C9C24-70DC-4154-A0E1-D45FCB86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D5E72386-BB37-4666-8C3B-034EF02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1D7E315-A2BE-4E70-A898-25C470E1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6762B41F-9F5B-4CB3-9FA1-85E16130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AA32FB89-37B5-4F51-B392-B4C41AD7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358C9C2D-2D4A-48BE-A250-76164E95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E3B3994A-EFF6-4A48-92A6-D4136DCC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1FF5227-1B3A-4956-A5EF-08FC5B07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69546FA-1DBA-4925-9EC6-67FB1E40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557E5077-2636-4B58-89E5-5D7B5CE8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95407DD3-75E2-40E9-B58A-2D48FD93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6A72CE8-7F18-43BD-A834-00DBCF5D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31A0126A-D50C-432D-B85A-FD7C7556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EA858BCC-6818-499F-8613-F6C79E59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DE365EE4-F76F-4EBD-BB47-4EF37AA3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CFD0B36-5C7A-430B-9B88-D22CC811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C32A826-7F52-4D0A-A3A4-C3FD5C87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D392537-270C-4E68-8D07-E78C135D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B14A5D79-5354-4D59-BE2E-393827A9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377E0F8-49EB-418A-991C-91E5F30F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Wire ends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5055E2C3-7826-4306-A020-16678300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30F05AEB-ADC3-4055-9D12-3924EE37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just clipped an armature wire and the cut end sticks out at face height over the work table. What happens right now?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D7A274D-6555-49A6-8548-396EF37B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FD33B10B-FDBF-416C-B942-E357FD6C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79E58B00-554C-48BC-9FB1-26D20729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Finish the layer first, then deal with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Bend it back or tape it immediately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Point it out to the people nearby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Move your own face away from it</a:t>
            </a:r>
          </a:p>
        </p:txBody>
      </p:sp>
    </p:spTree>
    <p:extLst>
      <p:ext uri="{BB962C8B-B14F-4D97-AF65-F5344CB8AC3E}">
        <p14:creationId xmlns:p14="http://schemas.microsoft.com/office/powerpoint/2010/main" val="1357732718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3A9432F6-9937-421F-8190-EF3D045A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50EC59C-33F3-4750-AFDA-817C49D7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7294E99B-9B88-4AD5-9D9D-E11FDA08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B25246EB-C98C-4A7B-8969-ED771C58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FA372923-A9C0-47E0-B413-3BE1E695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1DE81A2-6274-4010-9629-C68151B6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DD6BD42E-0C47-4E6E-803F-CFBFE732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FB3E1595-E0F5-4AD2-B379-7D56C73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39E47318-85A4-479F-A01B-701D929A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31EF9CB3-C3CC-4551-930D-D1899CB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32257838-B19C-4E55-BE7F-D76B01FF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E283F73-09D2-401A-9C8D-9980E388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D1227B36-A596-4342-9640-AECAC94C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FE87C42F-8061-4B72-B7CD-DB8B4B83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EC5AB48A-AAA9-48E4-9C62-7B9D7237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94C27A5C-A22E-48F7-B03F-82F593FD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091DBBB-FF30-4FF9-B181-2AAC1DE1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6A963CA-559C-4065-A4AB-AD3E9D30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115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B8B9647B-0F85-4C8D-8313-2C5313B0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537B9174-AC94-49E8-B042-DBEDD134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Wire ends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957FF167-92BF-4D87-917B-D7BA2AD5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Costume &amp; Craft Tools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6E33B5C2-AB5D-489D-B5EF-E88CA45E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88415AAE-E742-403C-814A-D41931FD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75962D07-2575-4223-BF9A-968EB6A2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Bend it back or tape it immediately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BC62B5C1-512D-43DD-A326-DDD2650D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Wire ends at eye height don’t wait for cleanup time - they get bent back or capped the moment they exist.</a:t>
            </a:r>
          </a:p>
        </p:txBody>
      </p:sp>
    </p:spTree>
    <p:extLst>
      <p:ext uri="{BB962C8B-B14F-4D97-AF65-F5344CB8AC3E}">
        <p14:creationId xmlns:p14="http://schemas.microsoft.com/office/powerpoint/2010/main" val="1286242680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D92A95D2-75B7-415E-BD9C-C68963C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6308DAA0-3E9E-4708-A633-1195837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471420C9-C242-44C4-9F7C-8ED2135E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7A80AF80-3EA2-4FB7-934F-2F8FF79F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7FD001D-ADB4-43EC-AEE9-B5C188E1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D616F5C8-700A-4B7A-8315-E547B556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1F86C819-6460-4891-9C2E-B0F33B28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334E073D-D2F3-4082-A169-B1B39BB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6A55B387-F2FB-450E-A9B8-AB6D8494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9BF54A24-43D2-4013-8EE3-CD42DDEE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72C72D02-59DB-4F0A-A076-7162E5E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22E3CF35-E25B-4243-85C3-5983E9F8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5381E8D0-F1BF-49E7-A70B-B1389140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B5DF6AFE-02E8-4DB0-94B7-97B35933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20093FEB-33A3-4B7F-97DF-68A9374F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0AAC2525-7C4B-46E8-A921-438168E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3E4CBFC-A3B4-44CA-BD79-DA7DFB4A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06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CF77528-3B85-44F5-BA83-972051FF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A3849647-5499-49A9-B156-3EB1059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06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04A753A8-CC18-4562-A2DD-1A4CE30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919646C2-6DED-4049-A137-5CBFB699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The rules that cover every power and pneumatic tool, and your path to qualification.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6E399BE2-B72C-4524-8A2A-09DBF370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61AEACDE-3E43-4CA0-A6C9-463AB937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Rules that never change: </a:t>
            </a:r>
            <a:r>
              <a:rPr sz="1725">
                <a:solidFill>
                  <a:srgbClr val="A9ADB4"/>
                </a:solidFill>
              </a:rPr>
              <a:t>For every power and pneumatic tool, at every grade level: • Guards stay on and working.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Your path: orientation → supervision → independence: </a:t>
            </a:r>
            <a:r>
              <a:rPr sz="1725">
                <a:solidFill>
                  <a:srgbClr val="A9ADB4"/>
                </a:solidFill>
              </a:rPr>
              <a:t>Qualification is a ladder, and every tool has its own rung: 1⃣ Safety orientation (Grade 8) - you pass an orientation for each tool, then perform…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Cords, hoses &amp; your workspace: </a:t>
            </a:r>
            <a:r>
              <a:rPr sz="1725">
                <a:solidFill>
                  <a:srgbClr val="A9ADB4"/>
                </a:solidFill>
              </a:rPr>
              <a:t>The cable end of tool safety: The cord or hose stays behind the tool, never in the cut path - check before every cut, not after.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Clamp it, support it: </a:t>
            </a:r>
            <a:r>
              <a:rPr sz="1725">
                <a:solidFill>
                  <a:srgbClr val="A9ADB4"/>
                </a:solidFill>
              </a:rPr>
              <a:t>Most “tool accidents” are really workholding accidents : A clamp beats your strongest grip - and it never flinches.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Pneumatic power: the air rules: </a:t>
            </a:r>
            <a:r>
              <a:rPr sz="1725">
                <a:solidFill>
                  <a:srgbClr val="A9ADB4"/>
                </a:solidFill>
              </a:rPr>
              <a:t>The stapler and nailer run on compressed air, which adds rules of their own: • Treat every air tool as loaded.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D5F2B1A5-8608-4F2D-B5BD-D0EBF1B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8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305386780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67F5ECF6-468B-4B82-9169-EE974E8F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6F5229F5-2A5E-4D23-9D48-F4E885AD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CE6B1440-9470-4732-ABCD-500E9E1B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AAB3A19-ACAB-4ED9-8D34-55977504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A463BE4-F14B-4375-A07B-AC26F0A8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76FE34D5-BAC7-4794-BF32-94CB4257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80445BE-0FCD-4927-B719-33814553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AA7ADB58-0536-488F-9F80-1911F5B6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399669A-1A9C-46C3-BB6F-7DE9216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941B9ED9-2A24-4233-84C0-5682821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E0E27C0A-A037-47CE-90A4-2AFB15C6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E3FE9041-EC3B-4922-862E-39E41495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3EC5595C-43D9-4765-8D3C-93FEBFF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35AC99A0-3F3A-4C07-BDDF-D71621CE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2DC3F58-600D-475A-9043-C5314B1A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7F6508A-AB0E-4FB9-BAC5-5954DF42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FDD7AF8-D015-4A4F-B205-86D97090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CCEBA95-5A8A-43CA-9AB8-BB04D1AE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040376DC-DAB3-4AA1-8874-EDDB66A6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389D812-EC64-4FCB-A85F-BAD17B52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Set up a cut - in order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7F254D4F-0431-4BCD-B4CB-11A41581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56F5000F-533C-4BBD-B096-074E34C2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18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Put the steps of a safe power-tool cut in order. Tap the first step, then the next…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BF7783E4-7A43-4969-B2DD-9FCF094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01CC165D-3C27-42C9-8A26-14175E47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Put the steps in the safest order.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C05D498C-149B-4662-BAFC-CC082835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1265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Let the blade stop completely before reaching 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Make the cut with correct body 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Clear the work area and support your 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Check guards, blade, and cord or hose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Put on your PPE</a:t>
            </a:r>
          </a:p>
        </p:txBody>
      </p:sp>
    </p:spTree>
    <p:extLst>
      <p:ext uri="{BB962C8B-B14F-4D97-AF65-F5344CB8AC3E}">
        <p14:creationId xmlns:p14="http://schemas.microsoft.com/office/powerpoint/2010/main" val="199704917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C6DFAA8A-6A05-44DF-8E16-80D453C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0519AF3B-5EBD-45E5-95C8-7C2E9646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07600B15-F977-4CE0-94B3-A3C6B74E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608E73A-BE79-44B0-A2E9-61C3EF64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4F9EE913-3677-409A-892B-96DD8689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D4EC75E6-7A13-4DC9-B22B-4C8F4046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8CAA6B56-762F-40EE-91D0-27FEFECF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25CC5FF2-17A4-44C8-9DC2-DDBDB9A0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BAC17A10-23EE-48B0-BB41-786955A9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B53AF166-2AFD-46DB-A867-BE184765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5D155C12-129B-4BFD-B2E5-0324282F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106AD863-AD49-479D-96E9-01246E13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D7AE47A-542C-4EC1-80E0-9F133605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4C4F2319-5F9B-455C-B79A-3F9D0BAF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678EAB69-83AD-4733-AD00-380F61B6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117DB132-32BB-44EA-B090-52375E68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F1E48ED-2B37-4AB4-822E-B7927448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CLASSROOM CHECK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CEDFF3-8422-42D9-AE44-C0CA5DA1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118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DCEF4273-021A-4BC3-A2E5-7D88F9AD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2461C2D7-DB11-4C70-9CB7-91A316AE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Set up a cut - in order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BE464251-DA07-45BF-9A60-90047AAA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Power Tool Basics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F650E3C8-375D-4373-907A-331F1348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65F152E6-FA97-43B2-97D4-1B65EC71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ORDER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18656749-8445-4F5A-AD55-C0D552C8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1. Put on your PPE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2. Check guards, blade, and cord or hose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3. Clear the work area and support your stock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4. Make the cut with correct body 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5. Let the blade stop completely before reaching in</a:t>
            </a:r>
          </a:p>
        </p:txBody>
      </p:sp>
    </p:spTree>
    <p:extLst>
      <p:ext uri="{BB962C8B-B14F-4D97-AF65-F5344CB8AC3E}">
        <p14:creationId xmlns:p14="http://schemas.microsoft.com/office/powerpoint/2010/main" val="47873999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AA341EFE-D310-4991-9797-F9AEA0F7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B03FFDAC-9F58-4F42-8DE6-B4C561CD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BA9976EB-76A5-4ED3-9A63-D1278DA5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50686E02-D306-4E2A-98A5-EFBF2C70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04F15CED-3DFA-45E2-A752-C9423F3F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741E9D3-3AA4-4A1A-A332-E0A23C51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72B5E27A-D248-4D41-941B-03104B2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BBD6EBA0-3C94-4033-8BB3-44D4B7DD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9E1594F7-62FF-4C94-B2BB-6BC0AFF2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3FF9B074-CC2D-4BE6-9021-9F7753BD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F88E4BC7-AC88-419E-B041-C871AAA1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25C1795-27CA-4A54-82F9-518DABC1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81E94D0B-78C4-4FD0-A274-9FC19181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CCC4D971-A592-4320-ADFF-919BAA3A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6AB95A7-8E50-4D5F-B368-CEBD123C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1FD0A9E5-C19A-407F-9986-B128145A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BE49202-51FB-4BD5-9529-DE28C37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07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B951CCD-F9EF-471E-B573-B7407638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119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167E696C-2A34-4B51-944B-3EE278F1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07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FC5F4B48-CC8B-4578-BDE9-D561C055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Power Saws: Jigsaw, Miter, Panel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FD7072DA-C7EB-4E8C-AEC0-02359041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Tool-by-tool specifics for the three saws you qualified on in Stagecraft.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7622CE58-5F0E-48DF-9BD7-D2D3AA04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234ECF47-36D2-4EC6-A82F-C1A2446D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Jigsaw: </a:t>
            </a:r>
            <a:r>
              <a:rPr sz="1725">
                <a:solidFill>
                  <a:srgbClr val="A9ADB4"/>
                </a:solidFill>
              </a:rPr>
              <a:t>The curve-cutter.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Jigsaw - blades, curves &amp; cutouts: </a:t>
            </a:r>
            <a:r>
              <a:rPr sz="1725">
                <a:solidFill>
                  <a:srgbClr val="A9ADB4"/>
                </a:solidFill>
              </a:rPr>
              <a:t>Getting the cut you want, safely: Match the blade to the material - wood, metal, and scroll blades are different animals; the wrong one burns, wanders,…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Miter saw - angles &amp; short stock: </a:t>
            </a:r>
            <a:r>
              <a:rPr sz="1725">
                <a:solidFill>
                  <a:srgbClr val="A9ADB4"/>
                </a:solidFill>
              </a:rPr>
              <a:t>The setups that catch people: Set and lock the angle , then test on scrap - an unlocked table creeps mid-cut.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Panel saw: </a:t>
            </a:r>
            <a:r>
              <a:rPr sz="1725">
                <a:solidFill>
                  <a:srgbClr val="A9ADB4"/>
                </a:solidFill>
              </a:rPr>
              <a:t>The sheet-goods saw.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Rip vs crosscut - know your cut: </a:t>
            </a:r>
            <a:r>
              <a:rPr sz="1725">
                <a:solidFill>
                  <a:srgbClr val="A9ADB4"/>
                </a:solidFill>
              </a:rPr>
              <a:t>Two words you’ll hear every day in the shop: A crosscut goes across the grain - cutting a 2×4 to length.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DF50A758-B080-4008-9A57-1B8E826D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11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714422718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48827AC6-BE4E-4346-866A-D143D563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261AB0AD-EBD8-4C20-B355-C1CE5E6E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DF1ECB69-25CE-49EB-87B5-864C0CBD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D27DEEDF-7BA9-4210-AC3F-213F5B08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10623B63-D1FB-4289-B522-BA345DC9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682FFE9E-8CF5-4188-B0F3-06AE4A19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3C53516-952D-43CC-9331-49AF8826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405975B4-2823-44E0-A000-677CA04C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F18746E0-A940-48DA-A5E0-2AAD30D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0544E38-7AB5-4112-8057-B6537DFA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7D5A511-E955-42B9-9591-C512828C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C2FE4C40-CC21-42EA-A356-CF7E5AF3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E08A5D83-2413-4D82-8AEA-283009F1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1A0DAD35-D22B-44D7-AC23-8BEBEF16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856DFE70-32F9-4350-B07E-AD863407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225A38B7-D277-4145-A9CC-C4C9AD74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46A5C06-9300-4712-A80C-4D404705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08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EB86184-B84F-4B95-A90C-2CCB3A2F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D1CCF1AE-FBFF-4EC7-A430-17A7B94C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08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22B3BB9B-A78F-4992-ADC1-0B897A6C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Drivers, Sanders &amp; Nailers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2427712B-1023-4D9D-9FB3-48D4077C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Impact driver, random orbital sander, narrow crown stapler, and framing nailer.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4A274CE1-4803-4978-8CAF-EB22D394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CD0A5A2C-10A8-406C-BE04-BBCC06F2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Impact driver: </a:t>
            </a:r>
            <a:r>
              <a:rPr sz="1725">
                <a:solidFill>
                  <a:srgbClr val="A9ADB4"/>
                </a:solidFill>
              </a:rPr>
              <a:t>Small tool, huge torque.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Bits &amp; torque: </a:t>
            </a:r>
            <a:r>
              <a:rPr sz="1725">
                <a:solidFill>
                  <a:srgbClr val="A9ADB4"/>
                </a:solidFill>
              </a:rPr>
              <a:t>The details that separate clean driving from stripped screws: Right bit, right size - a PH2 in a PH3 screw strips both.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Random orbital sander: </a:t>
            </a:r>
            <a:r>
              <a:rPr sz="1725">
                <a:solidFill>
                  <a:srgbClr val="A9ADB4"/>
                </a:solidFill>
              </a:rPr>
              <a:t>The dust machine.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Grits &amp; technique: </a:t>
            </a:r>
            <a:r>
              <a:rPr sz="1725">
                <a:solidFill>
                  <a:srgbClr val="A9ADB4"/>
                </a:solidFill>
              </a:rPr>
              <a:t>Sanding well is sanding safely - fighting the tool is what causes slips: Work the grit ladder: 80 → 120 → 220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Stapler &amp; framing nailer: </a:t>
            </a:r>
            <a:r>
              <a:rPr sz="1725">
                <a:solidFill>
                  <a:srgbClr val="A9ADB4"/>
                </a:solidFill>
              </a:rPr>
              <a:t>You learned the air rules in Power Tool Basics - here are the gun-specific ones: • The contact safety tip on the nose is what stops accidental fires.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8E1DE493-E376-4DAA-A631-73824590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7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884505775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D1A5A2C8-968B-4133-B577-40516591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93255AEF-4C70-47D6-B04F-7D5EDB7A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51CD6F4-DE56-4986-85A2-60F06F46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606BD602-6543-4506-B3F3-C4D93128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8D4E5BAA-AEC5-4E17-B3A7-AE23E498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82E1479-8115-4014-93D9-12C8B07F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F592BC9-51F1-4405-AA21-E57A7729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6A234F38-906B-422B-B2CF-56E6ADD9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55014D0-6A5F-49E3-8777-A598189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95C9EA9E-32C8-4B1E-B180-68CE6F7C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BAA01D19-3C59-4061-A920-5D819469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42F1B284-4E50-4E69-9312-2283F0BB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215C3270-B094-4FCD-BCFD-CF50C56C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0B4951E-AD85-451A-A22D-1B82194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EF9B719-E319-4759-A72D-6DD3FFD9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8C8240D2-EC7B-4655-9BAA-84ABCB24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F170D97-BBAD-4522-AD9A-86526023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09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DB2D1F6-722E-40C0-97F3-0AC0EF19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121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7FC1F0F1-6BC0-4441-96D5-00FFF6CF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09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C2819E69-B901-4463-9684-559CF97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Lighting &amp; Electrics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B6DB2D8E-3874-4CB3-94A2-A6E06C27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Ladders, fixture hardware, gels &amp; gobos, cable care, hot focus, and electrical hazards.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DF9B7685-690F-4F17-9D98-27D58DC8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ADFFD65F-C949-40E4-ADBB-35CB2BFA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46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Ladders &amp; working at height: </a:t>
            </a:r>
            <a:r>
              <a:rPr sz="1725">
                <a:solidFill>
                  <a:srgbClr val="A9ADB4"/>
                </a:solidFill>
              </a:rPr>
              <a:t>Know the ladder and working-at-height rules and be able to state them: • A ladder is set on stable ground and steadied - never climbed alone in the shop.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Power, plugs &amp; equipment care: </a:t>
            </a:r>
            <a:r>
              <a:rPr sz="1725">
                <a:solidFill>
                  <a:srgbClr val="A9ADB4"/>
                </a:solidFill>
              </a:rPr>
              <a:t>The rules for anything with a plug - consoles, playback, monitors, practicals: Dry hands only on switches, plugs, and equipment - and never use…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Cable care &amp; over-under: </a:t>
            </a:r>
            <a:r>
              <a:rPr sz="1725">
                <a:solidFill>
                  <a:srgbClr val="A9ADB4"/>
                </a:solidFill>
              </a:rPr>
              <a:t>Cable is equipment, not rope: Coil over-under so it pays out flat without kinks - a kinked cable is a damaged cable waiting to happen.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Inspect before you use: </a:t>
            </a:r>
            <a:r>
              <a:rPr sz="1725">
                <a:solidFill>
                  <a:srgbClr val="A9ADB4"/>
                </a:solidFill>
              </a:rPr>
              <a:t>You now work safely at height and around circuits with general supervision 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Hot focus: </a:t>
            </a:r>
            <a:r>
              <a:rPr sz="1725">
                <a:solidFill>
                  <a:srgbClr val="A9ADB4"/>
                </a:solidFill>
              </a:rPr>
              <a:t>Refocusing fixtures that have been running is normal electrics work - done the right way: Gloves for a hot fixture - or kill the channel and let it cool.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7EACDEC6-07C0-4398-AF4B-1E61F629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9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732308450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nbow-1">
            <a:extLst xmlns:a="http://schemas.openxmlformats.org/drawingml/2006/main">
              <a:ext uri="{FF2B5EF4-FFF2-40B4-BE49-F238E27FC236}">
                <a16:creationId xmlns:a16="http://schemas.microsoft.com/office/drawing/2014/main" id="{C38B2F9E-9316-4CED-9264-49AB7622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D2BC7EE-21D9-4FE5-BFB9-B1427E0F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8DF5A61-F2ED-4C83-AC28-31FB517F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AF8368B-E452-45F5-86AB-D43099F7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440FF51-9B66-4471-9B17-B48B8A32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18A2C732-9FF3-446A-AE62-17146AF7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A633873B-58D9-4AF2-A1AD-02AF56C2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09BDCE70-D7AE-4AEB-86CF-B1E4B272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101A1FA7-76C1-4172-82A1-D1F50A95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9CE787A-6F00-4431-B5BD-90AD8626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AF43574C-C049-44D9-8179-8AE9CFC4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66DC1D8F-1DCA-42AC-A271-AD73C9DA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6017A99-F6B1-4186-82BB-C6C6ECAE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A2AD6E7F-9274-4A3D-A769-212131FA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18E9967F-1925-438A-A40F-A2C96B47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88724C7A-B880-4C0C-AA8C-96CCC599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C49508B-E632-491D-997B-2FECD2C2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MODULE 10 OF 10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3A85ACB-0CE8-4C62-B32A-58FC94C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122</a:t>
            </a:r>
          </a:p>
        </p:txBody>
      </p:sp>
      <p:sp>
        <p:nvSpPr>
          <p:cNvPr id="19" name="module-number">
            <a:extLst xmlns:a="http://schemas.openxmlformats.org/drawingml/2006/main">
              <a:ext uri="{FF2B5EF4-FFF2-40B4-BE49-F238E27FC236}">
                <a16:creationId xmlns:a16="http://schemas.microsoft.com/office/drawing/2014/main" id="{827FA3FE-0BF8-4BFA-929B-1217EC90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MODULE 10</a:t>
            </a:r>
          </a:p>
        </p:txBody>
      </p:sp>
      <p:sp>
        <p:nvSpPr>
          <p:cNvPr id="20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C8532578-A4A2-4C6F-8FDB-ACCF0D9B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72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Hearing &amp; Audio Safety</a:t>
            </a:r>
          </a:p>
        </p:txBody>
      </p:sp>
      <p:sp>
        <p:nvSpPr>
          <p:cNvPr id="21" name="module-blurb">
            <a:extLst xmlns:a="http://schemas.openxmlformats.org/drawingml/2006/main">
              <a:ext uri="{FF2B5EF4-FFF2-40B4-BE49-F238E27FC236}">
                <a16:creationId xmlns:a16="http://schemas.microsoft.com/office/drawing/2014/main" id="{CF53393B-89E8-43B3-BC0D-35CAC4BE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Hearing conservation, SPL awareness, and safe speaker handling.</a:t>
            </a:r>
          </a:p>
        </p:txBody>
      </p:sp>
      <p:sp>
        <p:nvSpPr>
          <p:cNvPr id="22" name="module-divider">
            <a:extLst xmlns:a="http://schemas.openxmlformats.org/drawingml/2006/main">
              <a:ext uri="{FF2B5EF4-FFF2-40B4-BE49-F238E27FC236}">
                <a16:creationId xmlns:a16="http://schemas.microsoft.com/office/drawing/2014/main" id="{91159D6D-F48D-4181-8A9C-B59172F4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7941E"/>
            </a:solidFill>
            <a:prstDash val="solid"/>
          </a:ln>
        </p:spPr>
      </p:sp>
      <p:sp>
        <p:nvSpPr>
          <p:cNvPr id="23" name="module-teaching-points">
            <a:extLst xmlns:a="http://schemas.openxmlformats.org/drawingml/2006/main">
              <a:ext uri="{FF2B5EF4-FFF2-40B4-BE49-F238E27FC236}">
                <a16:creationId xmlns:a16="http://schemas.microsoft.com/office/drawing/2014/main" id="{82CDD597-3E4B-4924-9E08-76C448AC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8191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Protect your hearing: </a:t>
            </a:r>
            <a:r>
              <a:rPr sz="1725">
                <a:solidFill>
                  <a:srgbClr val="A9ADB4"/>
                </a:solidFill>
              </a:rPr>
              <a:t>Sound level is measured as SPL (sound pressure level).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Headsets &amp; comms: </a:t>
            </a:r>
            <a:r>
              <a:rPr sz="1725">
                <a:solidFill>
                  <a:srgbClr val="A9ADB4"/>
                </a:solidFill>
              </a:rPr>
              <a:t>The “no earbuds in the shop” rule has a show-business nuance: Personal earbuds and headphones never belong in the work environment - they mask callouts,…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Fog, haze &amp; atmospherics: </a:t>
            </a:r>
            <a:r>
              <a:rPr sz="1725">
                <a:solidFill>
                  <a:srgbClr val="A9ADB4"/>
                </a:solidFill>
              </a:rPr>
              <a:t>Atmosphere looks like magic and behaves like a chemical plus a slip hazard: Use only approved fluids in fog and haze machines - the fluid’s SDS lives in…</a:t>
            </a:r>
          </a:p>
          <a:p xmlns:a="http://schemas.openxmlformats.org/drawingml/2006/main">
            <a:pPr marL="26" indent="-14">
              <a:spcAft>
                <a:spcPts val="11"/>
              </a:spcAft>
              <a:buChar char="•"/>
              <a:defRPr sz="1725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0F0"/>
                </a:solidFill>
              </a:rPr>
              <a:t>Handling &amp; rigging speakers: </a:t>
            </a:r>
            <a:r>
              <a:rPr sz="1725">
                <a:solidFill>
                  <a:srgbClr val="A9ADB4"/>
                </a:solidFill>
              </a:rPr>
              <a:t>Speakers are heavy, awkward, and often end up over people’s heads.</a:t>
            </a:r>
          </a:p>
        </p:txBody>
      </p:sp>
      <p:sp>
        <p:nvSpPr>
          <p:cNvPr id="24" name="module-section-count">
            <a:extLst xmlns:a="http://schemas.openxmlformats.org/drawingml/2006/main">
              <a:ext uri="{FF2B5EF4-FFF2-40B4-BE49-F238E27FC236}">
                <a16:creationId xmlns:a16="http://schemas.microsoft.com/office/drawing/2014/main" id="{631AE4CD-62A5-494A-881F-33BBCEE0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6 grade-level sections</a:t>
            </a:r>
          </a:p>
        </p:txBody>
      </p:sp>
    </p:spTree>
    <p:extLst>
      <p:ext uri="{BB962C8B-B14F-4D97-AF65-F5344CB8AC3E}">
        <p14:creationId xmlns:p14="http://schemas.microsoft.com/office/powerpoint/2010/main" val="1572339979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EA1475A6-2BC9-4D26-96B8-49D03F13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4BD2A78A-5C84-4E09-9BDF-4399ADEC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01A9A478-449A-4854-83EC-79775DBA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52D9A2B7-18B0-41C7-BBF4-A6BFA7D6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5F9AF6D7-EC24-4809-897F-70FB2757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4FC7FD82-AB92-4B84-A0B0-181D7C42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6FC30520-28EC-4D0D-B6F2-5DBDD5EA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3FA20C1D-AFDE-4973-89B0-689178D0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F4FED87B-A21B-46BF-B578-2F69820D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5D252DF-57EC-4C1F-A38F-0DC0A6B1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CB89BB00-0446-4E90-A52F-C72FA1B4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2CE36FB8-23A1-44C3-9F4D-22243EEF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66C95E99-EDD1-42B6-9B12-28499F26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BC8AECA9-4FC2-4FAD-B558-493A1370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CB14E948-4F86-40C5-A0AA-268BAC11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A8000193-98F3-46FA-B034-9E6F945B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6C5F5D7-12A3-4BD7-B833-47479D32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9F2FC89-B2FE-4DB0-9258-A648FA31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123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2B08CA2E-BE0B-4716-B8F4-185C44A6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220FAC2-174C-42DB-BE50-7D6DF823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B4F17A10-F963-4A11-B74B-03EF5F2C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F0BD9E4F-B7F6-4C77-AAE8-81B5C289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A task is going to fill the air with fine dust. Which PPE does that call for?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33D72B5-98CC-4ACA-89EC-479E4ADC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44EAA857-5E3E-4153-8ED4-4495B90E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C635EFEF-8483-406A-B2BD-40061BCF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Hearing protection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Dust protection, like a dust mask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Just safety glasses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Gloves</a:t>
            </a:r>
          </a:p>
        </p:txBody>
      </p:sp>
    </p:spTree>
    <p:extLst>
      <p:ext uri="{BB962C8B-B14F-4D97-AF65-F5344CB8AC3E}">
        <p14:creationId xmlns:p14="http://schemas.microsoft.com/office/powerpoint/2010/main" val="114768189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EE02DA6C-D70A-4767-913F-8493F27A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3BDE53BD-1490-422B-998C-ED8196ED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549946B8-5803-407D-8263-CCBD4E20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B5DAE7C2-BF52-41D2-8C2D-56593E79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20DF9685-36E4-4875-9186-DA255428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EF88B021-571B-476C-B98F-441EF470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64D816A-3374-475C-9AAF-0EC197C6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81DC1DF5-A916-449B-A99A-4E4D413A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496A2AEE-E96F-4B55-86F4-02333369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7BEE1879-B525-48D6-997E-1E5553EC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69CDD21B-0335-4431-A6E4-FFD9E198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D60E0B41-63B9-4DE2-A907-20F9F418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99EC96E3-B72A-413F-96A7-4E4E52E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F7529283-9440-44D7-8034-2B5B718F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7A033283-6A52-42EC-8800-CEFC275B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BD36FC20-71E1-4FF6-A69A-E7FF160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800EAAE-4127-4D6F-9BE5-180759FB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60B5087-BCC9-4083-8D7F-D5730533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124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916A2447-B4B1-492F-BC24-72D0A123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0ADB1B26-BF0F-403A-BF5E-5996B1A7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DD527D47-366F-468C-88BF-8D7B8231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Shop Safety &amp; PPE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9AA46C06-7CAD-455F-85FB-B000393F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E95C23EE-B9A0-402F-904B-49199D62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F79DCC84-691E-4EF7-8C43-BD69BB3E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Dust protection, like a dust mask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BD5169B7-CF47-45BC-970D-4BDE2E9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Dust protection is required whenever a task puts fine dust in the air; safety glasses and hearing protection guard against different hazards.</a:t>
            </a:r>
          </a:p>
        </p:txBody>
      </p:sp>
    </p:spTree>
    <p:extLst>
      <p:ext uri="{BB962C8B-B14F-4D97-AF65-F5344CB8AC3E}">
        <p14:creationId xmlns:p14="http://schemas.microsoft.com/office/powerpoint/2010/main" val="668647035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12E1399B-7FF9-4FB5-A541-A81CC1C4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1A8770C7-AB7A-4E44-B5D3-74675F8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B8D047D7-96CA-41FD-B781-49087B11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0C91D15-9CC6-4098-AFC2-6A33E2B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5635A12D-B53C-4453-92AC-25B69A78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98EA730A-AE95-4B53-A038-170B9A13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613E0243-C263-4DF1-9848-F2556B82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1F73C637-A5FB-4365-87D4-3F1B8239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28458D56-5957-4978-8243-94277550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89B632D3-CBCC-498A-9BA8-E51C9F2A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445BC0BB-CCA2-4267-8AEC-4793D9AC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F42011E9-A783-429A-82D5-5EEA9C5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FDC44FAE-20AF-46C3-9389-64867D73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30255F66-3672-4AC5-834C-E94339ED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5C1CE9DA-5B0E-40CF-9878-C81DCBFC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C5A40288-904B-415E-82D2-3F46C3FD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C0A889-3A50-41A3-9B45-93CA68E2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CF8F4CB-CBA6-4B72-9133-886F018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125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B2DFD683-F374-42DB-80EE-8EADF9FC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317B12F-C95F-4ADA-971F-24E18B02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C2EE93DE-05FB-492A-80D0-1F0B41BE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10DD62A4-9988-4199-9792-04AC3277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You discover a fire in the scene shop. What do you do first?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EBD9161C-B86B-4126-989D-4A0462A3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494396F2-8CF5-4ED9-BA64-3CB910B6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F117FE3A-A065-4CB8-B03C-1730AB43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Shout “Fire!” as loudly as possible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Immediately notify the closest adult with the exact location and what’s burning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Look for a bucket of water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Open the doors for ventilation</a:t>
            </a:r>
          </a:p>
        </p:txBody>
      </p:sp>
    </p:spTree>
    <p:extLst>
      <p:ext uri="{BB962C8B-B14F-4D97-AF65-F5344CB8AC3E}">
        <p14:creationId xmlns:p14="http://schemas.microsoft.com/office/powerpoint/2010/main" val="1430387821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75ED21AB-9150-4594-8D9B-FCE0E5B4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625BE7C4-D037-4169-A37F-B301ADD9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30A872A4-3E0E-4226-BC1E-5D5BBFD8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DB8CF5A3-8446-4136-BEE7-081A7C55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CF40D1E7-ABA4-4672-AAD4-AA05B3E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8A4AE8EB-3A72-4EBC-8781-AF0AE4E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191C29CD-7A2C-4FE5-AD0A-500871EB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B6E7E823-88C4-4CC8-8937-DEBEA355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8D2A0FBD-8901-44ED-95DF-1B2D177D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478A15C2-D6A4-4C9C-A92F-E82E0253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14CAA9D8-CDA7-4BFC-B7C1-46D67BCA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BAD5A4AF-5155-4D59-BDED-648519AE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108792CD-1B57-4A80-9969-DFA212FF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A9B8042-8AB7-427C-9C45-8323BEAF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873FA791-534D-4ADA-9156-AFC43618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4497B73C-3ED3-4147-8571-C4CB15FB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80F942-6700-4F96-9AE6-AD12E579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2C88E0A-82B4-44CE-BF15-6C2BEC6B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126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8DAE39E0-9781-4CD1-8E17-068AE67D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F7935389-CA63-4F4F-9378-179E17E3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D3D404FD-931A-44BE-9C5A-AE335C5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Fire Safety &amp; Emergencies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3FCCA4FA-996D-4798-9FB5-2CBC2EAD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473E5994-63B5-4941-8F36-00BF31C1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FCE76D6D-DE73-428D-99FA-23C10126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Immediately notify the closest adult with the exact location and what’s burning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C00D9D7B-E2F2-4514-9C10-DDC146D5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Exact location and the nature of the fire, to the nearest adult - and never a panic shout in a crowded space.</a:t>
            </a:r>
          </a:p>
        </p:txBody>
      </p:sp>
    </p:spTree>
    <p:extLst>
      <p:ext uri="{BB962C8B-B14F-4D97-AF65-F5344CB8AC3E}">
        <p14:creationId xmlns:p14="http://schemas.microsoft.com/office/powerpoint/2010/main" val="392795851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B039F27B-BF32-47D8-AA4E-46BA1958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8DDB14F6-4E97-45F2-9A92-B8BC940C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08DE7C9F-5E01-4929-A3F8-00A894CA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096459D0-8C4F-4FDB-8CA7-4712D53D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716B7E37-CED2-4F08-B7D7-7742333B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0C461315-8D82-44C4-A1D6-B667D471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2D3CC94B-D38E-4CC7-A007-A1755C16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725B538A-BA51-4932-86F6-F0EE2494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DC3CD81D-A0FA-4EB6-B9D6-864FC4AB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5FCAB9E-17B8-4281-A6BC-4E8519F1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78F3A803-223F-44E6-A3F0-4F38FFD2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59350C70-5A0A-49B2-8495-D2628C06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4E88743A-CB5D-45C6-86FF-78ACC8E9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9966F672-003A-403A-973A-8FEB4D2F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4A97EAEB-E7ED-453F-A6E3-F3EC4353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E835359B-4A7D-4F91-943A-AD072AA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2CE55CD-D349-4374-A526-640A43C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213F19-92AD-4D0A-94C0-005D79F1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127</a:t>
            </a:r>
          </a:p>
        </p:txBody>
      </p:sp>
      <p:sp>
        <p:nvSpPr>
          <p:cNvPr id="19" name="question-kicker">
            <a:extLst xmlns:a="http://schemas.openxmlformats.org/drawingml/2006/main">
              <a:ext uri="{FF2B5EF4-FFF2-40B4-BE49-F238E27FC236}">
                <a16:creationId xmlns:a16="http://schemas.microsoft.com/office/drawing/2014/main" id="{041EFF35-146D-43BF-AF78-D439FDF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ASK THE ROOM</a:t>
            </a:r>
          </a:p>
        </p:txBody>
      </p:sp>
      <p:sp>
        <p:nvSpPr>
          <p:cNvPr id="20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E6A67E6-4D69-4444-B0E0-943B8173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question-module">
            <a:extLst xmlns:a="http://schemas.openxmlformats.org/drawingml/2006/main">
              <a:ext uri="{FF2B5EF4-FFF2-40B4-BE49-F238E27FC236}">
                <a16:creationId xmlns:a16="http://schemas.microsoft.com/office/drawing/2014/main" id="{0710335A-DDA3-4479-BC73-29987B69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FD917B13-6058-4749-926A-BAEA837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Before using any power or pneumatic tool for the first time, you must…</a:t>
            </a:r>
          </a:p>
        </p:txBody>
      </p:sp>
      <p:sp>
        <p:nvSpPr>
          <p:cNvPr id="2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9B5F85B6-9215-4C7D-946E-ED4687C9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24" name="question-instruction">
            <a:extLst xmlns:a="http://schemas.openxmlformats.org/drawingml/2006/main">
              <a:ext uri="{FF2B5EF4-FFF2-40B4-BE49-F238E27FC236}">
                <a16:creationId xmlns:a16="http://schemas.microsoft.com/office/drawing/2014/main" id="{52631B7A-01A6-43E5-9219-81124138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Choose the safest response.</a:t>
            </a:r>
          </a:p>
        </p:txBody>
      </p:sp>
      <p:sp>
        <p:nvSpPr>
          <p:cNvPr id="25" name="question-items">
            <a:extLst xmlns:a="http://schemas.openxmlformats.org/drawingml/2006/main">
              <a:ext uri="{FF2B5EF4-FFF2-40B4-BE49-F238E27FC236}">
                <a16:creationId xmlns:a16="http://schemas.microsoft.com/office/drawing/2014/main" id="{B5D3A183-7ABF-4B10-8672-F4ED66E0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A. Watch one other student use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B. Pass a safety orientation for that specific tool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C. Just start on scrap wood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9ADB4"/>
                </a:solidFill>
                <a:latin typeface="Arial"/>
                <a:ea typeface="Arial"/>
                <a:cs typeface="Arial"/>
              </a:rPr>
              <a:t>• D. Get permission from any older student</a:t>
            </a:r>
          </a:p>
        </p:txBody>
      </p:sp>
    </p:spTree>
    <p:extLst>
      <p:ext uri="{BB962C8B-B14F-4D97-AF65-F5344CB8AC3E}">
        <p14:creationId xmlns:p14="http://schemas.microsoft.com/office/powerpoint/2010/main" val="424851126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nbow-1">
            <a:extLst xmlns:a="http://schemas.openxmlformats.org/drawingml/2006/main">
              <a:ext uri="{FF2B5EF4-FFF2-40B4-BE49-F238E27FC236}">
                <a16:creationId xmlns:a16="http://schemas.microsoft.com/office/drawing/2014/main" id="{3E35B9F7-A9C6-49F9-8EC2-9EE1457A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AD2B1E8E-55A3-42DD-83E0-15FA1B8A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A801A8D-75A4-4073-8C53-D636B12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85E04CF0-9F0C-49DA-8685-B01DEAEE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B371E963-5A4F-4766-BA33-DFA4F4B7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22DC36FC-5CE2-47A6-A0F2-87C591EC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16EADB14-D6BB-4145-A41F-3B9C9168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59F9DAD1-9F73-46E0-B805-8920D47C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22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22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22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22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header-label">
            <a:extLst xmlns:a="http://schemas.openxmlformats.org/drawingml/2006/main">
              <a:ext uri="{FF2B5EF4-FFF2-40B4-BE49-F238E27FC236}">
                <a16:creationId xmlns:a16="http://schemas.microsoft.com/office/drawing/2014/main" id="{33A21984-0470-4318-9B24-B424E74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DESIGN &amp; PRODUCTION · GRADE 8</a:t>
            </a:r>
          </a:p>
        </p:txBody>
      </p:sp>
      <p:sp>
        <p:nvSpPr>
          <p:cNvPr id="10" name="rainbow-1">
            <a:extLst xmlns:a="http://schemas.openxmlformats.org/drawingml/2006/main">
              <a:ext uri="{FF2B5EF4-FFF2-40B4-BE49-F238E27FC236}">
                <a16:creationId xmlns:a16="http://schemas.microsoft.com/office/drawing/2014/main" id="{EB1DFAC9-EA20-4478-8D07-EC8AFECB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nbow-2">
            <a:extLst xmlns:a="http://schemas.openxmlformats.org/drawingml/2006/main">
              <a:ext uri="{FF2B5EF4-FFF2-40B4-BE49-F238E27FC236}">
                <a16:creationId xmlns:a16="http://schemas.microsoft.com/office/drawing/2014/main" id="{5762064F-ED4C-4BD1-9D07-ED02049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inbow-3">
            <a:extLst xmlns:a="http://schemas.openxmlformats.org/drawingml/2006/main">
              <a:ext uri="{FF2B5EF4-FFF2-40B4-BE49-F238E27FC236}">
                <a16:creationId xmlns:a16="http://schemas.microsoft.com/office/drawing/2014/main" id="{564CE8F2-DFDC-4CB4-BF52-720E98C3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4">
            <a:extLst xmlns:a="http://schemas.openxmlformats.org/drawingml/2006/main">
              <a:ext uri="{FF2B5EF4-FFF2-40B4-BE49-F238E27FC236}">
                <a16:creationId xmlns:a16="http://schemas.microsoft.com/office/drawing/2014/main" id="{0E5CE93F-FFFD-49E2-8E1E-C23FBFB7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5">
            <a:extLst xmlns:a="http://schemas.openxmlformats.org/drawingml/2006/main">
              <a:ext uri="{FF2B5EF4-FFF2-40B4-BE49-F238E27FC236}">
                <a16:creationId xmlns:a16="http://schemas.microsoft.com/office/drawing/2014/main" id="{8F9722A4-054A-4CE7-B4CD-89FFA365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6">
            <a:extLst xmlns:a="http://schemas.openxmlformats.org/drawingml/2006/main">
              <a:ext uri="{FF2B5EF4-FFF2-40B4-BE49-F238E27FC236}">
                <a16:creationId xmlns:a16="http://schemas.microsoft.com/office/drawing/2014/main" id="{BD3859DE-7860-4AAB-835A-12E9E4F1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7">
            <a:extLst xmlns:a="http://schemas.openxmlformats.org/drawingml/2006/main">
              <a:ext uri="{FF2B5EF4-FFF2-40B4-BE49-F238E27FC236}">
                <a16:creationId xmlns:a16="http://schemas.microsoft.com/office/drawing/2014/main" id="{3BE184AF-1705-4A98-91D1-37743F60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E575051-B22E-4ED7-B777-4F762EF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GRADE 8 · TEST REVIEW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8135623-EC72-4B48-8BB8-FED82C7F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7941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941E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19" name="answer-kicker">
            <a:extLst xmlns:a="http://schemas.openxmlformats.org/drawingml/2006/main">
              <a:ext uri="{FF2B5EF4-FFF2-40B4-BE49-F238E27FC236}">
                <a16:creationId xmlns:a16="http://schemas.microsoft.com/office/drawing/2014/main" id="{2F488639-B863-4E09-ACB6-D3DDC183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0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8D2790AB-FB72-4586-B67D-970DDC84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test check</a:t>
            </a:r>
          </a:p>
        </p:txBody>
      </p:sp>
      <p:sp>
        <p:nvSpPr>
          <p:cNvPr id="21" name="answer-module">
            <a:extLst xmlns:a="http://schemas.openxmlformats.org/drawingml/2006/main">
              <a:ext uri="{FF2B5EF4-FFF2-40B4-BE49-F238E27FC236}">
                <a16:creationId xmlns:a16="http://schemas.microsoft.com/office/drawing/2014/main" id="{756E8323-87A8-40F5-A2CC-CF90DBA7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Your Tools This Year</a:t>
            </a:r>
          </a:p>
        </p:txBody>
      </p:sp>
      <p:sp>
        <p:nvSpPr>
          <p:cNvPr id="22" name="answer-accent-1">
            <a:extLst xmlns:a="http://schemas.openxmlformats.org/drawingml/2006/main">
              <a:ext uri="{FF2B5EF4-FFF2-40B4-BE49-F238E27FC236}">
                <a16:creationId xmlns:a16="http://schemas.microsoft.com/office/drawing/2014/main" id="{1725CF3B-EE51-4DC1-9402-9A96BF4B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swer-heading-1">
            <a:extLst xmlns:a="http://schemas.openxmlformats.org/drawingml/2006/main">
              <a:ext uri="{FF2B5EF4-FFF2-40B4-BE49-F238E27FC236}">
                <a16:creationId xmlns:a16="http://schemas.microsoft.com/office/drawing/2014/main" id="{344D13C0-D289-45FF-BF32-39816A84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CORRECT ANSWER</a:t>
            </a:r>
          </a:p>
        </p:txBody>
      </p:sp>
      <p:sp>
        <p:nvSpPr>
          <p:cNvPr id="24" name="answer-items-1">
            <a:extLst xmlns:a="http://schemas.openxmlformats.org/drawingml/2006/main">
              <a:ext uri="{FF2B5EF4-FFF2-40B4-BE49-F238E27FC236}">
                <a16:creationId xmlns:a16="http://schemas.microsoft.com/office/drawing/2014/main" id="{75F2DB6A-97B7-4ACB-908C-C6BB19C3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1015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800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0F0F0"/>
                </a:solidFill>
                <a:latin typeface="Arial"/>
                <a:ea typeface="Arial"/>
                <a:cs typeface="Arial"/>
              </a:rPr>
              <a:t>• Pass a safety orientation for that specific tool</a:t>
            </a:r>
          </a:p>
        </p:txBody>
      </p:sp>
      <p:sp>
        <p:nvSpPr>
          <p:cNvPr id="25" name="answer-why-1">
            <a:extLst xmlns:a="http://schemas.openxmlformats.org/drawingml/2006/main">
              <a:ext uri="{FF2B5EF4-FFF2-40B4-BE49-F238E27FC236}">
                <a16:creationId xmlns:a16="http://schemas.microsoft.com/office/drawing/2014/main" id="{0E7046F6-AA47-4DF9-9140-462CD8A5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5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>
              <a:defRPr sz="1500" b="0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ADB4"/>
                </a:solidFill>
                <a:latin typeface="Arial"/>
                <a:ea typeface="Arial"/>
                <a:cs typeface="Arial"/>
              </a:rPr>
              <a:t>Every power and pneumatic tool requires passing its own safety orientation before you use it.</a:t>
            </a:r>
          </a:p>
        </p:txBody>
      </p:sp>
    </p:spTree>
    <p:extLst>
      <p:ext uri="{BB962C8B-B14F-4D97-AF65-F5344CB8AC3E}">
        <p14:creationId xmlns:p14="http://schemas.microsoft.com/office/powerpoint/2010/main" val="1294030981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inbow-1">
            <a:extLst xmlns:a="http://schemas.openxmlformats.org/drawingml/2006/main">
              <a:ext uri="{FF2B5EF4-FFF2-40B4-BE49-F238E27FC236}">
                <a16:creationId xmlns:a16="http://schemas.microsoft.com/office/drawing/2014/main" id="{3CC48596-8FDA-4896-A999-AFF9AAB6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inbow-2">
            <a:extLst xmlns:a="http://schemas.openxmlformats.org/drawingml/2006/main">
              <a:ext uri="{FF2B5EF4-FFF2-40B4-BE49-F238E27FC236}">
                <a16:creationId xmlns:a16="http://schemas.microsoft.com/office/drawing/2014/main" id="{F67DA4AB-AC9A-4BF7-9E73-2A8CF23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ainbow-3">
            <a:extLst xmlns:a="http://schemas.openxmlformats.org/drawingml/2006/main">
              <a:ext uri="{FF2B5EF4-FFF2-40B4-BE49-F238E27FC236}">
                <a16:creationId xmlns:a16="http://schemas.microsoft.com/office/drawing/2014/main" id="{ED4B2188-C2FB-4A86-AE39-CE2C91B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ainbow-4">
            <a:extLst xmlns:a="http://schemas.openxmlformats.org/drawingml/2006/main">
              <a:ext uri="{FF2B5EF4-FFF2-40B4-BE49-F238E27FC236}">
                <a16:creationId xmlns:a16="http://schemas.microsoft.com/office/drawing/2014/main" id="{416B105C-EE3C-4C66-963D-8C7846DE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inbow-5">
            <a:extLst xmlns:a="http://schemas.openxmlformats.org/drawingml/2006/main">
              <a:ext uri="{FF2B5EF4-FFF2-40B4-BE49-F238E27FC236}">
                <a16:creationId xmlns:a16="http://schemas.microsoft.com/office/drawing/2014/main" id="{9CF9C928-B628-46B0-9FE9-4644A675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ainbow-6">
            <a:extLst xmlns:a="http://schemas.openxmlformats.org/drawingml/2006/main">
              <a:ext uri="{FF2B5EF4-FFF2-40B4-BE49-F238E27FC236}">
                <a16:creationId xmlns:a16="http://schemas.microsoft.com/office/drawing/2014/main" id="{FE6A72F3-0ED5-4B77-A9B9-88C1E3DF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inbow-7">
            <a:extLst xmlns:a="http://schemas.openxmlformats.org/drawingml/2006/main">
              <a:ext uri="{FF2B5EF4-FFF2-40B4-BE49-F238E27FC236}">
                <a16:creationId xmlns:a16="http://schemas.microsoft.com/office/drawing/2014/main" id="{F1E022C2-87C4-46C8-BD1F-219FADEC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dscpa-wordmark">
            <a:extLst xmlns:a="http://schemas.openxmlformats.org/drawingml/2006/main">
              <a:ext uri="{FF2B5EF4-FFF2-40B4-BE49-F238E27FC236}">
                <a16:creationId xmlns:a16="http://schemas.microsoft.com/office/drawing/2014/main" id="{89482A03-64FD-49D6-AF54-7845F7EF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0F0"/>
                </a:solidFill>
                <a:latin typeface="Arial Black"/>
                <a:ea typeface="Arial Black"/>
                <a:cs typeface="Arial Black"/>
              </a:defRPr>
            </a:pPr>
            <a:r>
              <a:rPr sz="3450" b="1">
                <a:solidFill>
                  <a:srgbClr val="7AC143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3450" b="1">
                <a:solidFill>
                  <a:srgbClr val="F7941E"/>
                </a:solidFill>
                <a:latin typeface="Arial Black"/>
                <a:ea typeface="Arial Black"/>
                <a:cs typeface="Arial Black"/>
              </a:rPr>
              <a:t>D</a:t>
            </a:r>
            <a:r>
              <a:rPr sz="3450" b="1">
                <a:solidFill>
                  <a:srgbClr val="ED1C45"/>
                </a:solidFill>
                <a:latin typeface="Arial Black"/>
                <a:ea typeface="Arial Black"/>
                <a:cs typeface="Arial Black"/>
              </a:rPr>
              <a:t>S</a:t>
            </a:r>
            <a:r>
              <a:rPr sz="3450" b="1">
                <a:solidFill>
                  <a:srgbClr val="EC008C"/>
                </a:solidFill>
                <a:latin typeface="Arial Black"/>
                <a:ea typeface="Arial Black"/>
                <a:cs typeface="Arial Black"/>
              </a:rPr>
              <a:t>C</a:t>
            </a:r>
            <a:r>
              <a:rPr sz="3450" b="1">
                <a:solidFill>
                  <a:srgbClr val="92278F"/>
                </a:solidFill>
                <a:latin typeface="Arial Black"/>
                <a:ea typeface="Arial Black"/>
                <a:cs typeface="Arial Black"/>
              </a:rPr>
              <a:t>P</a:t>
            </a:r>
            <a:r>
              <a:rPr sz="3450" b="1">
                <a:solidFill>
                  <a:srgbClr val="2E3192"/>
                </a:solidFill>
                <a:latin typeface="Arial Black"/>
                <a:ea typeface="Arial Black"/>
                <a:cs typeface="Arial Black"/>
              </a:rPr>
              <a:t>A</a:t>
            </a:r>
          </a:p>
        </p:txBody>
      </p:sp>
      <p:sp>
        <p:nvSpPr>
          <p:cNvPr id="9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B6A5DFC-57DF-4E5F-B5BE-EBEF9FB4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904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0F0F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Certification is step one.</a:t>
            </a:r>
          </a:p>
        </p:txBody>
      </p:sp>
      <p:sp>
        <p:nvSpPr>
          <p:cNvPr id="10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02C8C4F1-E4F9-4C64-BDF0-4BBA11D2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9ADB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9ADB4"/>
                </a:solidFill>
                <a:latin typeface="Arial"/>
                <a:ea typeface="Arial"/>
                <a:cs typeface="Arial"/>
              </a:rPr>
              <a:t>Safe equipment use still requires instructor permission, hands-on demonstrations, and guided-practice sign-off.</a:t>
            </a:r>
          </a:p>
        </p:txBody>
      </p:sp>
      <p:sp>
        <p:nvSpPr>
          <p:cNvPr id="11" name="closing-standard">
            <a:extLst xmlns:a="http://schemas.openxmlformats.org/drawingml/2006/main">
              <a:ext uri="{FF2B5EF4-FFF2-40B4-BE49-F238E27FC236}">
                <a16:creationId xmlns:a16="http://schemas.microsoft.com/office/drawing/2014/main" id="{1C7EAE8A-7D93-4CBB-83CA-0E9A299E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In the shop, “mostly safe” is not safe.</a:t>
            </a:r>
          </a:p>
        </p:txBody>
      </p:sp>
      <p:sp>
        <p:nvSpPr>
          <p:cNvPr id="12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A40EB75F-6484-44B1-8ACB-BE11FD8A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143000"/>
            <a:ext cx="1524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inbow-1">
            <a:extLst xmlns:a="http://schemas.openxmlformats.org/drawingml/2006/main">
              <a:ext uri="{FF2B5EF4-FFF2-40B4-BE49-F238E27FC236}">
                <a16:creationId xmlns:a16="http://schemas.microsoft.com/office/drawing/2014/main" id="{A7B97F8D-2778-439A-B94F-28F71318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1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inbow-2">
            <a:extLst xmlns:a="http://schemas.openxmlformats.org/drawingml/2006/main">
              <a:ext uri="{FF2B5EF4-FFF2-40B4-BE49-F238E27FC236}">
                <a16:creationId xmlns:a16="http://schemas.microsoft.com/office/drawing/2014/main" id="{42214F53-0217-4211-AAAE-D987922F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14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4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inbow-3">
            <a:extLst xmlns:a="http://schemas.openxmlformats.org/drawingml/2006/main">
              <a:ext uri="{FF2B5EF4-FFF2-40B4-BE49-F238E27FC236}">
                <a16:creationId xmlns:a16="http://schemas.microsoft.com/office/drawing/2014/main" id="{0BCCEF6B-1E3F-4DE1-B90C-36A0218A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429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inbow-4">
            <a:extLst xmlns:a="http://schemas.openxmlformats.org/drawingml/2006/main">
              <a:ext uri="{FF2B5EF4-FFF2-40B4-BE49-F238E27FC236}">
                <a16:creationId xmlns:a16="http://schemas.microsoft.com/office/drawing/2014/main" id="{67F87E9E-1AD3-4DD0-9E0E-D55A56E7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143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0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inbow-5">
            <a:extLst xmlns:a="http://schemas.openxmlformats.org/drawingml/2006/main">
              <a:ext uri="{FF2B5EF4-FFF2-40B4-BE49-F238E27FC236}">
                <a16:creationId xmlns:a16="http://schemas.microsoft.com/office/drawing/2014/main" id="{B95FE2B7-0C79-4687-876E-F37BAC5B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857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7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inbow-6">
            <a:extLst xmlns:a="http://schemas.openxmlformats.org/drawingml/2006/main">
              <a:ext uri="{FF2B5EF4-FFF2-40B4-BE49-F238E27FC236}">
                <a16:creationId xmlns:a16="http://schemas.microsoft.com/office/drawing/2014/main" id="{7A5DFBB5-4A13-4921-A0BB-2DC62A7B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571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inbow-7">
            <a:extLst xmlns:a="http://schemas.openxmlformats.org/drawingml/2006/main">
              <a:ext uri="{FF2B5EF4-FFF2-40B4-BE49-F238E27FC236}">
                <a16:creationId xmlns:a16="http://schemas.microsoft.com/office/drawing/2014/main" id="{5EE916DD-341F-4DF1-A10F-513CC04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86" y="6705600"/>
            <a:ext cx="175123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7BBD141-A3B4-425E-8D58-F661534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SDSCPA · SAFETY LAB · CERTIFICATION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47C62E6-CAC3-4DA1-9FE9-DB81BEB7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88888"/>
                </a:solidFill>
                <a:latin typeface="Arial"/>
                <a:ea typeface="Arial"/>
                <a:cs typeface="Arial"/>
              </a:rPr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1824230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2026-08-11T13:43:19.7080000Z</dcterms:created>
  <dcterms:modified xsi:type="dcterms:W3CDTF">2026-08-11T13:43:19.7080000Z</dcterms:modified>
</coreProperties>
</file>